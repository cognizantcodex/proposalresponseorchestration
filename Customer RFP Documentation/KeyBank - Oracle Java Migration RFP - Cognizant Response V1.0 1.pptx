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915" r:id="rId4"/>
    <p:sldMasterId id="2147483932" r:id="rId5"/>
    <p:sldMasterId id="2147483937" r:id="rId6"/>
    <p:sldMasterId id="2147483942" r:id="rId7"/>
    <p:sldMasterId id="2147483956" r:id="rId8"/>
    <p:sldMasterId id="2147483961" r:id="rId9"/>
  </p:sldMasterIdLst>
  <p:notesMasterIdLst>
    <p:notesMasterId r:id="rId24"/>
  </p:notesMasterIdLst>
  <p:handoutMasterIdLst>
    <p:handoutMasterId r:id="rId25"/>
  </p:handoutMasterIdLst>
  <p:sldIdLst>
    <p:sldId id="2147483645" r:id="rId10"/>
    <p:sldId id="263" r:id="rId11"/>
    <p:sldId id="259" r:id="rId12"/>
    <p:sldId id="260" r:id="rId13"/>
    <p:sldId id="2147483610" r:id="rId14"/>
    <p:sldId id="2147482324" r:id="rId15"/>
    <p:sldId id="2147483614" r:id="rId16"/>
    <p:sldId id="2147482336" r:id="rId17"/>
    <p:sldId id="2147483634" r:id="rId18"/>
    <p:sldId id="256" r:id="rId19"/>
    <p:sldId id="258" r:id="rId20"/>
    <p:sldId id="2147483647" r:id="rId21"/>
    <p:sldId id="2147482051" r:id="rId22"/>
    <p:sldId id="53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55D330-E496-8029-F5C5-9730A800AB9A}" name="Patra, Anuj (Cognizant)" initials="PA(" userId="S::933745@cognizant.com::1f79680b-c319-49c7-b2c6-2654269715c9" providerId="AD"/>
  <p188:author id="{1D0FE45A-7076-C060-3926-02C230FFCD7B}" name="Gartner, David (Cognizant)" initials="GD(" userId="S::930056@cognizant.com::31109c44-657a-4c1f-917c-0cd2083250d2" providerId="AD"/>
  <p188:author id="{99F93FB6-C18C-5FBA-5487-DBE9A471B604}" name="Jennifer Kelly" initials="JK" userId="c+VufwqJC72uMbGB6Qy3ESl4lWVfVYW4DP6fjOUmpX4=" providerId="None"/>
  <p188:author id="{AFF83BBF-8DC2-56B1-7D97-F4B62A6558D1}" name="Holsinger, Sophie (Contractor)" initials="H(" userId="qSv0elhcSqVZ6Und2jvxKda9UaW6eolhxm7dQQjF6aw=" providerId="None"/>
  <p188:author id="{0DF45BD4-5C8A-2E2D-FEE5-54A7402B3C0A}" name="Michelle Loeb" initials="ML" userId="y5thoKV0uDjaThbJPgxbMhWQvDJapLNicr5yuEWdci8=" providerId="None"/>
  <p188:author id="{561DB6D9-3341-C508-291F-4E7B425C4BEE}" name="La Cascia, Lynne (Cognizant)" initials="L(" userId="XzsV+nJzGmSCzj+6LOZ0MUrq7QBF9d0P2TCBTjMm7P4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kki Feuerstein" initials="RF" lastIdx="118" clrIdx="0">
    <p:extLst>
      <p:ext uri="{19B8F6BF-5375-455C-9EA6-DF929625EA0E}">
        <p15:presenceInfo xmlns:p15="http://schemas.microsoft.com/office/powerpoint/2012/main" userId="9696b6c1086d6638" providerId="Windows Live"/>
      </p:ext>
    </p:extLst>
  </p:cmAuthor>
  <p:cmAuthor id="2" name="Alex DiMaio" initials="AD" lastIdx="327" clrIdx="1">
    <p:extLst>
      <p:ext uri="{19B8F6BF-5375-455C-9EA6-DF929625EA0E}">
        <p15:presenceInfo xmlns:p15="http://schemas.microsoft.com/office/powerpoint/2012/main" userId="S::adimaio@tenetpartner.onmicrosoft.com::b1481f74-343d-4e6b-b114-ca2ded61f9f6" providerId="AD"/>
      </p:ext>
    </p:extLst>
  </p:cmAuthor>
  <p:cmAuthor id="3" name="Microsoft Office User" initials="MOU" lastIdx="4" clrIdx="2"/>
  <p:cmAuthor id="4" name="Gartner, David (Cognizant)" initials="GD(" lastIdx="61" clrIdx="3">
    <p:extLst>
      <p:ext uri="{19B8F6BF-5375-455C-9EA6-DF929625EA0E}">
        <p15:presenceInfo xmlns:p15="http://schemas.microsoft.com/office/powerpoint/2012/main" userId="S::930056@cognizant.com::31109c44-657a-4c1f-917c-0cd2083250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6C7CC"/>
    <a:srgbClr val="FFFFFF"/>
    <a:srgbClr val="BFBFBF"/>
    <a:srgbClr val="7373D8"/>
    <a:srgbClr val="2E308E"/>
    <a:srgbClr val="494949"/>
    <a:srgbClr val="FFE89F"/>
    <a:srgbClr val="4D4D4D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, Afzal (Cognizant)" userId="f2f31edd-8fa5-4fdc-8742-037c2e31f847" providerId="ADAL" clId="{259EBBD1-9ECF-42FF-9215-9E6AE0BCC024}"/>
    <pc:docChg chg="undo redo custSel addSld delSld modSld sldOrd modMainMaster">
      <pc:chgData name="Ali, Afzal (Cognizant)" userId="f2f31edd-8fa5-4fdc-8742-037c2e31f847" providerId="ADAL" clId="{259EBBD1-9ECF-42FF-9215-9E6AE0BCC024}" dt="2026-03-23T19:41:16.459" v="1418" actId="21"/>
      <pc:docMkLst>
        <pc:docMk/>
      </pc:docMkLst>
      <pc:sldChg chg="addSp delSp mod">
        <pc:chgData name="Ali, Afzal (Cognizant)" userId="f2f31edd-8fa5-4fdc-8742-037c2e31f847" providerId="ADAL" clId="{259EBBD1-9ECF-42FF-9215-9E6AE0BCC024}" dt="2026-03-23T19:31:44.062" v="1415" actId="21"/>
        <pc:sldMkLst>
          <pc:docMk/>
          <pc:sldMk cId="2410584763" sldId="258"/>
        </pc:sldMkLst>
        <pc:graphicFrameChg chg="add del">
          <ac:chgData name="Ali, Afzal (Cognizant)" userId="f2f31edd-8fa5-4fdc-8742-037c2e31f847" providerId="ADAL" clId="{259EBBD1-9ECF-42FF-9215-9E6AE0BCC024}" dt="2026-03-23T19:31:44.062" v="1415" actId="21"/>
          <ac:graphicFrameMkLst>
            <pc:docMk/>
            <pc:sldMk cId="2410584763" sldId="258"/>
            <ac:graphicFrameMk id="9" creationId="{05D03C66-3B2A-96CE-8018-EF1C501D02F2}"/>
          </ac:graphicFrameMkLst>
        </pc:graphicFrameChg>
      </pc:sldChg>
      <pc:sldChg chg="addSp delSp modSp mod ord">
        <pc:chgData name="Ali, Afzal (Cognizant)" userId="f2f31edd-8fa5-4fdc-8742-037c2e31f847" providerId="ADAL" clId="{259EBBD1-9ECF-42FF-9215-9E6AE0BCC024}" dt="2026-03-23T19:29:07.508" v="1413" actId="20578"/>
        <pc:sldMkLst>
          <pc:docMk/>
          <pc:sldMk cId="1148150143" sldId="259"/>
        </pc:sldMkLst>
      </pc:sldChg>
      <pc:sldChg chg="addSp delSp modSp mod">
        <pc:chgData name="Ali, Afzal (Cognizant)" userId="f2f31edd-8fa5-4fdc-8742-037c2e31f847" providerId="ADAL" clId="{259EBBD1-9ECF-42FF-9215-9E6AE0BCC024}" dt="2026-03-23T19:41:16.459" v="1418" actId="21"/>
        <pc:sldMkLst>
          <pc:docMk/>
          <pc:sldMk cId="127128426" sldId="263"/>
        </pc:sldMkLst>
        <pc:spChg chg="add del mod">
          <ac:chgData name="Ali, Afzal (Cognizant)" userId="f2f31edd-8fa5-4fdc-8742-037c2e31f847" providerId="ADAL" clId="{259EBBD1-9ECF-42FF-9215-9E6AE0BCC024}" dt="2026-03-23T19:41:16.459" v="1418" actId="21"/>
          <ac:spMkLst>
            <pc:docMk/>
            <pc:sldMk cId="127128426" sldId="263"/>
            <ac:spMk id="8" creationId="{97D1F2E2-0A46-A7C1-503F-285323BCDF7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658FED-51F9-9B45-B597-1E80080F05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449CD-7629-F94E-AB7C-5B049A15EC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07195-0CC2-A547-89CA-57E183807F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FED8-4762-F94C-A006-546565DF54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31462-D62C-8C42-B544-F3E0E7018A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F4819-B501-CC4D-93F0-10A4E74E0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35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00608-096F-0448-BF1C-AC23D45B3CD2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A3903-E1C0-B641-BF09-7903E2AE2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5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DF068-F7F5-6807-ED54-E09285923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FEFE96-26C9-6F06-6D8E-67F529FF6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CFDBF2-9465-733F-4AA2-BA9C6940C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6A438CE-F956-20C8-EEEE-83B0538D5CF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1AE80-4109-1EFD-A826-EA00669C2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5839E-A59E-6872-0D67-8C33EA89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2D6E04-3A2F-4B48-A297-666578EDF1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6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77A48-76B7-AA7D-C08A-1528976AE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670A27-E7CF-CADB-1C53-0E5498014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C09E5F-0C3B-DC25-507B-FF7722B08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6D6A0FE-5673-CA00-11B2-501C7C48ABE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352FF-F7F9-A3CC-DE11-2F822A5D3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4DCB7-A6AB-6787-7E2E-DA57A072A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2D6E04-3A2F-4B48-A297-666578EDF1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631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E7338-014B-587C-E783-6CF34AD9A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FC1AD-3A58-D0D8-6932-562A26F1E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DD96B6-BBD4-9D9B-F025-C8D42F5C9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8BB71D5-30E9-6999-0CE9-72536E59F87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C8BBB-30A0-02A0-FA62-C58CC2DA6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05278-FB95-13D1-A881-A206FA93D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2D6E04-3A2F-4B48-A297-666578EDF1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5046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CB1D0-3515-3250-9DBA-9E3E2FA4E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80412-10C2-8CFB-B446-0FD282215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B43488-C1AD-8FA2-EEE5-EC166D0C8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8B8B9F5-C5A1-A0E9-56B2-5BD2B5B94536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F0840-E570-A2B6-5BBD-B84851DE4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AD291-71AB-D176-17D0-9CF93448E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2D6E04-3A2F-4B48-A297-666578EDF1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34542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61DB9-EA29-47E2-ABE3-4AC28DF3DE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9995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png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png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8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8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5.png"/><Relationship Id="rId4" Type="http://schemas.openxmlformats.org/officeDocument/2006/relationships/image" Target="../media/image3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5.png"/><Relationship Id="rId4" Type="http://schemas.openxmlformats.org/officeDocument/2006/relationships/image" Target="../media/image3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2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7.emf"/><Relationship Id="rId4" Type="http://schemas.openxmlformats.org/officeDocument/2006/relationships/image" Target="../media/image26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7.emf"/><Relationship Id="rId4" Type="http://schemas.openxmlformats.org/officeDocument/2006/relationships/image" Target="../media/image19.svg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8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9.png"/><Relationship Id="rId4" Type="http://schemas.openxmlformats.org/officeDocument/2006/relationships/image" Target="../media/image25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1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31.png"/><Relationship Id="rId4" Type="http://schemas.openxmlformats.org/officeDocument/2006/relationships/image" Target="../media/image7.svg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10.png"/><Relationship Id="rId7" Type="http://schemas.openxmlformats.org/officeDocument/2006/relationships/image" Target="../media/image34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33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2"/>
            <a:ext cx="12192000" cy="68580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5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90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6"/>
            <a:ext cx="4013179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189" indent="0">
              <a:buNone/>
              <a:defRPr>
                <a:solidFill>
                  <a:schemeClr val="bg2"/>
                </a:solidFill>
              </a:defRPr>
            </a:lvl2pPr>
            <a:lvl3pPr marL="914377" indent="0">
              <a:buNone/>
              <a:defRPr>
                <a:solidFill>
                  <a:schemeClr val="bg2"/>
                </a:solidFill>
              </a:defRPr>
            </a:lvl3pPr>
            <a:lvl4pPr marL="1371566" indent="0">
              <a:buNone/>
              <a:defRPr>
                <a:solidFill>
                  <a:schemeClr val="bg2"/>
                </a:solidFill>
              </a:defRPr>
            </a:lvl4pPr>
            <a:lvl5pPr marL="1828754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 userDrawn="1"/>
        </p:nvSpPr>
        <p:spPr>
          <a:xfrm>
            <a:off x="-1367943" y="16824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>
              <a:solidFill>
                <a:schemeClr val="tx2"/>
              </a:solidFill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18417" y="515489"/>
            <a:ext cx="2067983" cy="6203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6ECACD-43DF-5B5A-5CA9-81D2A9CEF25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1470" y="505830"/>
            <a:ext cx="2228004" cy="5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24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 - ligh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08AA51-7693-0641-B1F2-2F6BF501AF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3" t="430" r="804" b="462"/>
          <a:stretch/>
        </p:blipFill>
        <p:spPr>
          <a:xfrm>
            <a:off x="49619" y="0"/>
            <a:ext cx="12153015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78C046-F713-7644-890D-FEC8749EF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5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CA51294-C033-514D-B2AD-53CAA2640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90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173B359-DEFF-8445-9CA5-5D8394261A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6"/>
            <a:ext cx="4013179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2"/>
                </a:solidFill>
              </a:defRPr>
            </a:lvl2pPr>
            <a:lvl3pPr marL="914377" indent="0">
              <a:buNone/>
              <a:defRPr>
                <a:solidFill>
                  <a:schemeClr val="bg2"/>
                </a:solidFill>
              </a:defRPr>
            </a:lvl3pPr>
            <a:lvl4pPr marL="1371566" indent="0">
              <a:buNone/>
              <a:defRPr>
                <a:solidFill>
                  <a:schemeClr val="bg2"/>
                </a:solidFill>
              </a:defRPr>
            </a:lvl4pPr>
            <a:lvl5pPr marL="1828754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FF54FF-1895-434D-7B37-7058D889D464}"/>
              </a:ext>
            </a:extLst>
          </p:cNvPr>
          <p:cNvGrpSpPr/>
          <p:nvPr userDrawn="1"/>
        </p:nvGrpSpPr>
        <p:grpSpPr>
          <a:xfrm>
            <a:off x="985025" y="498017"/>
            <a:ext cx="3750237" cy="551785"/>
            <a:chOff x="2667319" y="384698"/>
            <a:chExt cx="4510396" cy="663628"/>
          </a:xfrm>
        </p:grpSpPr>
        <p:pic>
          <p:nvPicPr>
            <p:cNvPr id="16" name="Logo">
              <a:extLst>
                <a:ext uri="{FF2B5EF4-FFF2-40B4-BE49-F238E27FC236}">
                  <a16:creationId xmlns:a16="http://schemas.microsoft.com/office/drawing/2014/main" id="{172F6F4F-6078-614B-9D72-235A05BE54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2667319" y="427931"/>
              <a:ext cx="2067983" cy="620395"/>
            </a:xfrm>
            <a:prstGeom prst="rect">
              <a:avLst/>
            </a:prstGeom>
          </p:spPr>
        </p:pic>
        <p:pic>
          <p:nvPicPr>
            <p:cNvPr id="2" name="Picture 2" descr="Download KeyBank Logo in SVG Vector or PNG File Format - Logo.wine">
              <a:extLst>
                <a:ext uri="{FF2B5EF4-FFF2-40B4-BE49-F238E27FC236}">
                  <a16:creationId xmlns:a16="http://schemas.microsoft.com/office/drawing/2014/main" id="{36FABDE6-03FB-8613-9155-334915F2846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3" t="34270" r="8703" b="34270"/>
            <a:stretch/>
          </p:blipFill>
          <p:spPr bwMode="auto">
            <a:xfrm>
              <a:off x="4731237" y="384698"/>
              <a:ext cx="2446478" cy="6212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74428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201" y="-16933"/>
            <a:ext cx="7307799" cy="68749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8" y="1903672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3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445C793-21BA-7791-0A72-E450534AB1BB}"/>
              </a:ext>
            </a:extLst>
          </p:cNvPr>
          <p:cNvGrpSpPr/>
          <p:nvPr userDrawn="1"/>
        </p:nvGrpSpPr>
        <p:grpSpPr>
          <a:xfrm>
            <a:off x="1080722" y="498017"/>
            <a:ext cx="3750237" cy="551785"/>
            <a:chOff x="2667319" y="384698"/>
            <a:chExt cx="4510396" cy="663628"/>
          </a:xfrm>
        </p:grpSpPr>
        <p:pic>
          <p:nvPicPr>
            <p:cNvPr id="7" name="Logo">
              <a:extLst>
                <a:ext uri="{FF2B5EF4-FFF2-40B4-BE49-F238E27FC236}">
                  <a16:creationId xmlns:a16="http://schemas.microsoft.com/office/drawing/2014/main" id="{2D591722-4784-B4C8-3563-D369AE8D1C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667319" y="427931"/>
              <a:ext cx="2067983" cy="620395"/>
            </a:xfrm>
            <a:prstGeom prst="rect">
              <a:avLst/>
            </a:prstGeom>
          </p:spPr>
        </p:pic>
        <p:pic>
          <p:nvPicPr>
            <p:cNvPr id="10" name="Picture 2" descr="Download KeyBank Logo in SVG Vector or PNG File Format - Logo.wine">
              <a:extLst>
                <a:ext uri="{FF2B5EF4-FFF2-40B4-BE49-F238E27FC236}">
                  <a16:creationId xmlns:a16="http://schemas.microsoft.com/office/drawing/2014/main" id="{7495919C-EBA1-33AD-C613-6F994C4DB4E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3" t="34270" r="8703" b="34270"/>
            <a:stretch/>
          </p:blipFill>
          <p:spPr bwMode="auto">
            <a:xfrm>
              <a:off x="4731237" y="384698"/>
              <a:ext cx="2446478" cy="6212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62324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7" t="33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3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30864CB-B8E8-7876-EB1E-7FC0DE53942F}"/>
              </a:ext>
            </a:extLst>
          </p:cNvPr>
          <p:cNvGrpSpPr/>
          <p:nvPr userDrawn="1"/>
        </p:nvGrpSpPr>
        <p:grpSpPr>
          <a:xfrm>
            <a:off x="9618411" y="6337012"/>
            <a:ext cx="2354216" cy="369995"/>
            <a:chOff x="9429790" y="6352479"/>
            <a:chExt cx="2600054" cy="408632"/>
          </a:xfrm>
        </p:grpSpPr>
        <p:pic>
          <p:nvPicPr>
            <p:cNvPr id="4" name="Picture 5">
              <a:extLst>
                <a:ext uri="{FF2B5EF4-FFF2-40B4-BE49-F238E27FC236}">
                  <a16:creationId xmlns:a16="http://schemas.microsoft.com/office/drawing/2014/main" id="{F8BB4577-3D00-A454-5E8B-76FBB96B4A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429790" y="6352479"/>
              <a:ext cx="1362108" cy="408632"/>
            </a:xfrm>
            <a:prstGeom prst="rect">
              <a:avLst/>
            </a:prstGeom>
          </p:spPr>
        </p:pic>
        <p:pic>
          <p:nvPicPr>
            <p:cNvPr id="7" name="Picture 2" descr="Download KeyBank Logo in SVG Vector or PNG File Format - Logo.wine">
              <a:extLst>
                <a:ext uri="{FF2B5EF4-FFF2-40B4-BE49-F238E27FC236}">
                  <a16:creationId xmlns:a16="http://schemas.microsoft.com/office/drawing/2014/main" id="{AA1E5F90-27DF-EED7-0231-1207C096B25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3" t="34270" r="8703" b="34270"/>
            <a:stretch/>
          </p:blipFill>
          <p:spPr bwMode="auto">
            <a:xfrm>
              <a:off x="10774414" y="6368297"/>
              <a:ext cx="1255430" cy="318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80358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-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3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BC102C-B3BC-6EF6-169C-4909983E8FB8}"/>
              </a:ext>
            </a:extLst>
          </p:cNvPr>
          <p:cNvGrpSpPr/>
          <p:nvPr userDrawn="1"/>
        </p:nvGrpSpPr>
        <p:grpSpPr>
          <a:xfrm>
            <a:off x="9618411" y="6337012"/>
            <a:ext cx="2354216" cy="369995"/>
            <a:chOff x="9429790" y="6352479"/>
            <a:chExt cx="2600054" cy="408632"/>
          </a:xfrm>
        </p:grpSpPr>
        <p:pic>
          <p:nvPicPr>
            <p:cNvPr id="4" name="Picture 5">
              <a:extLst>
                <a:ext uri="{FF2B5EF4-FFF2-40B4-BE49-F238E27FC236}">
                  <a16:creationId xmlns:a16="http://schemas.microsoft.com/office/drawing/2014/main" id="{801EB140-C3C3-1D51-124B-B7D63421C0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429790" y="6352479"/>
              <a:ext cx="1362108" cy="408632"/>
            </a:xfrm>
            <a:prstGeom prst="rect">
              <a:avLst/>
            </a:prstGeom>
          </p:spPr>
        </p:pic>
        <p:pic>
          <p:nvPicPr>
            <p:cNvPr id="7" name="Picture 2" descr="Download KeyBank Logo in SVG Vector or PNG File Format - Logo.wine">
              <a:extLst>
                <a:ext uri="{FF2B5EF4-FFF2-40B4-BE49-F238E27FC236}">
                  <a16:creationId xmlns:a16="http://schemas.microsoft.com/office/drawing/2014/main" id="{89E4EC9A-310F-4E89-5EB0-0109D185D3D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3" t="34270" r="8703" b="34270"/>
            <a:stretch/>
          </p:blipFill>
          <p:spPr bwMode="auto">
            <a:xfrm>
              <a:off x="10774414" y="6368297"/>
              <a:ext cx="1255430" cy="318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55434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-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5693"/>
            <a:ext cx="12202121" cy="68636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3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AD868AD-FE7F-F7C1-1623-82CFAF2FFD06}"/>
              </a:ext>
            </a:extLst>
          </p:cNvPr>
          <p:cNvGrpSpPr/>
          <p:nvPr userDrawn="1"/>
        </p:nvGrpSpPr>
        <p:grpSpPr>
          <a:xfrm>
            <a:off x="9618411" y="6337012"/>
            <a:ext cx="2354216" cy="369995"/>
            <a:chOff x="9429790" y="6352479"/>
            <a:chExt cx="2600054" cy="408632"/>
          </a:xfrm>
        </p:grpSpPr>
        <p:pic>
          <p:nvPicPr>
            <p:cNvPr id="4" name="Picture 5">
              <a:extLst>
                <a:ext uri="{FF2B5EF4-FFF2-40B4-BE49-F238E27FC236}">
                  <a16:creationId xmlns:a16="http://schemas.microsoft.com/office/drawing/2014/main" id="{EF2DFF4A-7D39-3DB9-DE09-74F7891D77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429790" y="6352479"/>
              <a:ext cx="1362108" cy="408632"/>
            </a:xfrm>
            <a:prstGeom prst="rect">
              <a:avLst/>
            </a:prstGeom>
          </p:spPr>
        </p:pic>
        <p:pic>
          <p:nvPicPr>
            <p:cNvPr id="7" name="Picture 2" descr="Download KeyBank Logo in SVG Vector or PNG File Format - Logo.wine">
              <a:extLst>
                <a:ext uri="{FF2B5EF4-FFF2-40B4-BE49-F238E27FC236}">
                  <a16:creationId xmlns:a16="http://schemas.microsoft.com/office/drawing/2014/main" id="{90280237-A027-424A-E02B-E6C390F3172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3" t="34270" r="8703" b="34270"/>
            <a:stretch/>
          </p:blipFill>
          <p:spPr bwMode="auto">
            <a:xfrm>
              <a:off x="10774414" y="6368297"/>
              <a:ext cx="1255430" cy="318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93546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divide - gradien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729644-34C5-1543-86E0-550EBEFDAD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12" t="20936" r="6388" b="390"/>
          <a:stretch/>
        </p:blipFill>
        <p:spPr>
          <a:xfrm>
            <a:off x="11577" y="0"/>
            <a:ext cx="12180425" cy="685800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9266682-BA4F-41F9-BE16-CD68E58613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313802"/>
            <a:ext cx="9381744" cy="553999"/>
          </a:xfrm>
        </p:spPr>
        <p:txBody>
          <a:bodyPr anchor="ctr" anchorCtr="0"/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31DBFC-B09E-A566-356E-B1CBEE7A9392}"/>
              </a:ext>
            </a:extLst>
          </p:cNvPr>
          <p:cNvGrpSpPr/>
          <p:nvPr userDrawn="1"/>
        </p:nvGrpSpPr>
        <p:grpSpPr>
          <a:xfrm>
            <a:off x="9646556" y="6353153"/>
            <a:ext cx="2259663" cy="337713"/>
            <a:chOff x="9646556" y="6353153"/>
            <a:chExt cx="2259663" cy="337713"/>
          </a:xfrm>
        </p:grpSpPr>
        <p:pic>
          <p:nvPicPr>
            <p:cNvPr id="5" name="Picture 8">
              <a:extLst>
                <a:ext uri="{FF2B5EF4-FFF2-40B4-BE49-F238E27FC236}">
                  <a16:creationId xmlns:a16="http://schemas.microsoft.com/office/drawing/2014/main" id="{C3038891-EECA-3B31-BEE4-774B09D19A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646556" y="6353153"/>
              <a:ext cx="1125709" cy="33771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55D0BB7-A9EB-6384-B3DF-DFCDC80A53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0772265" y="6356082"/>
              <a:ext cx="1133954" cy="286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2517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divide - gradi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B358EE7-FC7D-E843-AF2C-8D996FE347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0" t="21108" r="64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F79CCB-9635-4CE4-9AEA-94663524A8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313802"/>
            <a:ext cx="9381744" cy="553999"/>
          </a:xfrm>
        </p:spPr>
        <p:txBody>
          <a:bodyPr anchor="ctr" anchorCtr="0"/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DF7D00D-ED68-1B86-1236-ED7FBC054D81}"/>
              </a:ext>
            </a:extLst>
          </p:cNvPr>
          <p:cNvGrpSpPr/>
          <p:nvPr userDrawn="1"/>
        </p:nvGrpSpPr>
        <p:grpSpPr>
          <a:xfrm>
            <a:off x="9646556" y="6353153"/>
            <a:ext cx="2259663" cy="337713"/>
            <a:chOff x="9646556" y="6353153"/>
            <a:chExt cx="2259663" cy="337713"/>
          </a:xfrm>
        </p:grpSpPr>
        <p:pic>
          <p:nvPicPr>
            <p:cNvPr id="6" name="Picture 8">
              <a:extLst>
                <a:ext uri="{FF2B5EF4-FFF2-40B4-BE49-F238E27FC236}">
                  <a16:creationId xmlns:a16="http://schemas.microsoft.com/office/drawing/2014/main" id="{BEC0577B-E1A3-BB47-B7CB-EBF6A2B0F9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646556" y="6353153"/>
              <a:ext cx="1125709" cy="33771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C315B2A-3F8D-8C67-4EBA-8406C636DD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0772265" y="6356082"/>
              <a:ext cx="1133954" cy="286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75685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divide - gradi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FA9B71-FDBF-F042-A42A-6CCE179402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3" t="22108" r="6545" b="-1"/>
          <a:stretch/>
        </p:blipFill>
        <p:spPr>
          <a:xfrm>
            <a:off x="11575" y="1"/>
            <a:ext cx="12192000" cy="687246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6E0CAE6-74BD-42DF-9303-367BA9DC0C1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313802"/>
            <a:ext cx="9381744" cy="553999"/>
          </a:xfrm>
        </p:spPr>
        <p:txBody>
          <a:bodyPr anchor="ctr" anchorCtr="0"/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927D962-67DC-18B4-A7D9-4CF5517D161D}"/>
              </a:ext>
            </a:extLst>
          </p:cNvPr>
          <p:cNvGrpSpPr/>
          <p:nvPr userDrawn="1"/>
        </p:nvGrpSpPr>
        <p:grpSpPr>
          <a:xfrm>
            <a:off x="9618411" y="6337012"/>
            <a:ext cx="2354216" cy="369995"/>
            <a:chOff x="9429790" y="6352479"/>
            <a:chExt cx="2600054" cy="408632"/>
          </a:xfrm>
        </p:grpSpPr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D3AC3AC2-8E68-626C-7DD9-0B01B33B94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429790" y="6352479"/>
              <a:ext cx="1362108" cy="408632"/>
            </a:xfrm>
            <a:prstGeom prst="rect">
              <a:avLst/>
            </a:prstGeom>
          </p:spPr>
        </p:pic>
        <p:pic>
          <p:nvPicPr>
            <p:cNvPr id="10" name="Picture 2" descr="Download KeyBank Logo in SVG Vector or PNG File Format - Logo.wine">
              <a:extLst>
                <a:ext uri="{FF2B5EF4-FFF2-40B4-BE49-F238E27FC236}">
                  <a16:creationId xmlns:a16="http://schemas.microsoft.com/office/drawing/2014/main" id="{EF6FD25D-5A82-F02B-FEAC-BF9215D91E5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3" t="34270" r="8703" b="34270"/>
            <a:stretch/>
          </p:blipFill>
          <p:spPr bwMode="auto">
            <a:xfrm>
              <a:off x="10774414" y="6368297"/>
              <a:ext cx="1255430" cy="318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78460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ADBAC61-71BD-0849-BABA-F53A3F1FD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59615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A653587-D29A-1341-89BA-BB7AEE6A4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59918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70B703B-567D-6247-BF28-0C6DF81B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96892"/>
            <a:ext cx="11811000" cy="583593"/>
          </a:xfrm>
        </p:spPr>
        <p:txBody>
          <a:bodyPr wrap="square" lIns="0" tIns="0" rIns="0" bIns="0" anchor="ctr" anchorCtr="0">
            <a:noAutofit/>
          </a:bodyPr>
          <a:lstStyle>
            <a:lvl1pPr>
              <a:lnSpc>
                <a:spcPct val="100000"/>
              </a:lnSpc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A062F5-2A4F-6541-CCEC-31CCC49CE101}"/>
              </a:ext>
            </a:extLst>
          </p:cNvPr>
          <p:cNvGrpSpPr/>
          <p:nvPr userDrawn="1"/>
        </p:nvGrpSpPr>
        <p:grpSpPr>
          <a:xfrm>
            <a:off x="9646556" y="6406318"/>
            <a:ext cx="2259663" cy="337713"/>
            <a:chOff x="9646556" y="6353153"/>
            <a:chExt cx="2259663" cy="337713"/>
          </a:xfrm>
        </p:grpSpPr>
        <p:pic>
          <p:nvPicPr>
            <p:cNvPr id="4" name="Picture 8">
              <a:extLst>
                <a:ext uri="{FF2B5EF4-FFF2-40B4-BE49-F238E27FC236}">
                  <a16:creationId xmlns:a16="http://schemas.microsoft.com/office/drawing/2014/main" id="{B70B097B-622C-FD91-AA76-252FC24DBE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646556" y="6353153"/>
              <a:ext cx="1125709" cy="33771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D05523F-FB15-688D-0CBE-DC1D2A8A8D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772265" y="6356082"/>
              <a:ext cx="1133954" cy="286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3349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59" userDrawn="1">
          <p15:clr>
            <a:srgbClr val="FBAE40"/>
          </p15:clr>
        </p15:guide>
        <p15:guide id="2" pos="7559" userDrawn="1">
          <p15:clr>
            <a:srgbClr val="FBAE40"/>
          </p15:clr>
        </p15:guide>
        <p15:guide id="3" pos="72">
          <p15:clr>
            <a:srgbClr val="FBAE40"/>
          </p15:clr>
        </p15:guide>
        <p15:guide id="4" orient="horz" pos="398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5271" y="6366756"/>
            <a:ext cx="1245325" cy="2620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3347" y="6366933"/>
            <a:ext cx="365952" cy="26246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96890"/>
            <a:ext cx="11887200" cy="588911"/>
          </a:xfrm>
        </p:spPr>
        <p:txBody>
          <a:bodyPr wrap="square" lIns="0" tIns="0" rIns="0" bIns="0" anchor="ctr" anchorCtr="0">
            <a:noAutofit/>
          </a:bodyPr>
          <a:lstStyle>
            <a:lvl1pPr>
              <a:lnSpc>
                <a:spcPct val="10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1F080CC-5FCA-9F88-DBC8-588F06DE6156}"/>
              </a:ext>
            </a:extLst>
          </p:cNvPr>
          <p:cNvGrpSpPr/>
          <p:nvPr userDrawn="1"/>
        </p:nvGrpSpPr>
        <p:grpSpPr>
          <a:xfrm>
            <a:off x="9618411" y="6337012"/>
            <a:ext cx="2354216" cy="369995"/>
            <a:chOff x="9429790" y="6352479"/>
            <a:chExt cx="2600054" cy="408632"/>
          </a:xfrm>
        </p:grpSpPr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304C88D0-29FE-C440-9C89-488968EEA1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429790" y="6352479"/>
              <a:ext cx="1362108" cy="408632"/>
            </a:xfrm>
            <a:prstGeom prst="rect">
              <a:avLst/>
            </a:prstGeom>
          </p:spPr>
        </p:pic>
        <p:pic>
          <p:nvPicPr>
            <p:cNvPr id="2" name="Picture 2" descr="Download KeyBank Logo in SVG Vector or PNG File Format - Logo.wine">
              <a:extLst>
                <a:ext uri="{FF2B5EF4-FFF2-40B4-BE49-F238E27FC236}">
                  <a16:creationId xmlns:a16="http://schemas.microsoft.com/office/drawing/2014/main" id="{FE218F61-A4F7-54C1-E511-72B9012F378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3" t="34270" r="8703" b="34270"/>
            <a:stretch/>
          </p:blipFill>
          <p:spPr bwMode="auto">
            <a:xfrm>
              <a:off x="10774414" y="6368297"/>
              <a:ext cx="1255430" cy="318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2909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7582" userDrawn="1">
          <p15:clr>
            <a:srgbClr val="FBAE40"/>
          </p15:clr>
        </p15:guide>
        <p15:guide id="3" pos="72">
          <p15:clr>
            <a:srgbClr val="FBAE40"/>
          </p15:clr>
        </p15:guide>
        <p15:guide id="4" orient="horz" pos="39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nal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AFE254-C52B-40C7-859B-66A8E3E6A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71097"/>
            <a:ext cx="11658600" cy="369332"/>
          </a:xfrm>
        </p:spPr>
        <p:txBody>
          <a:bodyPr>
            <a:spAutoFit/>
          </a:bodyPr>
          <a:lstStyle>
            <a:lvl1pPr>
              <a:defRPr sz="2400">
                <a:solidFill>
                  <a:srgbClr val="00004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025DC6F-FBA5-C564-0FFC-6D5E76530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1917" y="6432973"/>
            <a:ext cx="1198179" cy="1957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20E5578-D859-D2AC-1939-521078135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6700" y="6432973"/>
            <a:ext cx="352097" cy="1957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3F2BB35-8858-B5B7-2584-FB3BCB06535D}"/>
              </a:ext>
            </a:extLst>
          </p:cNvPr>
          <p:cNvGrpSpPr/>
          <p:nvPr userDrawn="1"/>
        </p:nvGrpSpPr>
        <p:grpSpPr>
          <a:xfrm>
            <a:off x="9357273" y="6345871"/>
            <a:ext cx="2568027" cy="369995"/>
            <a:chOff x="9193652" y="6352479"/>
            <a:chExt cx="2836192" cy="40863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E2B738D-0E4A-ACD3-153B-7FCDFF6EFF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193652" y="6352479"/>
              <a:ext cx="1362108" cy="408632"/>
            </a:xfrm>
            <a:prstGeom prst="rect">
              <a:avLst/>
            </a:prstGeom>
          </p:spPr>
        </p:pic>
        <p:pic>
          <p:nvPicPr>
            <p:cNvPr id="7" name="Picture 2" descr="Download KeyBank Logo in SVG Vector or PNG File Format - Logo.wine">
              <a:extLst>
                <a:ext uri="{FF2B5EF4-FFF2-40B4-BE49-F238E27FC236}">
                  <a16:creationId xmlns:a16="http://schemas.microsoft.com/office/drawing/2014/main" id="{D0E6984B-2374-51DD-8C0A-61715D3C5D6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3" t="34270" r="8703" b="34270"/>
            <a:stretch/>
          </p:blipFill>
          <p:spPr bwMode="auto">
            <a:xfrm>
              <a:off x="10774414" y="6368297"/>
              <a:ext cx="1255430" cy="318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2DE45A-FABA-F492-6308-DA6F36EB05CB}"/>
              </a:ext>
            </a:extLst>
          </p:cNvPr>
          <p:cNvCxnSpPr/>
          <p:nvPr userDrawn="1"/>
        </p:nvCxnSpPr>
        <p:spPr>
          <a:xfrm>
            <a:off x="10642348" y="6345871"/>
            <a:ext cx="0" cy="3699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361089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B7DF7A6-C528-76F6-D9CB-030AC2E12133}"/>
              </a:ext>
            </a:extLst>
          </p:cNvPr>
          <p:cNvSpPr/>
          <p:nvPr userDrawn="1"/>
        </p:nvSpPr>
        <p:spPr>
          <a:xfrm>
            <a:off x="1" y="1"/>
            <a:ext cx="5029195" cy="41988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234B706-7182-523C-311C-7B9519D3AAFD}"/>
              </a:ext>
            </a:extLst>
          </p:cNvPr>
          <p:cNvSpPr/>
          <p:nvPr userDrawn="1"/>
        </p:nvSpPr>
        <p:spPr>
          <a:xfrm>
            <a:off x="2" y="0"/>
            <a:ext cx="5029183" cy="1087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E7C914-0C11-826D-5D7A-09ED51B273F4}"/>
              </a:ext>
            </a:extLst>
          </p:cNvPr>
          <p:cNvSpPr/>
          <p:nvPr userDrawn="1"/>
        </p:nvSpPr>
        <p:spPr>
          <a:xfrm>
            <a:off x="1" y="4198883"/>
            <a:ext cx="4023355" cy="265911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C70B93-C547-C454-9988-6033C6DC0534}"/>
              </a:ext>
            </a:extLst>
          </p:cNvPr>
          <p:cNvSpPr/>
          <p:nvPr userDrawn="1"/>
        </p:nvSpPr>
        <p:spPr>
          <a:xfrm>
            <a:off x="822960" y="4198883"/>
            <a:ext cx="4209389" cy="26591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F6A75-038B-DE75-4B3F-D4E6E8D6B50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1005839" y="2258858"/>
            <a:ext cx="3754099" cy="997196"/>
          </a:xfrm>
          <a:noFill/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 Arial 36pt bold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2DBFBF-DEA1-3AE8-40A0-A554F6FD788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005841" y="4603763"/>
            <a:ext cx="3845521" cy="33239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810317C-5A13-676D-AFB9-EA62A29691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996453" y="5153681"/>
            <a:ext cx="3585655" cy="18735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69A11A4-378B-2CA8-AC06-282923918C2F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white">
          <a:xfrm>
            <a:off x="2651760" y="6400800"/>
            <a:ext cx="1371600" cy="228600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6F18864-3517-5AAD-E7C2-8740A7C01E4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F2CB1CDA-A225-5914-86C6-0D1823CCCF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>
          <a:xfrm>
            <a:off x="457200" y="6400799"/>
            <a:ext cx="365760" cy="228600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8" name="Cognizant Logo_rgb_pos_2023">
            <a:extLst>
              <a:ext uri="{FF2B5EF4-FFF2-40B4-BE49-F238E27FC236}">
                <a16:creationId xmlns:a16="http://schemas.microsoft.com/office/drawing/2014/main" id="{1C974010-5A98-200B-8A85-C0953CD60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507" y="409890"/>
            <a:ext cx="1952373" cy="342705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F925A28A-EF03-932B-DDA9-A29DD0B298CB}"/>
              </a:ext>
            </a:extLst>
          </p:cNvPr>
          <p:cNvSpPr/>
          <p:nvPr userDrawn="1"/>
        </p:nvSpPr>
        <p:spPr>
          <a:xfrm>
            <a:off x="1" y="3985129"/>
            <a:ext cx="5029183" cy="213756"/>
          </a:xfrm>
          <a:prstGeom prst="rect">
            <a:avLst/>
          </a:prstGeom>
          <a:solidFill>
            <a:srgbClr val="7500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</p:spTree>
    <p:extLst>
      <p:ext uri="{BB962C8B-B14F-4D97-AF65-F5344CB8AC3E}">
        <p14:creationId xmlns:p14="http://schemas.microsoft.com/office/powerpoint/2010/main" val="1191115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78DC69E-5BB9-E207-B4C4-772BB212B5FD}"/>
              </a:ext>
            </a:extLst>
          </p:cNvPr>
          <p:cNvSpPr/>
          <p:nvPr userDrawn="1"/>
        </p:nvSpPr>
        <p:spPr>
          <a:xfrm>
            <a:off x="2" y="0"/>
            <a:ext cx="4023357" cy="61461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C6C0E2-4909-9622-49A3-CB9216F232BA}"/>
              </a:ext>
            </a:extLst>
          </p:cNvPr>
          <p:cNvSpPr/>
          <p:nvPr userDrawn="1"/>
        </p:nvSpPr>
        <p:spPr>
          <a:xfrm>
            <a:off x="3840046" y="0"/>
            <a:ext cx="183311" cy="6140371"/>
          </a:xfrm>
          <a:prstGeom prst="rect">
            <a:avLst/>
          </a:prstGeom>
          <a:solidFill>
            <a:srgbClr val="7500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962E75-C4A2-E267-FBAB-514136854564}"/>
              </a:ext>
            </a:extLst>
          </p:cNvPr>
          <p:cNvSpPr/>
          <p:nvPr userDrawn="1"/>
        </p:nvSpPr>
        <p:spPr>
          <a:xfrm>
            <a:off x="2" y="6146158"/>
            <a:ext cx="12191999" cy="7176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5" name="Cognizant Logo_rgb_pos_2023">
            <a:extLst>
              <a:ext uri="{FF2B5EF4-FFF2-40B4-BE49-F238E27FC236}">
                <a16:creationId xmlns:a16="http://schemas.microsoft.com/office/drawing/2014/main" id="{3D948E9D-6C7A-269B-40A0-74FABD133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423" y="6483567"/>
            <a:ext cx="1170432" cy="205449"/>
          </a:xfrm>
          <a:prstGeom prst="rect">
            <a:avLst/>
          </a:prstGeom>
        </p:spPr>
      </p:pic>
      <p:sp>
        <p:nvSpPr>
          <p:cNvPr id="18" name="Title 6">
            <a:extLst>
              <a:ext uri="{FF2B5EF4-FFF2-40B4-BE49-F238E27FC236}">
                <a16:creationId xmlns:a16="http://schemas.microsoft.com/office/drawing/2014/main" id="{79C0D73B-15DB-8CC1-DEEF-3A91F4C18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7" y="5338679"/>
            <a:ext cx="8168643" cy="498599"/>
          </a:xfrm>
          <a:prstGeom prst="rect">
            <a:avLst/>
          </a:prstGeom>
          <a:solidFill>
            <a:schemeClr val="bg1">
              <a:alpha val="65000"/>
            </a:schemeClr>
          </a:solidFill>
        </p:spPr>
        <p:txBody>
          <a:bodyPr anchor="ctr" anchorCtr="0">
            <a:noAutofit/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af-ZA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ECC4041F-6D11-0FE9-00A1-B5319D914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799"/>
            <a:ext cx="36576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Footer Placeholder 7">
            <a:extLst>
              <a:ext uri="{FF2B5EF4-FFF2-40B4-BE49-F238E27FC236}">
                <a16:creationId xmlns:a16="http://schemas.microsoft.com/office/drawing/2014/main" id="{C5206096-A6FD-4938-E0A1-5E9B4187A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400800"/>
            <a:ext cx="1371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</p:spTree>
    <p:extLst>
      <p:ext uri="{BB962C8B-B14F-4D97-AF65-F5344CB8AC3E}">
        <p14:creationId xmlns:p14="http://schemas.microsoft.com/office/powerpoint/2010/main" val="37814379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78DC69E-5BB9-E207-B4C4-772BB212B5FD}"/>
              </a:ext>
            </a:extLst>
          </p:cNvPr>
          <p:cNvSpPr/>
          <p:nvPr userDrawn="1"/>
        </p:nvSpPr>
        <p:spPr>
          <a:xfrm>
            <a:off x="2" y="5235984"/>
            <a:ext cx="12191999" cy="1622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EC539B-14D7-9D84-84FC-375F2EE295F5}"/>
              </a:ext>
            </a:extLst>
          </p:cNvPr>
          <p:cNvSpPr/>
          <p:nvPr userDrawn="1"/>
        </p:nvSpPr>
        <p:spPr>
          <a:xfrm rot="5400000">
            <a:off x="6025893" y="-915414"/>
            <a:ext cx="140211" cy="12191999"/>
          </a:xfrm>
          <a:prstGeom prst="rect">
            <a:avLst/>
          </a:prstGeom>
          <a:solidFill>
            <a:srgbClr val="7500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8" name="Title 6">
            <a:extLst>
              <a:ext uri="{FF2B5EF4-FFF2-40B4-BE49-F238E27FC236}">
                <a16:creationId xmlns:a16="http://schemas.microsoft.com/office/drawing/2014/main" id="{79C0D73B-15DB-8CC1-DEEF-3A91F4C186D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20586" y="5769994"/>
            <a:ext cx="7750831" cy="553997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af-ZA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ECC4041F-6D11-0FE9-00A1-B5319D914010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457200" y="6400799"/>
            <a:ext cx="36576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bg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Footer Placeholder 7">
            <a:extLst>
              <a:ext uri="{FF2B5EF4-FFF2-40B4-BE49-F238E27FC236}">
                <a16:creationId xmlns:a16="http://schemas.microsoft.com/office/drawing/2014/main" id="{C5206096-A6FD-4938-E0A1-5E9B4187A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1005840" y="6400800"/>
            <a:ext cx="1371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bg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pic>
        <p:nvPicPr>
          <p:cNvPr id="34" name="Cognizant Logo_rgb_pos_2023">
            <a:extLst>
              <a:ext uri="{FF2B5EF4-FFF2-40B4-BE49-F238E27FC236}">
                <a16:creationId xmlns:a16="http://schemas.microsoft.com/office/drawing/2014/main" id="{0E6ED547-5913-919D-EB1E-3B827A145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510" y="409888"/>
            <a:ext cx="1952373" cy="34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24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52168"/>
            <a:ext cx="11387328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20DD75E-7C76-FCA4-7FDC-CF39FABBD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799"/>
            <a:ext cx="36576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F296707-52B7-A6C3-1CA1-AD226E027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400800"/>
            <a:ext cx="1371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961480A-7C01-01E0-B047-0F59FCACABAF}"/>
              </a:ext>
            </a:extLst>
          </p:cNvPr>
          <p:cNvGrpSpPr/>
          <p:nvPr userDrawn="1"/>
        </p:nvGrpSpPr>
        <p:grpSpPr>
          <a:xfrm>
            <a:off x="9357273" y="6345871"/>
            <a:ext cx="2568027" cy="369995"/>
            <a:chOff x="9193652" y="6352479"/>
            <a:chExt cx="2836192" cy="408632"/>
          </a:xfrm>
        </p:grpSpPr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01867EC9-2CE0-42F7-48CC-B0568B6F80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193652" y="6352479"/>
              <a:ext cx="1362108" cy="408632"/>
            </a:xfrm>
            <a:prstGeom prst="rect">
              <a:avLst/>
            </a:prstGeom>
          </p:spPr>
        </p:pic>
        <p:pic>
          <p:nvPicPr>
            <p:cNvPr id="10" name="Picture 2" descr="Download KeyBank Logo in SVG Vector or PNG File Format - Logo.wine">
              <a:extLst>
                <a:ext uri="{FF2B5EF4-FFF2-40B4-BE49-F238E27FC236}">
                  <a16:creationId xmlns:a16="http://schemas.microsoft.com/office/drawing/2014/main" id="{3A4EEE52-66E8-A4CA-6C9C-67534DC1BFB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3" t="34270" r="8703" b="34270"/>
            <a:stretch/>
          </p:blipFill>
          <p:spPr bwMode="auto">
            <a:xfrm>
              <a:off x="10774414" y="6368297"/>
              <a:ext cx="1255430" cy="318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D721C6-0552-FB04-6D7F-457DE1A58E86}"/>
              </a:ext>
            </a:extLst>
          </p:cNvPr>
          <p:cNvCxnSpPr/>
          <p:nvPr userDrawn="1"/>
        </p:nvCxnSpPr>
        <p:spPr>
          <a:xfrm>
            <a:off x="10642348" y="6345871"/>
            <a:ext cx="0" cy="3699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3624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677">
          <p15:clr>
            <a:srgbClr val="FBAE40"/>
          </p15:clr>
        </p15:guide>
        <p15:guide id="3" orient="horz" pos="720">
          <p15:clr>
            <a:srgbClr val="FBAE40"/>
          </p15:clr>
        </p15:guide>
        <p15:guide id="4" pos="532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B7DF7A6-C528-76F6-D9CB-030AC2E12133}"/>
              </a:ext>
            </a:extLst>
          </p:cNvPr>
          <p:cNvSpPr/>
          <p:nvPr userDrawn="1"/>
        </p:nvSpPr>
        <p:spPr>
          <a:xfrm>
            <a:off x="1" y="1"/>
            <a:ext cx="5029195" cy="41988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234B706-7182-523C-311C-7B9519D3AAFD}"/>
              </a:ext>
            </a:extLst>
          </p:cNvPr>
          <p:cNvSpPr/>
          <p:nvPr userDrawn="1"/>
        </p:nvSpPr>
        <p:spPr>
          <a:xfrm>
            <a:off x="2" y="0"/>
            <a:ext cx="5029183" cy="1087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E7C914-0C11-826D-5D7A-09ED51B273F4}"/>
              </a:ext>
            </a:extLst>
          </p:cNvPr>
          <p:cNvSpPr/>
          <p:nvPr userDrawn="1"/>
        </p:nvSpPr>
        <p:spPr>
          <a:xfrm>
            <a:off x="1" y="4198883"/>
            <a:ext cx="4023355" cy="265911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C70B93-C547-C454-9988-6033C6DC0534}"/>
              </a:ext>
            </a:extLst>
          </p:cNvPr>
          <p:cNvSpPr/>
          <p:nvPr userDrawn="1"/>
        </p:nvSpPr>
        <p:spPr>
          <a:xfrm>
            <a:off x="822960" y="4198883"/>
            <a:ext cx="4209389" cy="26591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F6A75-038B-DE75-4B3F-D4E6E8D6B50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1005839" y="2258858"/>
            <a:ext cx="3754099" cy="997196"/>
          </a:xfrm>
          <a:noFill/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 Arial 36pt bold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2DBFBF-DEA1-3AE8-40A0-A554F6FD788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005841" y="4603763"/>
            <a:ext cx="3845521" cy="33239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810317C-5A13-676D-AFB9-EA62A29691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996453" y="5153681"/>
            <a:ext cx="3585655" cy="18735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69A11A4-378B-2CA8-AC06-282923918C2F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white">
          <a:xfrm>
            <a:off x="2651760" y="6400800"/>
            <a:ext cx="1371600" cy="228600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6F18864-3517-5AAD-E7C2-8740A7C01E4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F2CB1CDA-A225-5914-86C6-0D1823CCCF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>
          <a:xfrm>
            <a:off x="457200" y="6400799"/>
            <a:ext cx="365760" cy="228600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8" name="Cognizant Logo_rgb_pos_2023">
            <a:extLst>
              <a:ext uri="{FF2B5EF4-FFF2-40B4-BE49-F238E27FC236}">
                <a16:creationId xmlns:a16="http://schemas.microsoft.com/office/drawing/2014/main" id="{1C974010-5A98-200B-8A85-C0953CD60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507" y="409890"/>
            <a:ext cx="1952373" cy="342705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F925A28A-EF03-932B-DDA9-A29DD0B298CB}"/>
              </a:ext>
            </a:extLst>
          </p:cNvPr>
          <p:cNvSpPr/>
          <p:nvPr userDrawn="1"/>
        </p:nvSpPr>
        <p:spPr>
          <a:xfrm>
            <a:off x="1" y="3985129"/>
            <a:ext cx="5029183" cy="213756"/>
          </a:xfrm>
          <a:prstGeom prst="rect">
            <a:avLst/>
          </a:prstGeom>
          <a:solidFill>
            <a:srgbClr val="7500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</p:spTree>
    <p:extLst>
      <p:ext uri="{BB962C8B-B14F-4D97-AF65-F5344CB8AC3E}">
        <p14:creationId xmlns:p14="http://schemas.microsoft.com/office/powerpoint/2010/main" val="16783479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78DC69E-5BB9-E207-B4C4-772BB212B5FD}"/>
              </a:ext>
            </a:extLst>
          </p:cNvPr>
          <p:cNvSpPr/>
          <p:nvPr userDrawn="1"/>
        </p:nvSpPr>
        <p:spPr>
          <a:xfrm>
            <a:off x="2" y="0"/>
            <a:ext cx="4023357" cy="61461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C6C0E2-4909-9622-49A3-CB9216F232BA}"/>
              </a:ext>
            </a:extLst>
          </p:cNvPr>
          <p:cNvSpPr/>
          <p:nvPr userDrawn="1"/>
        </p:nvSpPr>
        <p:spPr>
          <a:xfrm>
            <a:off x="3840046" y="0"/>
            <a:ext cx="183311" cy="6140371"/>
          </a:xfrm>
          <a:prstGeom prst="rect">
            <a:avLst/>
          </a:prstGeom>
          <a:solidFill>
            <a:srgbClr val="7500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962E75-C4A2-E267-FBAB-514136854564}"/>
              </a:ext>
            </a:extLst>
          </p:cNvPr>
          <p:cNvSpPr/>
          <p:nvPr userDrawn="1"/>
        </p:nvSpPr>
        <p:spPr>
          <a:xfrm>
            <a:off x="2" y="6146158"/>
            <a:ext cx="12191999" cy="7176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8" name="Title 6">
            <a:extLst>
              <a:ext uri="{FF2B5EF4-FFF2-40B4-BE49-F238E27FC236}">
                <a16:creationId xmlns:a16="http://schemas.microsoft.com/office/drawing/2014/main" id="{79C0D73B-15DB-8CC1-DEEF-3A91F4C18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7" y="5338679"/>
            <a:ext cx="8168643" cy="498599"/>
          </a:xfrm>
          <a:prstGeom prst="rect">
            <a:avLst/>
          </a:prstGeom>
          <a:solidFill>
            <a:schemeClr val="bg1">
              <a:alpha val="65000"/>
            </a:schemeClr>
          </a:solidFill>
        </p:spPr>
        <p:txBody>
          <a:bodyPr anchor="ctr" anchorCtr="0">
            <a:noAutofit/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af-ZA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ECC4041F-6D11-0FE9-00A1-B5319D914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799"/>
            <a:ext cx="36576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Footer Placeholder 7">
            <a:extLst>
              <a:ext uri="{FF2B5EF4-FFF2-40B4-BE49-F238E27FC236}">
                <a16:creationId xmlns:a16="http://schemas.microsoft.com/office/drawing/2014/main" id="{C5206096-A6FD-4938-E0A1-5E9B4187A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400800"/>
            <a:ext cx="1371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13BAA60-F1FE-B83E-8F72-DCD25756B8B0}"/>
              </a:ext>
            </a:extLst>
          </p:cNvPr>
          <p:cNvGrpSpPr/>
          <p:nvPr userDrawn="1"/>
        </p:nvGrpSpPr>
        <p:grpSpPr>
          <a:xfrm>
            <a:off x="9357273" y="6345871"/>
            <a:ext cx="2568027" cy="369995"/>
            <a:chOff x="9193652" y="6352479"/>
            <a:chExt cx="2836192" cy="40863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B91756B-1C09-7564-A3BC-46E750B909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193652" y="6352479"/>
              <a:ext cx="1362108" cy="408632"/>
            </a:xfrm>
            <a:prstGeom prst="rect">
              <a:avLst/>
            </a:prstGeom>
          </p:spPr>
        </p:pic>
        <p:pic>
          <p:nvPicPr>
            <p:cNvPr id="7" name="Picture 2" descr="Download KeyBank Logo in SVG Vector or PNG File Format - Logo.wine">
              <a:extLst>
                <a:ext uri="{FF2B5EF4-FFF2-40B4-BE49-F238E27FC236}">
                  <a16:creationId xmlns:a16="http://schemas.microsoft.com/office/drawing/2014/main" id="{930C37A4-E36A-CF61-008B-9F1958A0FCB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3" t="34270" r="8703" b="34270"/>
            <a:stretch/>
          </p:blipFill>
          <p:spPr bwMode="auto">
            <a:xfrm>
              <a:off x="10774414" y="6368297"/>
              <a:ext cx="1255430" cy="318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B14949-DA2B-BACE-F44F-D2129C9E080F}"/>
              </a:ext>
            </a:extLst>
          </p:cNvPr>
          <p:cNvCxnSpPr/>
          <p:nvPr userDrawn="1"/>
        </p:nvCxnSpPr>
        <p:spPr>
          <a:xfrm>
            <a:off x="10642348" y="6345871"/>
            <a:ext cx="0" cy="3699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6219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78DC69E-5BB9-E207-B4C4-772BB212B5FD}"/>
              </a:ext>
            </a:extLst>
          </p:cNvPr>
          <p:cNvSpPr/>
          <p:nvPr userDrawn="1"/>
        </p:nvSpPr>
        <p:spPr>
          <a:xfrm>
            <a:off x="2" y="5235984"/>
            <a:ext cx="12191999" cy="1622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EC539B-14D7-9D84-84FC-375F2EE295F5}"/>
              </a:ext>
            </a:extLst>
          </p:cNvPr>
          <p:cNvSpPr/>
          <p:nvPr userDrawn="1"/>
        </p:nvSpPr>
        <p:spPr>
          <a:xfrm rot="5400000">
            <a:off x="6025893" y="-915414"/>
            <a:ext cx="140211" cy="12191999"/>
          </a:xfrm>
          <a:prstGeom prst="rect">
            <a:avLst/>
          </a:prstGeom>
          <a:solidFill>
            <a:srgbClr val="7500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8" name="Title 6">
            <a:extLst>
              <a:ext uri="{FF2B5EF4-FFF2-40B4-BE49-F238E27FC236}">
                <a16:creationId xmlns:a16="http://schemas.microsoft.com/office/drawing/2014/main" id="{79C0D73B-15DB-8CC1-DEEF-3A91F4C186D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20586" y="5769994"/>
            <a:ext cx="7750831" cy="553997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af-ZA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ECC4041F-6D11-0FE9-00A1-B5319D914010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457200" y="6400799"/>
            <a:ext cx="36576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bg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Footer Placeholder 7">
            <a:extLst>
              <a:ext uri="{FF2B5EF4-FFF2-40B4-BE49-F238E27FC236}">
                <a16:creationId xmlns:a16="http://schemas.microsoft.com/office/drawing/2014/main" id="{C5206096-A6FD-4938-E0A1-5E9B4187A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1005840" y="6400800"/>
            <a:ext cx="1371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bg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pic>
        <p:nvPicPr>
          <p:cNvPr id="34" name="Cognizant Logo_rgb_pos_2023">
            <a:extLst>
              <a:ext uri="{FF2B5EF4-FFF2-40B4-BE49-F238E27FC236}">
                <a16:creationId xmlns:a16="http://schemas.microsoft.com/office/drawing/2014/main" id="{0E6ED547-5913-919D-EB1E-3B827A145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60853" y="534009"/>
            <a:ext cx="1952373" cy="342705"/>
          </a:xfrm>
          <a:prstGeom prst="rect">
            <a:avLst/>
          </a:prstGeom>
        </p:spPr>
      </p:pic>
      <p:pic>
        <p:nvPicPr>
          <p:cNvPr id="2" name="Picture 2" descr="Download KeyBank Logo in SVG Vector or PNG File Format - Logo.wine">
            <a:extLst>
              <a:ext uri="{FF2B5EF4-FFF2-40B4-BE49-F238E27FC236}">
                <a16:creationId xmlns:a16="http://schemas.microsoft.com/office/drawing/2014/main" id="{6452C518-93BF-7B38-FC2E-68879A9FA31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3" t="34270" r="8703" b="34270"/>
          <a:stretch/>
        </p:blipFill>
        <p:spPr bwMode="auto">
          <a:xfrm>
            <a:off x="822959" y="532571"/>
            <a:ext cx="1707520" cy="433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E0FD7B-81B9-AF4F-DC8C-720C3056E7B1}"/>
              </a:ext>
            </a:extLst>
          </p:cNvPr>
          <p:cNvCxnSpPr/>
          <p:nvPr userDrawn="1"/>
        </p:nvCxnSpPr>
        <p:spPr>
          <a:xfrm>
            <a:off x="2915728" y="532571"/>
            <a:ext cx="0" cy="4335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2001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52168"/>
            <a:ext cx="11387328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20DD75E-7C76-FCA4-7FDC-CF39FABBD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799"/>
            <a:ext cx="36576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F296707-52B7-A6C3-1CA1-AD226E027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400800"/>
            <a:ext cx="1371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71B290F-F83E-7C8B-A192-CBB6F1B28349}"/>
              </a:ext>
            </a:extLst>
          </p:cNvPr>
          <p:cNvGrpSpPr/>
          <p:nvPr userDrawn="1"/>
        </p:nvGrpSpPr>
        <p:grpSpPr>
          <a:xfrm>
            <a:off x="9357273" y="6345871"/>
            <a:ext cx="2568027" cy="369995"/>
            <a:chOff x="9193652" y="6352479"/>
            <a:chExt cx="2836192" cy="408632"/>
          </a:xfrm>
        </p:grpSpPr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89D1DD71-C943-CC8D-C3F4-BFF80576A3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193652" y="6352479"/>
              <a:ext cx="1362108" cy="408632"/>
            </a:xfrm>
            <a:prstGeom prst="rect">
              <a:avLst/>
            </a:prstGeom>
          </p:spPr>
        </p:pic>
        <p:pic>
          <p:nvPicPr>
            <p:cNvPr id="10" name="Picture 2" descr="Download KeyBank Logo in SVG Vector or PNG File Format - Logo.wine">
              <a:extLst>
                <a:ext uri="{FF2B5EF4-FFF2-40B4-BE49-F238E27FC236}">
                  <a16:creationId xmlns:a16="http://schemas.microsoft.com/office/drawing/2014/main" id="{23569BC3-E456-790E-7C75-2EFD893D032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3" t="34270" r="8703" b="34270"/>
            <a:stretch/>
          </p:blipFill>
          <p:spPr bwMode="auto">
            <a:xfrm>
              <a:off x="10774414" y="6368297"/>
              <a:ext cx="1255430" cy="318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1C8EA6-F7F1-6C9D-6BCF-40153AD0D638}"/>
              </a:ext>
            </a:extLst>
          </p:cNvPr>
          <p:cNvCxnSpPr/>
          <p:nvPr userDrawn="1"/>
        </p:nvCxnSpPr>
        <p:spPr>
          <a:xfrm>
            <a:off x="10642348" y="6345871"/>
            <a:ext cx="0" cy="3699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495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677">
          <p15:clr>
            <a:srgbClr val="FBAE40"/>
          </p15:clr>
        </p15:guide>
        <p15:guide id="3" orient="horz" pos="720">
          <p15:clr>
            <a:srgbClr val="FBAE40"/>
          </p15:clr>
        </p15:guide>
        <p15:guide id="4" pos="532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2"/>
            <a:ext cx="12192000" cy="68580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5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90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6"/>
            <a:ext cx="4013179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189" indent="0">
              <a:buNone/>
              <a:defRPr>
                <a:solidFill>
                  <a:schemeClr val="bg2"/>
                </a:solidFill>
              </a:defRPr>
            </a:lvl2pPr>
            <a:lvl3pPr marL="914377" indent="0">
              <a:buNone/>
              <a:defRPr>
                <a:solidFill>
                  <a:schemeClr val="bg2"/>
                </a:solidFill>
              </a:defRPr>
            </a:lvl3pPr>
            <a:lvl4pPr marL="1371566" indent="0">
              <a:buNone/>
              <a:defRPr>
                <a:solidFill>
                  <a:schemeClr val="bg2"/>
                </a:solidFill>
              </a:defRPr>
            </a:lvl4pPr>
            <a:lvl5pPr marL="1828754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 userDrawn="1"/>
        </p:nvSpPr>
        <p:spPr>
          <a:xfrm>
            <a:off x="-1367943" y="16824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>
              <a:solidFill>
                <a:schemeClr val="tx2"/>
              </a:solidFill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18417" y="515489"/>
            <a:ext cx="2067983" cy="6203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6ECACD-43DF-5B5A-5CA9-81D2A9CEF25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1470" y="505830"/>
            <a:ext cx="2228004" cy="5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172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 - ligh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08AA51-7693-0641-B1F2-2F6BF501AF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3" t="430" r="804" b="462"/>
          <a:stretch/>
        </p:blipFill>
        <p:spPr>
          <a:xfrm>
            <a:off x="49619" y="0"/>
            <a:ext cx="12153015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78C046-F713-7644-890D-FEC8749EF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5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CA51294-C033-514D-B2AD-53CAA2640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90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173B359-DEFF-8445-9CA5-5D8394261A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6"/>
            <a:ext cx="4013179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2"/>
                </a:solidFill>
              </a:defRPr>
            </a:lvl2pPr>
            <a:lvl3pPr marL="914377" indent="0">
              <a:buNone/>
              <a:defRPr>
                <a:solidFill>
                  <a:schemeClr val="bg2"/>
                </a:solidFill>
              </a:defRPr>
            </a:lvl3pPr>
            <a:lvl4pPr marL="1371566" indent="0">
              <a:buNone/>
              <a:defRPr>
                <a:solidFill>
                  <a:schemeClr val="bg2"/>
                </a:solidFill>
              </a:defRPr>
            </a:lvl4pPr>
            <a:lvl5pPr marL="1828754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FF54FF-1895-434D-7B37-7058D889D464}"/>
              </a:ext>
            </a:extLst>
          </p:cNvPr>
          <p:cNvGrpSpPr/>
          <p:nvPr userDrawn="1"/>
        </p:nvGrpSpPr>
        <p:grpSpPr>
          <a:xfrm>
            <a:off x="985025" y="498017"/>
            <a:ext cx="3750237" cy="551785"/>
            <a:chOff x="2667319" y="384698"/>
            <a:chExt cx="4510396" cy="663628"/>
          </a:xfrm>
        </p:grpSpPr>
        <p:pic>
          <p:nvPicPr>
            <p:cNvPr id="16" name="Logo">
              <a:extLst>
                <a:ext uri="{FF2B5EF4-FFF2-40B4-BE49-F238E27FC236}">
                  <a16:creationId xmlns:a16="http://schemas.microsoft.com/office/drawing/2014/main" id="{172F6F4F-6078-614B-9D72-235A05BE54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2667319" y="427931"/>
              <a:ext cx="2067983" cy="620395"/>
            </a:xfrm>
            <a:prstGeom prst="rect">
              <a:avLst/>
            </a:prstGeom>
          </p:spPr>
        </p:pic>
        <p:pic>
          <p:nvPicPr>
            <p:cNvPr id="2" name="Picture 2" descr="Download KeyBank Logo in SVG Vector or PNG File Format - Logo.wine">
              <a:extLst>
                <a:ext uri="{FF2B5EF4-FFF2-40B4-BE49-F238E27FC236}">
                  <a16:creationId xmlns:a16="http://schemas.microsoft.com/office/drawing/2014/main" id="{36FABDE6-03FB-8613-9155-334915F2846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3" t="34270" r="8703" b="34270"/>
            <a:stretch/>
          </p:blipFill>
          <p:spPr bwMode="auto">
            <a:xfrm>
              <a:off x="4731237" y="384698"/>
              <a:ext cx="2446478" cy="6212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849861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201" y="-16933"/>
            <a:ext cx="7307799" cy="68749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8" y="1903672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3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445C793-21BA-7791-0A72-E450534AB1BB}"/>
              </a:ext>
            </a:extLst>
          </p:cNvPr>
          <p:cNvGrpSpPr/>
          <p:nvPr userDrawn="1"/>
        </p:nvGrpSpPr>
        <p:grpSpPr>
          <a:xfrm>
            <a:off x="1080722" y="498017"/>
            <a:ext cx="3750237" cy="551785"/>
            <a:chOff x="2667319" y="384698"/>
            <a:chExt cx="4510396" cy="663628"/>
          </a:xfrm>
        </p:grpSpPr>
        <p:pic>
          <p:nvPicPr>
            <p:cNvPr id="7" name="Logo">
              <a:extLst>
                <a:ext uri="{FF2B5EF4-FFF2-40B4-BE49-F238E27FC236}">
                  <a16:creationId xmlns:a16="http://schemas.microsoft.com/office/drawing/2014/main" id="{2D591722-4784-B4C8-3563-D369AE8D1C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667319" y="427931"/>
              <a:ext cx="2067983" cy="620395"/>
            </a:xfrm>
            <a:prstGeom prst="rect">
              <a:avLst/>
            </a:prstGeom>
          </p:spPr>
        </p:pic>
        <p:pic>
          <p:nvPicPr>
            <p:cNvPr id="10" name="Picture 2" descr="Download KeyBank Logo in SVG Vector or PNG File Format - Logo.wine">
              <a:extLst>
                <a:ext uri="{FF2B5EF4-FFF2-40B4-BE49-F238E27FC236}">
                  <a16:creationId xmlns:a16="http://schemas.microsoft.com/office/drawing/2014/main" id="{7495919C-EBA1-33AD-C613-6F994C4DB4E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3" t="34270" r="8703" b="34270"/>
            <a:stretch/>
          </p:blipFill>
          <p:spPr bwMode="auto">
            <a:xfrm>
              <a:off x="4731237" y="384698"/>
              <a:ext cx="2446478" cy="6212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058083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7" t="33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3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30864CB-B8E8-7876-EB1E-7FC0DE53942F}"/>
              </a:ext>
            </a:extLst>
          </p:cNvPr>
          <p:cNvGrpSpPr/>
          <p:nvPr userDrawn="1"/>
        </p:nvGrpSpPr>
        <p:grpSpPr>
          <a:xfrm>
            <a:off x="9618411" y="6337012"/>
            <a:ext cx="2354216" cy="369995"/>
            <a:chOff x="9429790" y="6352479"/>
            <a:chExt cx="2600054" cy="408632"/>
          </a:xfrm>
        </p:grpSpPr>
        <p:pic>
          <p:nvPicPr>
            <p:cNvPr id="4" name="Picture 5">
              <a:extLst>
                <a:ext uri="{FF2B5EF4-FFF2-40B4-BE49-F238E27FC236}">
                  <a16:creationId xmlns:a16="http://schemas.microsoft.com/office/drawing/2014/main" id="{F8BB4577-3D00-A454-5E8B-76FBB96B4A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429790" y="6352479"/>
              <a:ext cx="1362108" cy="408632"/>
            </a:xfrm>
            <a:prstGeom prst="rect">
              <a:avLst/>
            </a:prstGeom>
          </p:spPr>
        </p:pic>
        <p:pic>
          <p:nvPicPr>
            <p:cNvPr id="7" name="Picture 2" descr="Download KeyBank Logo in SVG Vector or PNG File Format - Logo.wine">
              <a:extLst>
                <a:ext uri="{FF2B5EF4-FFF2-40B4-BE49-F238E27FC236}">
                  <a16:creationId xmlns:a16="http://schemas.microsoft.com/office/drawing/2014/main" id="{AA1E5F90-27DF-EED7-0231-1207C096B25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3" t="34270" r="8703" b="34270"/>
            <a:stretch/>
          </p:blipFill>
          <p:spPr bwMode="auto">
            <a:xfrm>
              <a:off x="10774414" y="6368297"/>
              <a:ext cx="1255430" cy="318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07265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-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3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BC102C-B3BC-6EF6-169C-4909983E8FB8}"/>
              </a:ext>
            </a:extLst>
          </p:cNvPr>
          <p:cNvGrpSpPr/>
          <p:nvPr userDrawn="1"/>
        </p:nvGrpSpPr>
        <p:grpSpPr>
          <a:xfrm>
            <a:off x="9618411" y="6337012"/>
            <a:ext cx="2354216" cy="369995"/>
            <a:chOff x="9429790" y="6352479"/>
            <a:chExt cx="2600054" cy="408632"/>
          </a:xfrm>
        </p:grpSpPr>
        <p:pic>
          <p:nvPicPr>
            <p:cNvPr id="4" name="Picture 5">
              <a:extLst>
                <a:ext uri="{FF2B5EF4-FFF2-40B4-BE49-F238E27FC236}">
                  <a16:creationId xmlns:a16="http://schemas.microsoft.com/office/drawing/2014/main" id="{801EB140-C3C3-1D51-124B-B7D63421C0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429790" y="6352479"/>
              <a:ext cx="1362108" cy="408632"/>
            </a:xfrm>
            <a:prstGeom prst="rect">
              <a:avLst/>
            </a:prstGeom>
          </p:spPr>
        </p:pic>
        <p:pic>
          <p:nvPicPr>
            <p:cNvPr id="7" name="Picture 2" descr="Download KeyBank Logo in SVG Vector or PNG File Format - Logo.wine">
              <a:extLst>
                <a:ext uri="{FF2B5EF4-FFF2-40B4-BE49-F238E27FC236}">
                  <a16:creationId xmlns:a16="http://schemas.microsoft.com/office/drawing/2014/main" id="{89E4EC9A-310F-4E89-5EB0-0109D185D3D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3" t="34270" r="8703" b="34270"/>
            <a:stretch/>
          </p:blipFill>
          <p:spPr bwMode="auto">
            <a:xfrm>
              <a:off x="10774414" y="6368297"/>
              <a:ext cx="1255430" cy="318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563739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-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5693"/>
            <a:ext cx="12202121" cy="68636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3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AD868AD-FE7F-F7C1-1623-82CFAF2FFD06}"/>
              </a:ext>
            </a:extLst>
          </p:cNvPr>
          <p:cNvGrpSpPr/>
          <p:nvPr userDrawn="1"/>
        </p:nvGrpSpPr>
        <p:grpSpPr>
          <a:xfrm>
            <a:off x="9618411" y="6337012"/>
            <a:ext cx="2354216" cy="369995"/>
            <a:chOff x="9429790" y="6352479"/>
            <a:chExt cx="2600054" cy="408632"/>
          </a:xfrm>
        </p:grpSpPr>
        <p:pic>
          <p:nvPicPr>
            <p:cNvPr id="4" name="Picture 5">
              <a:extLst>
                <a:ext uri="{FF2B5EF4-FFF2-40B4-BE49-F238E27FC236}">
                  <a16:creationId xmlns:a16="http://schemas.microsoft.com/office/drawing/2014/main" id="{EF2DFF4A-7D39-3DB9-DE09-74F7891D77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429790" y="6352479"/>
              <a:ext cx="1362108" cy="408632"/>
            </a:xfrm>
            <a:prstGeom prst="rect">
              <a:avLst/>
            </a:prstGeom>
          </p:spPr>
        </p:pic>
        <p:pic>
          <p:nvPicPr>
            <p:cNvPr id="7" name="Picture 2" descr="Download KeyBank Logo in SVG Vector or PNG File Format - Logo.wine">
              <a:extLst>
                <a:ext uri="{FF2B5EF4-FFF2-40B4-BE49-F238E27FC236}">
                  <a16:creationId xmlns:a16="http://schemas.microsoft.com/office/drawing/2014/main" id="{90280237-A027-424A-E02B-E6C390F3172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3" t="34270" r="8703" b="34270"/>
            <a:stretch/>
          </p:blipFill>
          <p:spPr bwMode="auto">
            <a:xfrm>
              <a:off x="10774414" y="6368297"/>
              <a:ext cx="1255430" cy="318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428624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divide - gradien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729644-34C5-1543-86E0-550EBEFDAD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12" t="20936" r="6388" b="390"/>
          <a:stretch/>
        </p:blipFill>
        <p:spPr>
          <a:xfrm>
            <a:off x="11577" y="0"/>
            <a:ext cx="12180425" cy="685800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9266682-BA4F-41F9-BE16-CD68E58613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313802"/>
            <a:ext cx="9381744" cy="553999"/>
          </a:xfrm>
        </p:spPr>
        <p:txBody>
          <a:bodyPr anchor="ctr" anchorCtr="0"/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31DBFC-B09E-A566-356E-B1CBEE7A9392}"/>
              </a:ext>
            </a:extLst>
          </p:cNvPr>
          <p:cNvGrpSpPr/>
          <p:nvPr userDrawn="1"/>
        </p:nvGrpSpPr>
        <p:grpSpPr>
          <a:xfrm>
            <a:off x="9646556" y="6353153"/>
            <a:ext cx="2259663" cy="337713"/>
            <a:chOff x="9646556" y="6353153"/>
            <a:chExt cx="2259663" cy="337713"/>
          </a:xfrm>
        </p:grpSpPr>
        <p:pic>
          <p:nvPicPr>
            <p:cNvPr id="5" name="Picture 8">
              <a:extLst>
                <a:ext uri="{FF2B5EF4-FFF2-40B4-BE49-F238E27FC236}">
                  <a16:creationId xmlns:a16="http://schemas.microsoft.com/office/drawing/2014/main" id="{C3038891-EECA-3B31-BEE4-774B09D19A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646556" y="6353153"/>
              <a:ext cx="1125709" cy="33771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55D0BB7-A9EB-6384-B3DF-DFCDC80A53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0772265" y="6356082"/>
              <a:ext cx="1133954" cy="286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7309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divide - gradi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B358EE7-FC7D-E843-AF2C-8D996FE347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0" t="21108" r="64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F79CCB-9635-4CE4-9AEA-94663524A8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313802"/>
            <a:ext cx="9381744" cy="553999"/>
          </a:xfrm>
        </p:spPr>
        <p:txBody>
          <a:bodyPr anchor="ctr" anchorCtr="0"/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DF7D00D-ED68-1B86-1236-ED7FBC054D81}"/>
              </a:ext>
            </a:extLst>
          </p:cNvPr>
          <p:cNvGrpSpPr/>
          <p:nvPr userDrawn="1"/>
        </p:nvGrpSpPr>
        <p:grpSpPr>
          <a:xfrm>
            <a:off x="9646556" y="6353153"/>
            <a:ext cx="2259663" cy="337713"/>
            <a:chOff x="9646556" y="6353153"/>
            <a:chExt cx="2259663" cy="337713"/>
          </a:xfrm>
        </p:grpSpPr>
        <p:pic>
          <p:nvPicPr>
            <p:cNvPr id="6" name="Picture 8">
              <a:extLst>
                <a:ext uri="{FF2B5EF4-FFF2-40B4-BE49-F238E27FC236}">
                  <a16:creationId xmlns:a16="http://schemas.microsoft.com/office/drawing/2014/main" id="{BEC0577B-E1A3-BB47-B7CB-EBF6A2B0F9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646556" y="6353153"/>
              <a:ext cx="1125709" cy="33771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C315B2A-3F8D-8C67-4EBA-8406C636DD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0772265" y="6356082"/>
              <a:ext cx="1133954" cy="286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7025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divide - gradi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FA9B71-FDBF-F042-A42A-6CCE179402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3" t="22108" r="6545" b="-1"/>
          <a:stretch/>
        </p:blipFill>
        <p:spPr>
          <a:xfrm>
            <a:off x="11575" y="1"/>
            <a:ext cx="12192000" cy="687246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6E0CAE6-74BD-42DF-9303-367BA9DC0C1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313802"/>
            <a:ext cx="9381744" cy="553999"/>
          </a:xfrm>
        </p:spPr>
        <p:txBody>
          <a:bodyPr anchor="ctr" anchorCtr="0"/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927D962-67DC-18B4-A7D9-4CF5517D161D}"/>
              </a:ext>
            </a:extLst>
          </p:cNvPr>
          <p:cNvGrpSpPr/>
          <p:nvPr userDrawn="1"/>
        </p:nvGrpSpPr>
        <p:grpSpPr>
          <a:xfrm>
            <a:off x="9618411" y="6337012"/>
            <a:ext cx="2354216" cy="369995"/>
            <a:chOff x="9429790" y="6352479"/>
            <a:chExt cx="2600054" cy="408632"/>
          </a:xfrm>
        </p:grpSpPr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D3AC3AC2-8E68-626C-7DD9-0B01B33B94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429790" y="6352479"/>
              <a:ext cx="1362108" cy="408632"/>
            </a:xfrm>
            <a:prstGeom prst="rect">
              <a:avLst/>
            </a:prstGeom>
          </p:spPr>
        </p:pic>
        <p:pic>
          <p:nvPicPr>
            <p:cNvPr id="10" name="Picture 2" descr="Download KeyBank Logo in SVG Vector or PNG File Format - Logo.wine">
              <a:extLst>
                <a:ext uri="{FF2B5EF4-FFF2-40B4-BE49-F238E27FC236}">
                  <a16:creationId xmlns:a16="http://schemas.microsoft.com/office/drawing/2014/main" id="{EF6FD25D-5A82-F02B-FEAC-BF9215D91E5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3" t="34270" r="8703" b="34270"/>
            <a:stretch/>
          </p:blipFill>
          <p:spPr bwMode="auto">
            <a:xfrm>
              <a:off x="10774414" y="6368297"/>
              <a:ext cx="1255430" cy="318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56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ADBAC61-71BD-0849-BABA-F53A3F1FD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59615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A653587-D29A-1341-89BA-BB7AEE6A4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59918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70B703B-567D-6247-BF28-0C6DF81B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96892"/>
            <a:ext cx="11811000" cy="583593"/>
          </a:xfrm>
        </p:spPr>
        <p:txBody>
          <a:bodyPr wrap="square" lIns="0" tIns="0" rIns="0" bIns="0" anchor="ctr" anchorCtr="0">
            <a:noAutofit/>
          </a:bodyPr>
          <a:lstStyle>
            <a:lvl1pPr>
              <a:lnSpc>
                <a:spcPct val="100000"/>
              </a:lnSpc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A062F5-2A4F-6541-CCEC-31CCC49CE101}"/>
              </a:ext>
            </a:extLst>
          </p:cNvPr>
          <p:cNvGrpSpPr/>
          <p:nvPr userDrawn="1"/>
        </p:nvGrpSpPr>
        <p:grpSpPr>
          <a:xfrm>
            <a:off x="9646556" y="6406318"/>
            <a:ext cx="2259663" cy="337713"/>
            <a:chOff x="9646556" y="6353153"/>
            <a:chExt cx="2259663" cy="337713"/>
          </a:xfrm>
        </p:grpSpPr>
        <p:pic>
          <p:nvPicPr>
            <p:cNvPr id="4" name="Picture 8">
              <a:extLst>
                <a:ext uri="{FF2B5EF4-FFF2-40B4-BE49-F238E27FC236}">
                  <a16:creationId xmlns:a16="http://schemas.microsoft.com/office/drawing/2014/main" id="{B70B097B-622C-FD91-AA76-252FC24DBE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646556" y="6353153"/>
              <a:ext cx="1125709" cy="33771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D05523F-FB15-688D-0CBE-DC1D2A8A8D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772265" y="6356082"/>
              <a:ext cx="1133954" cy="286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9928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7559">
          <p15:clr>
            <a:srgbClr val="FBAE40"/>
          </p15:clr>
        </p15:guide>
        <p15:guide id="3" pos="72">
          <p15:clr>
            <a:srgbClr val="FBAE40"/>
          </p15:clr>
        </p15:guide>
        <p15:guide id="4" orient="horz" pos="398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5271" y="6366756"/>
            <a:ext cx="1245325" cy="2620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3347" y="6366933"/>
            <a:ext cx="365952" cy="26246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96890"/>
            <a:ext cx="11887200" cy="588911"/>
          </a:xfrm>
        </p:spPr>
        <p:txBody>
          <a:bodyPr wrap="square" lIns="0" tIns="0" rIns="0" bIns="0" anchor="ctr" anchorCtr="0">
            <a:noAutofit/>
          </a:bodyPr>
          <a:lstStyle>
            <a:lvl1pPr>
              <a:lnSpc>
                <a:spcPct val="10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CE8819-9183-65E9-138D-1713244BDDAD}"/>
              </a:ext>
            </a:extLst>
          </p:cNvPr>
          <p:cNvGrpSpPr/>
          <p:nvPr userDrawn="1"/>
        </p:nvGrpSpPr>
        <p:grpSpPr>
          <a:xfrm>
            <a:off x="9357273" y="6345871"/>
            <a:ext cx="2568027" cy="369995"/>
            <a:chOff x="9193652" y="6352479"/>
            <a:chExt cx="2836192" cy="408632"/>
          </a:xfrm>
        </p:grpSpPr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59B1A9AF-64AB-7478-9A66-0971460D6C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193652" y="6352479"/>
              <a:ext cx="1362108" cy="408632"/>
            </a:xfrm>
            <a:prstGeom prst="rect">
              <a:avLst/>
            </a:prstGeom>
          </p:spPr>
        </p:pic>
        <p:pic>
          <p:nvPicPr>
            <p:cNvPr id="10" name="Picture 2" descr="Download KeyBank Logo in SVG Vector or PNG File Format - Logo.wine">
              <a:extLst>
                <a:ext uri="{FF2B5EF4-FFF2-40B4-BE49-F238E27FC236}">
                  <a16:creationId xmlns:a16="http://schemas.microsoft.com/office/drawing/2014/main" id="{1EEDDED9-3A93-A1B3-F7AC-C3C7D5541B2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3" t="34270" r="8703" b="34270"/>
            <a:stretch/>
          </p:blipFill>
          <p:spPr bwMode="auto">
            <a:xfrm>
              <a:off x="10774414" y="6368297"/>
              <a:ext cx="1255430" cy="318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FA0F706-2162-E340-38E5-5C0C2139FB48}"/>
              </a:ext>
            </a:extLst>
          </p:cNvPr>
          <p:cNvCxnSpPr/>
          <p:nvPr userDrawn="1"/>
        </p:nvCxnSpPr>
        <p:spPr>
          <a:xfrm>
            <a:off x="10642348" y="6345871"/>
            <a:ext cx="0" cy="3699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961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36">
          <p15:clr>
            <a:srgbClr val="FBAE40"/>
          </p15:clr>
        </p15:guide>
        <p15:guide id="2" pos="7582">
          <p15:clr>
            <a:srgbClr val="FBAE40"/>
          </p15:clr>
        </p15:guide>
        <p15:guide id="3" pos="72">
          <p15:clr>
            <a:srgbClr val="FBAE40"/>
          </p15:clr>
        </p15:guide>
        <p15:guide id="4" orient="horz" pos="393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-24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A46301-213F-9F43-A6C9-AC5D6B017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4" y="90169"/>
            <a:ext cx="11904132" cy="60198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kumimoji="0" lang="en-US" sz="1867" i="0" u="none" strike="noStrike" cap="none" spc="0" normalizeH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0" marR="0" lvl="0" indent="0" defTabSz="914377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655CA7-DCA4-8140-A79B-946BCFB53F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70565" y="6480237"/>
            <a:ext cx="1580775" cy="196977"/>
          </a:xfrm>
        </p:spPr>
        <p:txBody>
          <a:bodyPr/>
          <a:lstStyle/>
          <a:p>
            <a:pPr defTabSz="914354"/>
            <a:r>
              <a:rPr lang="en-GB">
                <a:solidFill>
                  <a:srgbClr val="787878"/>
                </a:solidFill>
              </a:rPr>
              <a:t>© 2026 Cognizant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6761C1-4FDC-1547-A50D-E2B7670D5F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62560" y="6480237"/>
            <a:ext cx="508000" cy="196977"/>
          </a:xfrm>
        </p:spPr>
        <p:txBody>
          <a:bodyPr/>
          <a:lstStyle/>
          <a:p>
            <a:pPr defTabSz="914354"/>
            <a:fld id="{F7430483-C5FB-442F-847A-EA6C8C3BCA0F}" type="slidenum">
              <a:rPr lang="en-GB" smtClean="0">
                <a:solidFill>
                  <a:srgbClr val="787878"/>
                </a:solidFill>
              </a:rPr>
              <a:pPr defTabSz="914354"/>
              <a:t>‹#›</a:t>
            </a:fld>
            <a:endParaRPr lang="en-GB">
              <a:solidFill>
                <a:srgbClr val="787878"/>
              </a:solidFill>
            </a:endParaRPr>
          </a:p>
        </p:txBody>
      </p:sp>
      <p:pic>
        <p:nvPicPr>
          <p:cNvPr id="4" name="Google Shape;238;p40">
            <a:extLst>
              <a:ext uri="{FF2B5EF4-FFF2-40B4-BE49-F238E27FC236}">
                <a16:creationId xmlns:a16="http://schemas.microsoft.com/office/drawing/2014/main" id="{049D400F-8482-F18A-F1C9-A18DD959036E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45705" y="6504436"/>
            <a:ext cx="982731" cy="176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 descr="Truist Bank Logo - PNG e Vetor - Download de Logo">
            <a:extLst>
              <a:ext uri="{FF2B5EF4-FFF2-40B4-BE49-F238E27FC236}">
                <a16:creationId xmlns:a16="http://schemas.microsoft.com/office/drawing/2014/main" id="{143F3DB2-F3BC-5CD4-5D48-FC21B02374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7385" y="6498703"/>
            <a:ext cx="753579" cy="177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58BBC5-1C3B-6DEF-DBBC-B88487E7A2A1}"/>
              </a:ext>
            </a:extLst>
          </p:cNvPr>
          <p:cNvCxnSpPr/>
          <p:nvPr userDrawn="1"/>
        </p:nvCxnSpPr>
        <p:spPr>
          <a:xfrm>
            <a:off x="10783483" y="6482240"/>
            <a:ext cx="0" cy="2201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224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27">
          <p15:clr>
            <a:srgbClr val="FBAE40"/>
          </p15:clr>
        </p15:guide>
        <p15:guide id="2" pos="5692">
          <p15:clr>
            <a:srgbClr val="FBAE40"/>
          </p15:clr>
        </p15:guide>
        <p15:guide id="3" orient="horz" pos="3003">
          <p15:clr>
            <a:srgbClr val="FBAE40"/>
          </p15:clr>
        </p15:guide>
        <p15:guide id="4" pos="68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S">
    <p:bg>
      <p:bgPr>
        <a:solidFill>
          <a:schemeClr val="accent6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6FD177-B563-EFF3-1BBA-DFAD35B66ED2}"/>
              </a:ext>
            </a:extLst>
          </p:cNvPr>
          <p:cNvSpPr txBox="1"/>
          <p:nvPr/>
        </p:nvSpPr>
        <p:spPr>
          <a:xfrm>
            <a:off x="1600379" y="2407182"/>
            <a:ext cx="8991244" cy="204363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COVERS</a:t>
            </a:r>
            <a:endParaRPr kumimoji="0" lang="en-US" sz="72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05437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1"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8B373-B954-E6CF-C9C8-9AC20DDB24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1005839" y="2936367"/>
            <a:ext cx="4023360" cy="997196"/>
          </a:xfrm>
        </p:spPr>
        <p:txBody>
          <a:bodyPr anchor="b"/>
          <a:lstStyle>
            <a:lvl1pPr algn="l">
              <a:defRPr sz="3600" b="1"/>
            </a:lvl1pPr>
          </a:lstStyle>
          <a:p>
            <a:r>
              <a:rPr lang="en-US"/>
              <a:t>Click to add title Arial 36pt bold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972F9C-09A7-DBD8-2D67-0D748097D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005839" y="4187952"/>
            <a:ext cx="4023360" cy="332399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68BAD18-89D3-751D-5AD5-9D192969E4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005840" y="5221923"/>
            <a:ext cx="4023360" cy="187359"/>
          </a:xfrm>
        </p:spPr>
        <p:txBody>
          <a:bodyPr>
            <a:sp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add date</a:t>
            </a:r>
          </a:p>
        </p:txBody>
      </p:sp>
      <p:pic>
        <p:nvPicPr>
          <p:cNvPr id="5" name="Cognizant Logo_rgb_rev_2023">
            <a:extLst>
              <a:ext uri="{FF2B5EF4-FFF2-40B4-BE49-F238E27FC236}">
                <a16:creationId xmlns:a16="http://schemas.microsoft.com/office/drawing/2014/main" id="{6D31EA89-5C1D-DE6B-0A5E-E426A85A6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141" y="534665"/>
            <a:ext cx="1783080" cy="3129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4D708-80D4-E81A-396C-38F535D61CAA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white"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602FB-08B6-9224-2ED9-82E1EB902A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/>
          <a:p>
            <a:r>
              <a:rPr lang="en-US"/>
              <a:t>© 2026 Cognizant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08A7654-3A43-87A9-ABBA-350B88EB467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F03245-CDE7-48AA-BD1B-F0D6935521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 r="-9"/>
          <a:stretch/>
        </p:blipFill>
        <p:spPr>
          <a:xfrm>
            <a:off x="5221960" y="-2"/>
            <a:ext cx="6970040" cy="68580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38914E-76D6-9247-EAA6-9EB94C14C751}"/>
              </a:ext>
            </a:extLst>
          </p:cNvPr>
          <p:cNvCxnSpPr/>
          <p:nvPr userDrawn="1"/>
        </p:nvCxnSpPr>
        <p:spPr>
          <a:xfrm>
            <a:off x="2513263" y="534665"/>
            <a:ext cx="0" cy="264790"/>
          </a:xfrm>
          <a:prstGeom prst="line">
            <a:avLst/>
          </a:prstGeom>
          <a:ln w="952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0C32877-9AA1-1A75-48F8-7E3BDC07B2EF}"/>
              </a:ext>
            </a:extLst>
          </p:cNvPr>
          <p:cNvGrpSpPr/>
          <p:nvPr userDrawn="1"/>
        </p:nvGrpSpPr>
        <p:grpSpPr>
          <a:xfrm>
            <a:off x="2706025" y="392859"/>
            <a:ext cx="1921932" cy="596600"/>
            <a:chOff x="2706025" y="392859"/>
            <a:chExt cx="1921932" cy="5966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CDB634D-F3A4-F8AA-0CE5-CB8FA05347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rcRect l="64536"/>
            <a:stretch>
              <a:fillRect/>
            </a:stretch>
          </p:blipFill>
          <p:spPr>
            <a:xfrm>
              <a:off x="3946359" y="392859"/>
              <a:ext cx="681598" cy="5966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DCCD614-4101-0998-C53B-D7FABE8691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 contrast="-100000"/>
            </a:blip>
            <a:srcRect r="35464"/>
            <a:stretch>
              <a:fillRect/>
            </a:stretch>
          </p:blipFill>
          <p:spPr>
            <a:xfrm>
              <a:off x="2706025" y="392859"/>
              <a:ext cx="1240334" cy="596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26053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840" y="2563670"/>
            <a:ext cx="6969760" cy="1477328"/>
          </a:xfrm>
        </p:spPr>
        <p:txBody>
          <a:bodyPr wrap="square" anchor="b" anchorCtr="0">
            <a:spAutoFit/>
          </a:bodyPr>
          <a:lstStyle>
            <a:lvl1pPr algn="l">
              <a:lnSpc>
                <a:spcPct val="8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thank you Arial 60pt bold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5839" y="4187952"/>
            <a:ext cx="6969759" cy="73866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r>
              <a:rPr lang="en-US"/>
              <a:t>Presenter’s name will go here</a:t>
            </a:r>
            <a:br>
              <a:rPr lang="en-US"/>
            </a:br>
            <a:r>
              <a:rPr lang="en-US"/>
              <a:t>Contact information will go here</a:t>
            </a:r>
          </a:p>
        </p:txBody>
      </p:sp>
      <p:pic>
        <p:nvPicPr>
          <p:cNvPr id="4" name="Cognizant Logo_rgb_pos_2023">
            <a:extLst>
              <a:ext uri="{FF2B5EF4-FFF2-40B4-BE49-F238E27FC236}">
                <a16:creationId xmlns:a16="http://schemas.microsoft.com/office/drawing/2014/main" id="{933CBE7C-62A0-B842-444A-9CB149FE47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141" y="536757"/>
            <a:ext cx="1771158" cy="310896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3AB218E-6446-9119-F020-EA0226D5EA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A69099E-58E8-F0C3-D6AC-8BF8CA47CAA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05840" y="6400800"/>
            <a:ext cx="1371600" cy="228600"/>
          </a:xfrm>
        </p:spPr>
        <p:txBody>
          <a:bodyPr/>
          <a:lstStyle/>
          <a:p>
            <a:r>
              <a:rPr lang="en-US"/>
              <a:t>© 2026 Cognizant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07F51C3-FF3D-0A66-9CCC-77DE445C7F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3704114-47F3-3E13-D514-6277D9426B3B}"/>
              </a:ext>
            </a:extLst>
          </p:cNvPr>
          <p:cNvCxnSpPr/>
          <p:nvPr userDrawn="1"/>
        </p:nvCxnSpPr>
        <p:spPr>
          <a:xfrm>
            <a:off x="2513263" y="534665"/>
            <a:ext cx="0" cy="264790"/>
          </a:xfrm>
          <a:prstGeom prst="line">
            <a:avLst/>
          </a:prstGeom>
          <a:ln w="952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E54C629-1D11-DDE1-98A3-233BFF66837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706024" y="392859"/>
            <a:ext cx="1921933" cy="59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685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2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AE93934B-F4CE-AD9A-35D6-CC331792B5C3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CA3A05-DC05-1CC5-ED65-5734138EE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022F7E-4713-F54B-0D06-50B8F5080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00DDDC-1A7E-DB83-3DF7-C1422F000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Cognizant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BA0657-9DC2-4B9A-96F7-59E8C05D9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0328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78DC69E-5BB9-E207-B4C4-772BB212B5FD}"/>
              </a:ext>
            </a:extLst>
          </p:cNvPr>
          <p:cNvSpPr/>
          <p:nvPr userDrawn="1"/>
        </p:nvSpPr>
        <p:spPr>
          <a:xfrm>
            <a:off x="2" y="0"/>
            <a:ext cx="4023357" cy="61461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C6C0E2-4909-9622-49A3-CB9216F232BA}"/>
              </a:ext>
            </a:extLst>
          </p:cNvPr>
          <p:cNvSpPr/>
          <p:nvPr userDrawn="1"/>
        </p:nvSpPr>
        <p:spPr>
          <a:xfrm>
            <a:off x="3840046" y="0"/>
            <a:ext cx="183311" cy="6140371"/>
          </a:xfrm>
          <a:prstGeom prst="rect">
            <a:avLst/>
          </a:prstGeom>
          <a:solidFill>
            <a:srgbClr val="7500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962E75-C4A2-E267-FBAB-514136854564}"/>
              </a:ext>
            </a:extLst>
          </p:cNvPr>
          <p:cNvSpPr/>
          <p:nvPr userDrawn="1"/>
        </p:nvSpPr>
        <p:spPr>
          <a:xfrm>
            <a:off x="2" y="6146158"/>
            <a:ext cx="12191999" cy="7176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8" name="Title 6">
            <a:extLst>
              <a:ext uri="{FF2B5EF4-FFF2-40B4-BE49-F238E27FC236}">
                <a16:creationId xmlns:a16="http://schemas.microsoft.com/office/drawing/2014/main" id="{79C0D73B-15DB-8CC1-DEEF-3A91F4C18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7" y="5338679"/>
            <a:ext cx="8168643" cy="498599"/>
          </a:xfrm>
          <a:prstGeom prst="rect">
            <a:avLst/>
          </a:prstGeom>
          <a:solidFill>
            <a:schemeClr val="bg1">
              <a:alpha val="65000"/>
            </a:schemeClr>
          </a:solidFill>
        </p:spPr>
        <p:txBody>
          <a:bodyPr anchor="ctr" anchorCtr="0">
            <a:noAutofit/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af-ZA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ECC4041F-6D11-0FE9-00A1-B5319D914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799"/>
            <a:ext cx="36576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Footer Placeholder 7">
            <a:extLst>
              <a:ext uri="{FF2B5EF4-FFF2-40B4-BE49-F238E27FC236}">
                <a16:creationId xmlns:a16="http://schemas.microsoft.com/office/drawing/2014/main" id="{C5206096-A6FD-4938-E0A1-5E9B4187A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400800"/>
            <a:ext cx="1371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034869B-3F12-9D2B-0673-FBD7C6655573}"/>
              </a:ext>
            </a:extLst>
          </p:cNvPr>
          <p:cNvGrpSpPr/>
          <p:nvPr userDrawn="1"/>
        </p:nvGrpSpPr>
        <p:grpSpPr>
          <a:xfrm>
            <a:off x="9618411" y="6337012"/>
            <a:ext cx="2354216" cy="369995"/>
            <a:chOff x="9429790" y="6352479"/>
            <a:chExt cx="2600054" cy="408632"/>
          </a:xfrm>
        </p:grpSpPr>
        <p:pic>
          <p:nvPicPr>
            <p:cNvPr id="3" name="Picture 5">
              <a:extLst>
                <a:ext uri="{FF2B5EF4-FFF2-40B4-BE49-F238E27FC236}">
                  <a16:creationId xmlns:a16="http://schemas.microsoft.com/office/drawing/2014/main" id="{F2936BFE-54BE-AA8C-09D1-C8B34DB1F8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429790" y="6352479"/>
              <a:ext cx="1362108" cy="408632"/>
            </a:xfrm>
            <a:prstGeom prst="rect">
              <a:avLst/>
            </a:prstGeom>
          </p:spPr>
        </p:pic>
        <p:pic>
          <p:nvPicPr>
            <p:cNvPr id="4" name="Picture 2" descr="Download KeyBank Logo in SVG Vector or PNG File Format - Logo.wine">
              <a:extLst>
                <a:ext uri="{FF2B5EF4-FFF2-40B4-BE49-F238E27FC236}">
                  <a16:creationId xmlns:a16="http://schemas.microsoft.com/office/drawing/2014/main" id="{848CA3EB-73AF-2027-F0F9-3BE884DE312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3" t="34270" r="8703" b="34270"/>
            <a:stretch/>
          </p:blipFill>
          <p:spPr bwMode="auto">
            <a:xfrm>
              <a:off x="10774414" y="6368297"/>
              <a:ext cx="1255430" cy="318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996516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52168"/>
            <a:ext cx="11387328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20DD75E-7C76-FCA4-7FDC-CF39FABBD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799"/>
            <a:ext cx="36576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F296707-52B7-A6C3-1CA1-AD226E027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400800"/>
            <a:ext cx="1371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1C8EA6-F7F1-6C9D-6BCF-40153AD0D638}"/>
              </a:ext>
            </a:extLst>
          </p:cNvPr>
          <p:cNvCxnSpPr/>
          <p:nvPr userDrawn="1"/>
        </p:nvCxnSpPr>
        <p:spPr>
          <a:xfrm>
            <a:off x="10642348" y="6345871"/>
            <a:ext cx="0" cy="3699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8849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677">
          <p15:clr>
            <a:srgbClr val="FBAE40"/>
          </p15:clr>
        </p15:guide>
        <p15:guide id="3" orient="horz" pos="720">
          <p15:clr>
            <a:srgbClr val="FBAE40"/>
          </p15:clr>
        </p15:guide>
        <p15:guide id="4" pos="5328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E671B0-AFC7-2A9A-0446-73580DA32B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" t="371" r="377" b="37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1400" y="1501816"/>
            <a:ext cx="5498296" cy="2336857"/>
          </a:xfrm>
        </p:spPr>
        <p:txBody>
          <a:bodyPr anchor="b">
            <a:no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1400" y="4601714"/>
            <a:ext cx="4722241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182" indent="0" algn="ctr">
              <a:buNone/>
              <a:defRPr sz="20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600"/>
            </a:lvl4pPr>
            <a:lvl5pPr marL="1828727" indent="0" algn="ctr">
              <a:buNone/>
              <a:defRPr sz="1600"/>
            </a:lvl5pPr>
            <a:lvl6pPr marL="2285909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1400" y="5106417"/>
            <a:ext cx="4721021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600" b="1">
                <a:solidFill>
                  <a:schemeClr val="accent4">
                    <a:lumMod val="75000"/>
                  </a:schemeClr>
                </a:solidFill>
              </a:defRPr>
            </a:lvl1pPr>
            <a:lvl2pPr marL="457182" indent="0">
              <a:buNone/>
              <a:defRPr>
                <a:solidFill>
                  <a:schemeClr val="bg2"/>
                </a:solidFill>
              </a:defRPr>
            </a:lvl2pPr>
            <a:lvl3pPr marL="914363" indent="0">
              <a:buNone/>
              <a:defRPr>
                <a:solidFill>
                  <a:schemeClr val="bg2"/>
                </a:solidFill>
              </a:defRPr>
            </a:lvl3pPr>
            <a:lvl4pPr marL="1371545" indent="0">
              <a:buNone/>
              <a:defRPr>
                <a:solidFill>
                  <a:schemeClr val="bg2"/>
                </a:solidFill>
              </a:defRPr>
            </a:lvl4pPr>
            <a:lvl5pPr marL="1828727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 userDrawn="1"/>
        </p:nvSpPr>
        <p:spPr>
          <a:xfrm>
            <a:off x="-1367942" y="168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>
              <a:solidFill>
                <a:schemeClr val="tx2"/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9EBC730-F3B6-D366-D82D-934B0B7E67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0290" y="6344516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8E2EEB6-757E-E1EA-BE18-A4FC0DBCA905}"/>
              </a:ext>
            </a:extLst>
          </p:cNvPr>
          <p:cNvSpPr/>
          <p:nvPr userDrawn="1"/>
        </p:nvSpPr>
        <p:spPr>
          <a:xfrm>
            <a:off x="3660278" y="522942"/>
            <a:ext cx="1647513" cy="353948"/>
          </a:xfrm>
          <a:prstGeom prst="roundRect">
            <a:avLst>
              <a:gd name="adj" fmla="val 781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7" name="Cognizant Logo_rgb_rev_2023">
            <a:extLst>
              <a:ext uri="{FF2B5EF4-FFF2-40B4-BE49-F238E27FC236}">
                <a16:creationId xmlns:a16="http://schemas.microsoft.com/office/drawing/2014/main" id="{400B6861-BD18-02B2-19D6-DBF3B9D58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653" y="534665"/>
            <a:ext cx="1783080" cy="312988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5B2E2D1-2286-D8D4-6B90-0284ED3F1952}"/>
              </a:ext>
            </a:extLst>
          </p:cNvPr>
          <p:cNvCxnSpPr/>
          <p:nvPr userDrawn="1"/>
        </p:nvCxnSpPr>
        <p:spPr>
          <a:xfrm>
            <a:off x="2598492" y="417766"/>
            <a:ext cx="0" cy="531955"/>
          </a:xfrm>
          <a:prstGeom prst="line">
            <a:avLst/>
          </a:prstGeom>
          <a:ln w="3175">
            <a:solidFill>
              <a:schemeClr val="accent6">
                <a:lumMod val="75000"/>
                <a:alpha val="7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2" descr="Discover logo and symbol, meaning, history, PNG">
            <a:extLst>
              <a:ext uri="{FF2B5EF4-FFF2-40B4-BE49-F238E27FC236}">
                <a16:creationId xmlns:a16="http://schemas.microsoft.com/office/drawing/2014/main" id="{A12C85A1-4CF7-B644-B724-9C1465DDE97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46" b="30661"/>
          <a:stretch/>
        </p:blipFill>
        <p:spPr bwMode="auto">
          <a:xfrm>
            <a:off x="3660279" y="528405"/>
            <a:ext cx="1647513" cy="353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10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656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1 - ligh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78C046-F713-7644-890D-FEC8749EF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5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CA51294-C033-514D-B2AD-53CAA2640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182" indent="0" algn="ctr">
              <a:buNone/>
              <a:defRPr sz="20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600"/>
            </a:lvl4pPr>
            <a:lvl5pPr marL="1828727" indent="0" algn="ctr">
              <a:buNone/>
              <a:defRPr sz="1600"/>
            </a:lvl5pPr>
            <a:lvl6pPr marL="2285909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173B359-DEFF-8445-9CA5-5D8394261A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6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182" indent="0">
              <a:buNone/>
              <a:defRPr>
                <a:solidFill>
                  <a:schemeClr val="bg2"/>
                </a:solidFill>
              </a:defRPr>
            </a:lvl2pPr>
            <a:lvl3pPr marL="914363" indent="0">
              <a:buNone/>
              <a:defRPr>
                <a:solidFill>
                  <a:schemeClr val="bg2"/>
                </a:solidFill>
              </a:defRPr>
            </a:lvl3pPr>
            <a:lvl4pPr marL="1371545" indent="0">
              <a:buNone/>
              <a:defRPr>
                <a:solidFill>
                  <a:schemeClr val="bg2"/>
                </a:solidFill>
              </a:defRPr>
            </a:lvl4pPr>
            <a:lvl5pPr marL="1828727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68AD5B8-7234-A530-85A3-B2ACB2135B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0290" y="6463485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6C5D0860-BD1A-5CD8-0DE2-CC0B5FB471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7274" y="372418"/>
            <a:ext cx="1861802" cy="680129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4FA02CA-D0A4-15DF-470B-D6E5CDB1D19E}"/>
              </a:ext>
            </a:extLst>
          </p:cNvPr>
          <p:cNvCxnSpPr/>
          <p:nvPr userDrawn="1"/>
        </p:nvCxnSpPr>
        <p:spPr>
          <a:xfrm>
            <a:off x="2553945" y="460935"/>
            <a:ext cx="0" cy="5030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Image result for discover logo">
            <a:extLst>
              <a:ext uri="{FF2B5EF4-FFF2-40B4-BE49-F238E27FC236}">
                <a16:creationId xmlns:a16="http://schemas.microsoft.com/office/drawing/2014/main" id="{4571B34C-F876-0FDE-44DF-B603F592C4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131" b="18674"/>
          <a:stretch/>
        </p:blipFill>
        <p:spPr bwMode="auto">
          <a:xfrm>
            <a:off x="2672452" y="544587"/>
            <a:ext cx="1204271" cy="335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2091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 - ligh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08AA51-7693-0641-B1F2-2F6BF501AF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3" t="430" r="804" b="462"/>
          <a:stretch/>
        </p:blipFill>
        <p:spPr>
          <a:xfrm>
            <a:off x="13230" y="0"/>
            <a:ext cx="12153014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78C046-F713-7644-890D-FEC8749EF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5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CA51294-C033-514D-B2AD-53CAA2640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182" indent="0" algn="ctr">
              <a:buNone/>
              <a:defRPr sz="20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600"/>
            </a:lvl4pPr>
            <a:lvl5pPr marL="1828727" indent="0" algn="ctr">
              <a:buNone/>
              <a:defRPr sz="1600"/>
            </a:lvl5pPr>
            <a:lvl6pPr marL="2285909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173B359-DEFF-8445-9CA5-5D8394261A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6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182" indent="0">
              <a:buNone/>
              <a:defRPr>
                <a:solidFill>
                  <a:schemeClr val="bg2"/>
                </a:solidFill>
              </a:defRPr>
            </a:lvl2pPr>
            <a:lvl3pPr marL="914363" indent="0">
              <a:buNone/>
              <a:defRPr>
                <a:solidFill>
                  <a:schemeClr val="bg2"/>
                </a:solidFill>
              </a:defRPr>
            </a:lvl3pPr>
            <a:lvl4pPr marL="1371545" indent="0">
              <a:buNone/>
              <a:defRPr>
                <a:solidFill>
                  <a:schemeClr val="bg2"/>
                </a:solidFill>
              </a:defRPr>
            </a:lvl4pPr>
            <a:lvl5pPr marL="1828727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68AD5B8-7234-A530-85A3-B2ACB2135B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0290" y="6344517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CE56106-373C-4445-8311-C115C15A67C1}"/>
              </a:ext>
            </a:extLst>
          </p:cNvPr>
          <p:cNvGrpSpPr/>
          <p:nvPr userDrawn="1"/>
        </p:nvGrpSpPr>
        <p:grpSpPr>
          <a:xfrm>
            <a:off x="472759" y="367577"/>
            <a:ext cx="3671951" cy="620394"/>
            <a:chOff x="472759" y="367577"/>
            <a:chExt cx="3671951" cy="620394"/>
          </a:xfrm>
        </p:grpSpPr>
        <p:pic>
          <p:nvPicPr>
            <p:cNvPr id="16" name="Logo">
              <a:extLst>
                <a:ext uri="{FF2B5EF4-FFF2-40B4-BE49-F238E27FC236}">
                  <a16:creationId xmlns:a16="http://schemas.microsoft.com/office/drawing/2014/main" id="{172F6F4F-6078-614B-9D72-235A05BE54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72759" y="367577"/>
              <a:ext cx="2067983" cy="620394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B846F16-DCA8-BF8F-EC4D-3CE5A0109743}"/>
                </a:ext>
              </a:extLst>
            </p:cNvPr>
            <p:cNvCxnSpPr/>
            <p:nvPr userDrawn="1"/>
          </p:nvCxnSpPr>
          <p:spPr>
            <a:xfrm>
              <a:off x="2597892" y="448320"/>
              <a:ext cx="0" cy="45890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2" descr="Image result for discover logo">
              <a:extLst>
                <a:ext uri="{FF2B5EF4-FFF2-40B4-BE49-F238E27FC236}">
                  <a16:creationId xmlns:a16="http://schemas.microsoft.com/office/drawing/2014/main" id="{B27348B2-BF42-1EAF-7ABC-EC34E054F04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0131" b="18674"/>
            <a:stretch/>
          </p:blipFill>
          <p:spPr bwMode="auto">
            <a:xfrm>
              <a:off x="2807074" y="534024"/>
              <a:ext cx="1337636" cy="306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842800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in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61925"/>
            <a:ext cx="11658601" cy="990600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4EEC2DC-3B4F-444D-9FB9-22ABC623A0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0290" y="6328905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60FE438-E33B-4AA6-93AB-4E3BEC54C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8128" y="6328641"/>
            <a:ext cx="424930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5FAAA-2394-051C-B2D7-78180F6C6766}"/>
              </a:ext>
            </a:extLst>
          </p:cNvPr>
          <p:cNvSpPr txBox="1"/>
          <p:nvPr/>
        </p:nvSpPr>
        <p:spPr>
          <a:xfrm>
            <a:off x="9150615" y="0"/>
            <a:ext cx="619324" cy="1828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>
                <a:solidFill>
                  <a:schemeClr val="tx2"/>
                </a:solidFill>
              </a:rPr>
              <a:t>Transition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0C3788-CA20-BEF8-0F6A-64DF8424D0F0}"/>
              </a:ext>
            </a:extLst>
          </p:cNvPr>
          <p:cNvSpPr txBox="1"/>
          <p:nvPr/>
        </p:nvSpPr>
        <p:spPr>
          <a:xfrm>
            <a:off x="9788394" y="0"/>
            <a:ext cx="619324" cy="1828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>
                <a:solidFill>
                  <a:schemeClr val="bg1">
                    <a:lumMod val="65000"/>
                  </a:schemeClr>
                </a:solidFill>
              </a:rPr>
              <a:t>Stabilize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96F822-54E3-9416-7730-EB7474D1E43D}"/>
              </a:ext>
            </a:extLst>
          </p:cNvPr>
          <p:cNvSpPr txBox="1"/>
          <p:nvPr/>
        </p:nvSpPr>
        <p:spPr>
          <a:xfrm>
            <a:off x="10426173" y="0"/>
            <a:ext cx="619324" cy="1828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>
                <a:solidFill>
                  <a:schemeClr val="bg1">
                    <a:lumMod val="65000"/>
                  </a:schemeClr>
                </a:solidFill>
              </a:rPr>
              <a:t>Optimize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3ED11F-2268-77B6-2164-C124BDEDBE44}"/>
              </a:ext>
            </a:extLst>
          </p:cNvPr>
          <p:cNvSpPr txBox="1"/>
          <p:nvPr/>
        </p:nvSpPr>
        <p:spPr>
          <a:xfrm>
            <a:off x="11063953" y="0"/>
            <a:ext cx="619324" cy="1828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>
                <a:solidFill>
                  <a:schemeClr val="bg1">
                    <a:lumMod val="65000"/>
                  </a:schemeClr>
                </a:solidFill>
              </a:rPr>
              <a:t>Transform</a:t>
            </a:r>
          </a:p>
        </p:txBody>
      </p:sp>
    </p:spTree>
    <p:extLst>
      <p:ext uri="{BB962C8B-B14F-4D97-AF65-F5344CB8AC3E}">
        <p14:creationId xmlns:p14="http://schemas.microsoft.com/office/powerpoint/2010/main" val="12582964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in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61925"/>
            <a:ext cx="11658601" cy="990600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4EEC2DC-3B4F-444D-9FB9-22ABC623A0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0290" y="6328905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60FE438-E33B-4AA6-93AB-4E3BEC54C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8128" y="6328641"/>
            <a:ext cx="424930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5FAAA-2394-051C-B2D7-78180F6C6766}"/>
              </a:ext>
            </a:extLst>
          </p:cNvPr>
          <p:cNvSpPr txBox="1"/>
          <p:nvPr/>
        </p:nvSpPr>
        <p:spPr>
          <a:xfrm>
            <a:off x="9150615" y="0"/>
            <a:ext cx="619324" cy="1828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Transition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0C3788-CA20-BEF8-0F6A-64DF8424D0F0}"/>
              </a:ext>
            </a:extLst>
          </p:cNvPr>
          <p:cNvSpPr txBox="1"/>
          <p:nvPr/>
        </p:nvSpPr>
        <p:spPr>
          <a:xfrm>
            <a:off x="9788394" y="0"/>
            <a:ext cx="619324" cy="1828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Stabilize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96F822-54E3-9416-7730-EB7474D1E43D}"/>
              </a:ext>
            </a:extLst>
          </p:cNvPr>
          <p:cNvSpPr txBox="1"/>
          <p:nvPr/>
        </p:nvSpPr>
        <p:spPr>
          <a:xfrm>
            <a:off x="10426173" y="0"/>
            <a:ext cx="619324" cy="1828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>
                <a:solidFill>
                  <a:schemeClr val="bg1">
                    <a:lumMod val="65000"/>
                  </a:schemeClr>
                </a:solidFill>
              </a:rPr>
              <a:t>Optimize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3ED11F-2268-77B6-2164-C124BDEDBE44}"/>
              </a:ext>
            </a:extLst>
          </p:cNvPr>
          <p:cNvSpPr txBox="1"/>
          <p:nvPr/>
        </p:nvSpPr>
        <p:spPr>
          <a:xfrm>
            <a:off x="11063953" y="0"/>
            <a:ext cx="619324" cy="1828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>
                <a:solidFill>
                  <a:schemeClr val="bg1">
                    <a:lumMod val="65000"/>
                  </a:schemeClr>
                </a:solidFill>
              </a:rPr>
              <a:t>Transform</a:t>
            </a:r>
          </a:p>
        </p:txBody>
      </p:sp>
    </p:spTree>
    <p:extLst>
      <p:ext uri="{BB962C8B-B14F-4D97-AF65-F5344CB8AC3E}">
        <p14:creationId xmlns:p14="http://schemas.microsoft.com/office/powerpoint/2010/main" val="34568532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in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61925"/>
            <a:ext cx="11658601" cy="990600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4EEC2DC-3B4F-444D-9FB9-22ABC623A0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0290" y="6328905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60FE438-E33B-4AA6-93AB-4E3BEC54C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8128" y="6328641"/>
            <a:ext cx="424930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5FAAA-2394-051C-B2D7-78180F6C6766}"/>
              </a:ext>
            </a:extLst>
          </p:cNvPr>
          <p:cNvSpPr txBox="1"/>
          <p:nvPr/>
        </p:nvSpPr>
        <p:spPr>
          <a:xfrm>
            <a:off x="9150615" y="0"/>
            <a:ext cx="619324" cy="1828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Transition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0C3788-CA20-BEF8-0F6A-64DF8424D0F0}"/>
              </a:ext>
            </a:extLst>
          </p:cNvPr>
          <p:cNvSpPr txBox="1"/>
          <p:nvPr/>
        </p:nvSpPr>
        <p:spPr>
          <a:xfrm>
            <a:off x="9788394" y="0"/>
            <a:ext cx="619324" cy="1828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lvl="0"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Stabilize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96F822-54E3-9416-7730-EB7474D1E43D}"/>
              </a:ext>
            </a:extLst>
          </p:cNvPr>
          <p:cNvSpPr txBox="1"/>
          <p:nvPr/>
        </p:nvSpPr>
        <p:spPr>
          <a:xfrm>
            <a:off x="10426173" y="0"/>
            <a:ext cx="619324" cy="1828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lvl="0" algn="ctr"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Optimize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3ED11F-2268-77B6-2164-C124BDEDBE44}"/>
              </a:ext>
            </a:extLst>
          </p:cNvPr>
          <p:cNvSpPr txBox="1"/>
          <p:nvPr/>
        </p:nvSpPr>
        <p:spPr>
          <a:xfrm>
            <a:off x="11063953" y="0"/>
            <a:ext cx="619324" cy="1828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900">
                <a:solidFill>
                  <a:schemeClr val="bg1">
                    <a:lumMod val="65000"/>
                  </a:schemeClr>
                </a:solidFill>
              </a:rPr>
              <a:t>Transform</a:t>
            </a:r>
          </a:p>
        </p:txBody>
      </p:sp>
    </p:spTree>
    <p:extLst>
      <p:ext uri="{BB962C8B-B14F-4D97-AF65-F5344CB8AC3E}">
        <p14:creationId xmlns:p14="http://schemas.microsoft.com/office/powerpoint/2010/main" val="208794075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in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61925"/>
            <a:ext cx="11658601" cy="990600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4EEC2DC-3B4F-444D-9FB9-22ABC623A0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0290" y="6328905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60FE438-E33B-4AA6-93AB-4E3BEC54C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8128" y="6328641"/>
            <a:ext cx="424930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5FAAA-2394-051C-B2D7-78180F6C6766}"/>
              </a:ext>
            </a:extLst>
          </p:cNvPr>
          <p:cNvSpPr txBox="1"/>
          <p:nvPr/>
        </p:nvSpPr>
        <p:spPr>
          <a:xfrm>
            <a:off x="9150615" y="0"/>
            <a:ext cx="619324" cy="1828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Transition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0C3788-CA20-BEF8-0F6A-64DF8424D0F0}"/>
              </a:ext>
            </a:extLst>
          </p:cNvPr>
          <p:cNvSpPr txBox="1"/>
          <p:nvPr/>
        </p:nvSpPr>
        <p:spPr>
          <a:xfrm>
            <a:off x="9788394" y="0"/>
            <a:ext cx="619324" cy="1828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lvl="0"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Stabilize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96F822-54E3-9416-7730-EB7474D1E43D}"/>
              </a:ext>
            </a:extLst>
          </p:cNvPr>
          <p:cNvSpPr txBox="1"/>
          <p:nvPr/>
        </p:nvSpPr>
        <p:spPr>
          <a:xfrm>
            <a:off x="10426173" y="0"/>
            <a:ext cx="619324" cy="1828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lvl="0"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Optimize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3ED11F-2268-77B6-2164-C124BDEDBE44}"/>
              </a:ext>
            </a:extLst>
          </p:cNvPr>
          <p:cNvSpPr txBox="1"/>
          <p:nvPr/>
        </p:nvSpPr>
        <p:spPr>
          <a:xfrm>
            <a:off x="11063953" y="0"/>
            <a:ext cx="619324" cy="1828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lvl="0" algn="ctr"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Transform</a:t>
            </a:r>
          </a:p>
        </p:txBody>
      </p:sp>
    </p:spTree>
    <p:extLst>
      <p:ext uri="{BB962C8B-B14F-4D97-AF65-F5344CB8AC3E}">
        <p14:creationId xmlns:p14="http://schemas.microsoft.com/office/powerpoint/2010/main" val="34670374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61925"/>
            <a:ext cx="11658601" cy="990600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4EEC2DC-3B4F-444D-9FB9-22ABC623A0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0290" y="6328905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60FE438-E33B-4AA6-93AB-4E3BEC54C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8128" y="6328641"/>
            <a:ext cx="424930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782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n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4EEC2DC-3B4F-444D-9FB9-22ABC623A0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0290" y="6344517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60FE438-E33B-4AA6-93AB-4E3BEC54C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8128" y="6344253"/>
            <a:ext cx="424930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8196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1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7" t="33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3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8C4E394-E83F-C407-AC02-190F572F1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0290" y="6463485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6E56C-EE12-5016-6505-D98F937AD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8128" y="6463221"/>
            <a:ext cx="424930" cy="304100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reeform 7">
            <a:extLst>
              <a:ext uri="{FF2B5EF4-FFF2-40B4-BE49-F238E27FC236}">
                <a16:creationId xmlns:a16="http://schemas.microsoft.com/office/drawing/2014/main" id="{256BFB78-79D3-FD28-9AB7-7EDAEBB34141}"/>
              </a:ext>
            </a:extLst>
          </p:cNvPr>
          <p:cNvSpPr/>
          <p:nvPr userDrawn="1"/>
        </p:nvSpPr>
        <p:spPr>
          <a:xfrm>
            <a:off x="803243" y="984752"/>
            <a:ext cx="3893592" cy="4804833"/>
          </a:xfrm>
          <a:custGeom>
            <a:avLst/>
            <a:gdLst>
              <a:gd name="connsiteX0" fmla="*/ 0 w 5096933"/>
              <a:gd name="connsiteY0" fmla="*/ 0 h 6654800"/>
              <a:gd name="connsiteX1" fmla="*/ 5096933 w 5096933"/>
              <a:gd name="connsiteY1" fmla="*/ 0 h 6654800"/>
              <a:gd name="connsiteX2" fmla="*/ 5096933 w 5096933"/>
              <a:gd name="connsiteY2" fmla="*/ 889000 h 6654800"/>
              <a:gd name="connsiteX3" fmla="*/ 3577230 w 5096933"/>
              <a:gd name="connsiteY3" fmla="*/ 889000 h 6654800"/>
              <a:gd name="connsiteX4" fmla="*/ 3577230 w 5096933"/>
              <a:gd name="connsiteY4" fmla="*/ 5765800 h 6654800"/>
              <a:gd name="connsiteX5" fmla="*/ 5096933 w 5096933"/>
              <a:gd name="connsiteY5" fmla="*/ 5765800 h 6654800"/>
              <a:gd name="connsiteX6" fmla="*/ 5096933 w 5096933"/>
              <a:gd name="connsiteY6" fmla="*/ 6654800 h 6654800"/>
              <a:gd name="connsiteX7" fmla="*/ 0 w 5096933"/>
              <a:gd name="connsiteY7" fmla="*/ 6654800 h 6654800"/>
              <a:gd name="connsiteX8" fmla="*/ 0 w 5096933"/>
              <a:gd name="connsiteY8" fmla="*/ 0 h 6654800"/>
              <a:gd name="connsiteX0" fmla="*/ 3577230 w 5096933"/>
              <a:gd name="connsiteY0" fmla="*/ 889000 h 6654800"/>
              <a:gd name="connsiteX1" fmla="*/ 3577230 w 5096933"/>
              <a:gd name="connsiteY1" fmla="*/ 5765800 h 6654800"/>
              <a:gd name="connsiteX2" fmla="*/ 5096933 w 5096933"/>
              <a:gd name="connsiteY2" fmla="*/ 5765800 h 6654800"/>
              <a:gd name="connsiteX3" fmla="*/ 5096933 w 5096933"/>
              <a:gd name="connsiteY3" fmla="*/ 6654800 h 6654800"/>
              <a:gd name="connsiteX4" fmla="*/ 0 w 5096933"/>
              <a:gd name="connsiteY4" fmla="*/ 6654800 h 6654800"/>
              <a:gd name="connsiteX5" fmla="*/ 0 w 5096933"/>
              <a:gd name="connsiteY5" fmla="*/ 0 h 6654800"/>
              <a:gd name="connsiteX6" fmla="*/ 5096933 w 5096933"/>
              <a:gd name="connsiteY6" fmla="*/ 0 h 6654800"/>
              <a:gd name="connsiteX7" fmla="*/ 5096933 w 5096933"/>
              <a:gd name="connsiteY7" fmla="*/ 889000 h 6654800"/>
              <a:gd name="connsiteX8" fmla="*/ 3668670 w 5096933"/>
              <a:gd name="connsiteY8" fmla="*/ 980440 h 6654800"/>
              <a:gd name="connsiteX0" fmla="*/ 3577230 w 5096933"/>
              <a:gd name="connsiteY0" fmla="*/ 5765800 h 6654800"/>
              <a:gd name="connsiteX1" fmla="*/ 5096933 w 5096933"/>
              <a:gd name="connsiteY1" fmla="*/ 5765800 h 6654800"/>
              <a:gd name="connsiteX2" fmla="*/ 5096933 w 5096933"/>
              <a:gd name="connsiteY2" fmla="*/ 6654800 h 6654800"/>
              <a:gd name="connsiteX3" fmla="*/ 0 w 5096933"/>
              <a:gd name="connsiteY3" fmla="*/ 6654800 h 6654800"/>
              <a:gd name="connsiteX4" fmla="*/ 0 w 5096933"/>
              <a:gd name="connsiteY4" fmla="*/ 0 h 6654800"/>
              <a:gd name="connsiteX5" fmla="*/ 5096933 w 5096933"/>
              <a:gd name="connsiteY5" fmla="*/ 0 h 6654800"/>
              <a:gd name="connsiteX6" fmla="*/ 5096933 w 5096933"/>
              <a:gd name="connsiteY6" fmla="*/ 889000 h 6654800"/>
              <a:gd name="connsiteX7" fmla="*/ 3668670 w 5096933"/>
              <a:gd name="connsiteY7" fmla="*/ 980440 h 6654800"/>
              <a:gd name="connsiteX0" fmla="*/ 3577230 w 5096933"/>
              <a:gd name="connsiteY0" fmla="*/ 5765800 h 6654800"/>
              <a:gd name="connsiteX1" fmla="*/ 5096933 w 5096933"/>
              <a:gd name="connsiteY1" fmla="*/ 5765800 h 6654800"/>
              <a:gd name="connsiteX2" fmla="*/ 5096933 w 5096933"/>
              <a:gd name="connsiteY2" fmla="*/ 6654800 h 6654800"/>
              <a:gd name="connsiteX3" fmla="*/ 0 w 5096933"/>
              <a:gd name="connsiteY3" fmla="*/ 6654800 h 6654800"/>
              <a:gd name="connsiteX4" fmla="*/ 0 w 5096933"/>
              <a:gd name="connsiteY4" fmla="*/ 0 h 6654800"/>
              <a:gd name="connsiteX5" fmla="*/ 5096933 w 5096933"/>
              <a:gd name="connsiteY5" fmla="*/ 0 h 6654800"/>
              <a:gd name="connsiteX6" fmla="*/ 5096933 w 5096933"/>
              <a:gd name="connsiteY6" fmla="*/ 889000 h 6654800"/>
              <a:gd name="connsiteX0" fmla="*/ 5096933 w 5096933"/>
              <a:gd name="connsiteY0" fmla="*/ 5765800 h 6654800"/>
              <a:gd name="connsiteX1" fmla="*/ 5096933 w 5096933"/>
              <a:gd name="connsiteY1" fmla="*/ 6654800 h 6654800"/>
              <a:gd name="connsiteX2" fmla="*/ 0 w 5096933"/>
              <a:gd name="connsiteY2" fmla="*/ 6654800 h 6654800"/>
              <a:gd name="connsiteX3" fmla="*/ 0 w 5096933"/>
              <a:gd name="connsiteY3" fmla="*/ 0 h 6654800"/>
              <a:gd name="connsiteX4" fmla="*/ 5096933 w 5096933"/>
              <a:gd name="connsiteY4" fmla="*/ 0 h 6654800"/>
              <a:gd name="connsiteX5" fmla="*/ 5096933 w 5096933"/>
              <a:gd name="connsiteY5" fmla="*/ 889000 h 66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96933" h="6654800">
                <a:moveTo>
                  <a:pt x="5096933" y="5765800"/>
                </a:moveTo>
                <a:lnTo>
                  <a:pt x="5096933" y="6654800"/>
                </a:lnTo>
                <a:lnTo>
                  <a:pt x="0" y="6654800"/>
                </a:lnTo>
                <a:lnTo>
                  <a:pt x="0" y="0"/>
                </a:lnTo>
                <a:lnTo>
                  <a:pt x="5096933" y="0"/>
                </a:lnTo>
                <a:lnTo>
                  <a:pt x="5096933" y="889000"/>
                </a:lnTo>
              </a:path>
            </a:pathLst>
          </a:custGeom>
          <a:noFill/>
          <a:ln w="3175">
            <a:solidFill>
              <a:schemeClr val="bg2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42946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200" y="-16932"/>
            <a:ext cx="7307799" cy="68749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7" y="1903672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22C76-ADCC-E3AE-4139-A2B2CA6897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0290" y="6344517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8F0CCF-1302-9154-33CD-DD8CA6C6C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8128" y="6343989"/>
            <a:ext cx="424930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931F40-6F4B-25E0-58B0-FC34298227AF}"/>
              </a:ext>
            </a:extLst>
          </p:cNvPr>
          <p:cNvGrpSpPr/>
          <p:nvPr userDrawn="1"/>
        </p:nvGrpSpPr>
        <p:grpSpPr>
          <a:xfrm>
            <a:off x="472759" y="367577"/>
            <a:ext cx="3561041" cy="620394"/>
            <a:chOff x="472759" y="367577"/>
            <a:chExt cx="3561041" cy="620394"/>
          </a:xfrm>
        </p:grpSpPr>
        <p:pic>
          <p:nvPicPr>
            <p:cNvPr id="4" name="Logo">
              <a:extLst>
                <a:ext uri="{FF2B5EF4-FFF2-40B4-BE49-F238E27FC236}">
                  <a16:creationId xmlns:a16="http://schemas.microsoft.com/office/drawing/2014/main" id="{28EF0C87-8251-EAAA-B37D-3885DA533B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72759" y="367577"/>
              <a:ext cx="2067983" cy="62039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84D8FF3-8C44-3120-B596-AE61B8E2BDB1}"/>
                </a:ext>
              </a:extLst>
            </p:cNvPr>
            <p:cNvGrpSpPr/>
            <p:nvPr userDrawn="1"/>
          </p:nvGrpSpPr>
          <p:grpSpPr>
            <a:xfrm>
              <a:off x="2540742" y="470139"/>
              <a:ext cx="1493058" cy="337709"/>
              <a:chOff x="6533492" y="5970902"/>
              <a:chExt cx="2153307" cy="487048"/>
            </a:xfrm>
          </p:grpSpPr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DDE7A3A5-FA56-1152-355F-9C6D7E83D86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692872" y="6037999"/>
                <a:ext cx="962053" cy="348828"/>
              </a:xfrm>
              <a:prstGeom prst="rect">
                <a:avLst/>
              </a:prstGeom>
            </p:spPr>
          </p:pic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3EA6AA58-7387-E562-E855-C1BC24880C7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7831645" y="5970902"/>
                <a:ext cx="0" cy="487048"/>
              </a:xfrm>
              <a:prstGeom prst="line">
                <a:avLst/>
              </a:prstGeom>
              <a:ln w="635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8" name="Picture 17" descr="A logo with black and orange text&#10;&#10;Description automatically generated">
                <a:extLst>
                  <a:ext uri="{FF2B5EF4-FFF2-40B4-BE49-F238E27FC236}">
                    <a16:creationId xmlns:a16="http://schemas.microsoft.com/office/drawing/2014/main" id="{6812E3DB-EB15-BC41-572A-FC3F025B604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7996076" y="5986280"/>
                <a:ext cx="690723" cy="454075"/>
              </a:xfrm>
              <a:prstGeom prst="rect">
                <a:avLst/>
              </a:prstGeom>
            </p:spPr>
          </p:pic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58460250-6E9F-B781-2D81-FD6CEB4F28F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533492" y="5970902"/>
                <a:ext cx="0" cy="487048"/>
              </a:xfrm>
              <a:prstGeom prst="line">
                <a:avLst/>
              </a:prstGeom>
              <a:ln w="635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34120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7" t="33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3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8C4E394-E83F-C407-AC02-190F572F1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0290" y="6344517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6E56C-EE12-5016-6505-D98F937AD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8128" y="6343989"/>
            <a:ext cx="424930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reeform 7">
            <a:extLst>
              <a:ext uri="{FF2B5EF4-FFF2-40B4-BE49-F238E27FC236}">
                <a16:creationId xmlns:a16="http://schemas.microsoft.com/office/drawing/2014/main" id="{256BFB78-79D3-FD28-9AB7-7EDAEBB34141}"/>
              </a:ext>
            </a:extLst>
          </p:cNvPr>
          <p:cNvSpPr/>
          <p:nvPr userDrawn="1"/>
        </p:nvSpPr>
        <p:spPr>
          <a:xfrm>
            <a:off x="803243" y="984752"/>
            <a:ext cx="3893592" cy="4804833"/>
          </a:xfrm>
          <a:custGeom>
            <a:avLst/>
            <a:gdLst>
              <a:gd name="connsiteX0" fmla="*/ 0 w 5096933"/>
              <a:gd name="connsiteY0" fmla="*/ 0 h 6654800"/>
              <a:gd name="connsiteX1" fmla="*/ 5096933 w 5096933"/>
              <a:gd name="connsiteY1" fmla="*/ 0 h 6654800"/>
              <a:gd name="connsiteX2" fmla="*/ 5096933 w 5096933"/>
              <a:gd name="connsiteY2" fmla="*/ 889000 h 6654800"/>
              <a:gd name="connsiteX3" fmla="*/ 3577230 w 5096933"/>
              <a:gd name="connsiteY3" fmla="*/ 889000 h 6654800"/>
              <a:gd name="connsiteX4" fmla="*/ 3577230 w 5096933"/>
              <a:gd name="connsiteY4" fmla="*/ 5765800 h 6654800"/>
              <a:gd name="connsiteX5" fmla="*/ 5096933 w 5096933"/>
              <a:gd name="connsiteY5" fmla="*/ 5765800 h 6654800"/>
              <a:gd name="connsiteX6" fmla="*/ 5096933 w 5096933"/>
              <a:gd name="connsiteY6" fmla="*/ 6654800 h 6654800"/>
              <a:gd name="connsiteX7" fmla="*/ 0 w 5096933"/>
              <a:gd name="connsiteY7" fmla="*/ 6654800 h 6654800"/>
              <a:gd name="connsiteX8" fmla="*/ 0 w 5096933"/>
              <a:gd name="connsiteY8" fmla="*/ 0 h 6654800"/>
              <a:gd name="connsiteX0" fmla="*/ 3577230 w 5096933"/>
              <a:gd name="connsiteY0" fmla="*/ 889000 h 6654800"/>
              <a:gd name="connsiteX1" fmla="*/ 3577230 w 5096933"/>
              <a:gd name="connsiteY1" fmla="*/ 5765800 h 6654800"/>
              <a:gd name="connsiteX2" fmla="*/ 5096933 w 5096933"/>
              <a:gd name="connsiteY2" fmla="*/ 5765800 h 6654800"/>
              <a:gd name="connsiteX3" fmla="*/ 5096933 w 5096933"/>
              <a:gd name="connsiteY3" fmla="*/ 6654800 h 6654800"/>
              <a:gd name="connsiteX4" fmla="*/ 0 w 5096933"/>
              <a:gd name="connsiteY4" fmla="*/ 6654800 h 6654800"/>
              <a:gd name="connsiteX5" fmla="*/ 0 w 5096933"/>
              <a:gd name="connsiteY5" fmla="*/ 0 h 6654800"/>
              <a:gd name="connsiteX6" fmla="*/ 5096933 w 5096933"/>
              <a:gd name="connsiteY6" fmla="*/ 0 h 6654800"/>
              <a:gd name="connsiteX7" fmla="*/ 5096933 w 5096933"/>
              <a:gd name="connsiteY7" fmla="*/ 889000 h 6654800"/>
              <a:gd name="connsiteX8" fmla="*/ 3668670 w 5096933"/>
              <a:gd name="connsiteY8" fmla="*/ 980440 h 6654800"/>
              <a:gd name="connsiteX0" fmla="*/ 3577230 w 5096933"/>
              <a:gd name="connsiteY0" fmla="*/ 5765800 h 6654800"/>
              <a:gd name="connsiteX1" fmla="*/ 5096933 w 5096933"/>
              <a:gd name="connsiteY1" fmla="*/ 5765800 h 6654800"/>
              <a:gd name="connsiteX2" fmla="*/ 5096933 w 5096933"/>
              <a:gd name="connsiteY2" fmla="*/ 6654800 h 6654800"/>
              <a:gd name="connsiteX3" fmla="*/ 0 w 5096933"/>
              <a:gd name="connsiteY3" fmla="*/ 6654800 h 6654800"/>
              <a:gd name="connsiteX4" fmla="*/ 0 w 5096933"/>
              <a:gd name="connsiteY4" fmla="*/ 0 h 6654800"/>
              <a:gd name="connsiteX5" fmla="*/ 5096933 w 5096933"/>
              <a:gd name="connsiteY5" fmla="*/ 0 h 6654800"/>
              <a:gd name="connsiteX6" fmla="*/ 5096933 w 5096933"/>
              <a:gd name="connsiteY6" fmla="*/ 889000 h 6654800"/>
              <a:gd name="connsiteX7" fmla="*/ 3668670 w 5096933"/>
              <a:gd name="connsiteY7" fmla="*/ 980440 h 6654800"/>
              <a:gd name="connsiteX0" fmla="*/ 3577230 w 5096933"/>
              <a:gd name="connsiteY0" fmla="*/ 5765800 h 6654800"/>
              <a:gd name="connsiteX1" fmla="*/ 5096933 w 5096933"/>
              <a:gd name="connsiteY1" fmla="*/ 5765800 h 6654800"/>
              <a:gd name="connsiteX2" fmla="*/ 5096933 w 5096933"/>
              <a:gd name="connsiteY2" fmla="*/ 6654800 h 6654800"/>
              <a:gd name="connsiteX3" fmla="*/ 0 w 5096933"/>
              <a:gd name="connsiteY3" fmla="*/ 6654800 h 6654800"/>
              <a:gd name="connsiteX4" fmla="*/ 0 w 5096933"/>
              <a:gd name="connsiteY4" fmla="*/ 0 h 6654800"/>
              <a:gd name="connsiteX5" fmla="*/ 5096933 w 5096933"/>
              <a:gd name="connsiteY5" fmla="*/ 0 h 6654800"/>
              <a:gd name="connsiteX6" fmla="*/ 5096933 w 5096933"/>
              <a:gd name="connsiteY6" fmla="*/ 889000 h 6654800"/>
              <a:gd name="connsiteX0" fmla="*/ 5096933 w 5096933"/>
              <a:gd name="connsiteY0" fmla="*/ 5765800 h 6654800"/>
              <a:gd name="connsiteX1" fmla="*/ 5096933 w 5096933"/>
              <a:gd name="connsiteY1" fmla="*/ 6654800 h 6654800"/>
              <a:gd name="connsiteX2" fmla="*/ 0 w 5096933"/>
              <a:gd name="connsiteY2" fmla="*/ 6654800 h 6654800"/>
              <a:gd name="connsiteX3" fmla="*/ 0 w 5096933"/>
              <a:gd name="connsiteY3" fmla="*/ 0 h 6654800"/>
              <a:gd name="connsiteX4" fmla="*/ 5096933 w 5096933"/>
              <a:gd name="connsiteY4" fmla="*/ 0 h 6654800"/>
              <a:gd name="connsiteX5" fmla="*/ 5096933 w 5096933"/>
              <a:gd name="connsiteY5" fmla="*/ 889000 h 665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96933" h="6654800">
                <a:moveTo>
                  <a:pt x="5096933" y="5765800"/>
                </a:moveTo>
                <a:lnTo>
                  <a:pt x="5096933" y="6654800"/>
                </a:lnTo>
                <a:lnTo>
                  <a:pt x="0" y="6654800"/>
                </a:lnTo>
                <a:lnTo>
                  <a:pt x="0" y="0"/>
                </a:lnTo>
                <a:lnTo>
                  <a:pt x="5096933" y="0"/>
                </a:lnTo>
                <a:lnTo>
                  <a:pt x="5096933" y="889000"/>
                </a:lnTo>
              </a:path>
            </a:pathLst>
          </a:custGeom>
          <a:noFill/>
          <a:ln w="3175">
            <a:solidFill>
              <a:schemeClr val="bg2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46537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IN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263639"/>
            <a:ext cx="352097" cy="36576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FE491D-592C-CA05-9B93-F82E1318111B}"/>
              </a:ext>
            </a:extLst>
          </p:cNvPr>
          <p:cNvCxnSpPr/>
          <p:nvPr userDrawn="1"/>
        </p:nvCxnSpPr>
        <p:spPr>
          <a:xfrm>
            <a:off x="10427077" y="6525327"/>
            <a:ext cx="0" cy="121444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518D0A9D-16EB-7D36-CFD3-30B220B66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3361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9282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- light_USE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310134"/>
            <a:ext cx="11296652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14618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E48B4-F4ED-4DA0-AE35-136D1133A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65DC66A-BAB7-4355-9ED4-0CA743C61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7E53A72-E1D6-4692-98EC-6243614B7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Cognizant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049D8E0-67E3-4D7E-847C-95CFA1F84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92D58F-27A5-440B-BDDC-757CC6F1E323}"/>
              </a:ext>
            </a:extLst>
          </p:cNvPr>
          <p:cNvCxnSpPr>
            <a:cxnSpLocks/>
          </p:cNvCxnSpPr>
          <p:nvPr userDrawn="1"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722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0987"/>
            <a:ext cx="1198179" cy="307778"/>
          </a:xfrm>
        </p:spPr>
        <p:txBody>
          <a:bodyPr/>
          <a:lstStyle>
            <a:lvl1pPr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4" y="6321087"/>
            <a:ext cx="352098" cy="308312"/>
          </a:xfrm>
        </p:spPr>
        <p:txBody>
          <a:bodyPr/>
          <a:lstStyle>
            <a:lvl1pPr>
              <a:defRPr sz="75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748" y="180525"/>
            <a:ext cx="11272151" cy="362736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357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7784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584">
          <p15:clr>
            <a:srgbClr val="FBAE40"/>
          </p15:clr>
        </p15:guide>
        <p15:guide id="2" orient="horz" pos="2016">
          <p15:clr>
            <a:srgbClr val="FBAE40"/>
          </p15:clr>
        </p15:guide>
        <p15:guide id="3" orient="horz" pos="372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52AEA-001C-7F72-D6DE-B199DEC27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6C1EF-5A9E-BA40-4170-D9DC8E3E5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74CB31-2F98-870B-4AB1-3DDA45BDC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Cognizant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BA1C0-4513-1602-A4D5-8E15E2B3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467F-836C-4A22-843B-F4734600C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31804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39054"/>
            <a:ext cx="11387328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94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6AB16-C89B-C286-D054-A2D5DB5C46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357975"/>
            <a:ext cx="11277600" cy="193899"/>
          </a:xfrm>
        </p:spPr>
        <p:txBody>
          <a:bodyPr anchor="b" anchorCtr="0"/>
          <a:lstStyle>
            <a:lvl1pPr>
              <a:defRPr sz="1400"/>
            </a:lvl1pPr>
          </a:lstStyle>
          <a:p>
            <a:r>
              <a:rPr lang="en-US"/>
              <a:t>Click to add title (for accessibility purposes)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2BD780-BD7C-D16D-9867-3767997F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ABA333-FF45-AB19-E8F1-74BC796D7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Cognizant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83C6AAA-8E03-CCE1-302E-C26D372E0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75173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EC5BE30F-BF00-4819-B2D2-A033003346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367656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17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247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91" y="228602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C9C0062-F721-22D5-B0C1-E065398BA078}"/>
              </a:ext>
            </a:extLst>
          </p:cNvPr>
          <p:cNvCxnSpPr/>
          <p:nvPr userDrawn="1"/>
        </p:nvCxnSpPr>
        <p:spPr>
          <a:xfrm>
            <a:off x="10482419" y="6352479"/>
            <a:ext cx="0" cy="4086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093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35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10" Type="http://schemas.openxmlformats.org/officeDocument/2006/relationships/image" Target="../media/image23.png"/><Relationship Id="rId4" Type="http://schemas.openxmlformats.org/officeDocument/2006/relationships/slideLayout" Target="../slideLayouts/slideLayout36.xml"/><Relationship Id="rId9" Type="http://schemas.openxmlformats.org/officeDocument/2006/relationships/image" Target="../media/image19.sv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59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image" Target="../media/image29.png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image" Target="../media/image19.svg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image" Target="../media/image18.png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57785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  <p:sldLayoutId id="2147483931" r:id="rId12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24" indent="-230182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66" indent="-230182" algn="l" defTabSz="914377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F230B5-518B-24CC-5360-65ED114C9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3282"/>
            <a:ext cx="114840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7B53D-6897-FB10-B4B4-55E663FD6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7518400" cy="46634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  <a:p>
            <a:pPr lvl="5"/>
            <a:r>
              <a:rPr lang="en-US"/>
              <a:t>6th level text</a:t>
            </a:r>
          </a:p>
          <a:p>
            <a:pPr lvl="6"/>
            <a:r>
              <a:rPr lang="en-US"/>
              <a:t>7th level text</a:t>
            </a:r>
          </a:p>
          <a:p>
            <a:pPr lvl="7"/>
            <a:r>
              <a:rPr lang="en-US"/>
              <a:t>8th level text</a:t>
            </a:r>
          </a:p>
          <a:p>
            <a:pPr lvl="8"/>
            <a:r>
              <a:rPr lang="en-US"/>
              <a:t>9th level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3681C-7AE6-4CE0-F456-C8E648A62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799"/>
            <a:ext cx="36576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7CCFE7-C984-DC56-6899-8A815F054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400800"/>
            <a:ext cx="1371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283347-4EBC-C7DD-65E3-791D4DBA6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51760" y="6400800"/>
            <a:ext cx="1371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99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3" r:id="rId1"/>
    <p:sldLayoutId id="2147483934" r:id="rId2"/>
    <p:sldLayoutId id="2147483935" r:id="rId3"/>
    <p:sldLayoutId id="2147483936" r:id="rId4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93182" indent="-187321" algn="l" defTabSz="914377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⁃"/>
        <a:tabLst/>
        <a:defRPr sz="1400" b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594345" indent="-182875" algn="l" defTabSz="914377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94345" indent="-182875" algn="l" defTabSz="914377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594345" indent="-182875" algn="l" defTabSz="914377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594345" indent="-182875" algn="l" defTabSz="914377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45" indent="-182875" algn="l" defTabSz="914377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94345" indent="-182875" algn="l" defTabSz="914377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594345" indent="-182875" algn="l" defTabSz="914377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>
          <p15:clr>
            <a:srgbClr val="F26B43"/>
          </p15:clr>
        </p15:guide>
        <p15:guide id="20" pos="4320">
          <p15:clr>
            <a:srgbClr val="F26B43"/>
          </p15:clr>
        </p15:guide>
        <p15:guide id="21" pos="162">
          <p15:clr>
            <a:srgbClr val="F26B43"/>
          </p15:clr>
        </p15:guide>
        <p15:guide id="22" pos="828">
          <p15:clr>
            <a:srgbClr val="F26B43"/>
          </p15:clr>
        </p15:guide>
        <p15:guide id="23" pos="1494">
          <p15:clr>
            <a:srgbClr val="F26B43"/>
          </p15:clr>
        </p15:guide>
        <p15:guide id="24" pos="2160">
          <p15:clr>
            <a:srgbClr val="F26B43"/>
          </p15:clr>
        </p15:guide>
        <p15:guide id="25" pos="2826">
          <p15:clr>
            <a:srgbClr val="F26B43"/>
          </p15:clr>
        </p15:guide>
        <p15:guide id="26" pos="3492">
          <p15:clr>
            <a:srgbClr val="F26B43"/>
          </p15:clr>
        </p15:guide>
        <p15:guide id="27" pos="4158">
          <p15:clr>
            <a:srgbClr val="F26B43"/>
          </p15:clr>
        </p15:guide>
        <p15:guide id="28" orient="horz">
          <p15:clr>
            <a:srgbClr val="F26B43"/>
          </p15:clr>
        </p15:guide>
        <p15:guide id="29" orient="horz" pos="2430">
          <p15:clr>
            <a:srgbClr val="F26B43"/>
          </p15:clr>
        </p15:guide>
        <p15:guide id="30" orient="horz" pos="162">
          <p15:clr>
            <a:srgbClr val="F26B43"/>
          </p15:clr>
        </p15:guide>
        <p15:guide id="31" orient="horz" pos="513">
          <p15:clr>
            <a:srgbClr val="F26B43"/>
          </p15:clr>
        </p15:guide>
        <p15:guide id="32" orient="horz" pos="864">
          <p15:clr>
            <a:srgbClr val="F26B43"/>
          </p15:clr>
        </p15:guide>
        <p15:guide id="33" orient="horz" pos="1215">
          <p15:clr>
            <a:srgbClr val="F26B43"/>
          </p15:clr>
        </p15:guide>
        <p15:guide id="34" orient="horz" pos="1566">
          <p15:clr>
            <a:srgbClr val="F26B43"/>
          </p15:clr>
        </p15:guide>
        <p15:guide id="35" orient="horz" pos="1917">
          <p15:clr>
            <a:srgbClr val="F26B43"/>
          </p15:clr>
        </p15:guide>
        <p15:guide id="36" orient="horz" pos="226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F230B5-518B-24CC-5360-65ED114C9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3282"/>
            <a:ext cx="114840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7B53D-6897-FB10-B4B4-55E663FD6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7518400" cy="46634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  <a:p>
            <a:pPr lvl="5"/>
            <a:r>
              <a:rPr lang="en-US"/>
              <a:t>6th level text</a:t>
            </a:r>
          </a:p>
          <a:p>
            <a:pPr lvl="6"/>
            <a:r>
              <a:rPr lang="en-US"/>
              <a:t>7th level text</a:t>
            </a:r>
          </a:p>
          <a:p>
            <a:pPr lvl="7"/>
            <a:r>
              <a:rPr lang="en-US"/>
              <a:t>8th level text</a:t>
            </a:r>
          </a:p>
          <a:p>
            <a:pPr lvl="8"/>
            <a:r>
              <a:rPr lang="en-US"/>
              <a:t>9th level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3681C-7AE6-4CE0-F456-C8E648A62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799"/>
            <a:ext cx="36576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7CCFE7-C984-DC56-6899-8A815F054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400800"/>
            <a:ext cx="1371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283347-4EBC-C7DD-65E3-791D4DBA6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51760" y="6400800"/>
            <a:ext cx="1371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41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93182" indent="-187321" algn="l" defTabSz="914377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⁃"/>
        <a:tabLst/>
        <a:defRPr sz="1400" b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594345" indent="-182875" algn="l" defTabSz="914377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94345" indent="-182875" algn="l" defTabSz="914377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594345" indent="-182875" algn="l" defTabSz="914377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594345" indent="-182875" algn="l" defTabSz="914377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45" indent="-182875" algn="l" defTabSz="914377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94345" indent="-182875" algn="l" defTabSz="914377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594345" indent="-182875" algn="l" defTabSz="914377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>
          <p15:clr>
            <a:srgbClr val="F26B43"/>
          </p15:clr>
        </p15:guide>
        <p15:guide id="20" pos="4320">
          <p15:clr>
            <a:srgbClr val="F26B43"/>
          </p15:clr>
        </p15:guide>
        <p15:guide id="21" pos="162">
          <p15:clr>
            <a:srgbClr val="F26B43"/>
          </p15:clr>
        </p15:guide>
        <p15:guide id="22" pos="828">
          <p15:clr>
            <a:srgbClr val="F26B43"/>
          </p15:clr>
        </p15:guide>
        <p15:guide id="23" pos="1494">
          <p15:clr>
            <a:srgbClr val="F26B43"/>
          </p15:clr>
        </p15:guide>
        <p15:guide id="24" pos="2160">
          <p15:clr>
            <a:srgbClr val="F26B43"/>
          </p15:clr>
        </p15:guide>
        <p15:guide id="25" pos="2826">
          <p15:clr>
            <a:srgbClr val="F26B43"/>
          </p15:clr>
        </p15:guide>
        <p15:guide id="26" pos="3492">
          <p15:clr>
            <a:srgbClr val="F26B43"/>
          </p15:clr>
        </p15:guide>
        <p15:guide id="27" pos="4158">
          <p15:clr>
            <a:srgbClr val="F26B43"/>
          </p15:clr>
        </p15:guide>
        <p15:guide id="28" orient="horz">
          <p15:clr>
            <a:srgbClr val="F26B43"/>
          </p15:clr>
        </p15:guide>
        <p15:guide id="29" orient="horz" pos="2430">
          <p15:clr>
            <a:srgbClr val="F26B43"/>
          </p15:clr>
        </p15:guide>
        <p15:guide id="30" orient="horz" pos="162">
          <p15:clr>
            <a:srgbClr val="F26B43"/>
          </p15:clr>
        </p15:guide>
        <p15:guide id="31" orient="horz" pos="513">
          <p15:clr>
            <a:srgbClr val="F26B43"/>
          </p15:clr>
        </p15:guide>
        <p15:guide id="32" orient="horz" pos="864">
          <p15:clr>
            <a:srgbClr val="F26B43"/>
          </p15:clr>
        </p15:guide>
        <p15:guide id="33" orient="horz" pos="1215">
          <p15:clr>
            <a:srgbClr val="F26B43"/>
          </p15:clr>
        </p15:guide>
        <p15:guide id="34" orient="horz" pos="1566">
          <p15:clr>
            <a:srgbClr val="F26B43"/>
          </p15:clr>
        </p15:guide>
        <p15:guide id="35" orient="horz" pos="1917">
          <p15:clr>
            <a:srgbClr val="F26B43"/>
          </p15:clr>
        </p15:guide>
        <p15:guide id="36" orient="horz" pos="226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57785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02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  <p:sldLayoutId id="2147483955" r:id="rId12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24" indent="-230182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66" indent="-230182" algn="l" defTabSz="914377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F230B5-518B-24CC-5360-65ED114C9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7B53D-6897-FB10-B4B4-55E663FD6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7518400" cy="46634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  <a:p>
            <a:pPr lvl="5"/>
            <a:r>
              <a:rPr lang="en-US"/>
              <a:t>6th level text</a:t>
            </a:r>
          </a:p>
          <a:p>
            <a:pPr lvl="6"/>
            <a:r>
              <a:rPr lang="en-US"/>
              <a:t>7th level text</a:t>
            </a:r>
          </a:p>
          <a:p>
            <a:pPr lvl="7"/>
            <a:r>
              <a:rPr lang="en-US"/>
              <a:t>8th level text</a:t>
            </a:r>
          </a:p>
          <a:p>
            <a:pPr lvl="8"/>
            <a:r>
              <a:rPr lang="en-US"/>
              <a:t>9th level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3681C-7AE6-4CE0-F456-C8E648A62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799"/>
            <a:ext cx="36576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7CCFE7-C984-DC56-6899-8A815F054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400800"/>
            <a:ext cx="1371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© 2026 Cognizant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283347-4EBC-C7DD-65E3-791D4DBA6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51760" y="6400800"/>
            <a:ext cx="1371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4" name="Cognizant Logo_rgb_pos_2023">
            <a:extLst>
              <a:ext uri="{FF2B5EF4-FFF2-40B4-BE49-F238E27FC236}">
                <a16:creationId xmlns:a16="http://schemas.microsoft.com/office/drawing/2014/main" id="{322DD144-17A4-A3EC-5E8D-205928D3BD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83038" y="6454070"/>
            <a:ext cx="1170432" cy="2054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1366E4-E306-E723-7C2E-61335F0A295B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4972" y="6390594"/>
            <a:ext cx="1074421" cy="33239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76DD58-BF47-0C11-AFFA-2B0470BACD77}"/>
              </a:ext>
            </a:extLst>
          </p:cNvPr>
          <p:cNvCxnSpPr/>
          <p:nvPr userDrawn="1"/>
        </p:nvCxnSpPr>
        <p:spPr>
          <a:xfrm>
            <a:off x="10642680" y="6454070"/>
            <a:ext cx="0" cy="209489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496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85" r:id="rId5"/>
    <p:sldLayoutId id="2147483986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93192" indent="-187325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⁃"/>
        <a:tabLst/>
        <a:defRPr sz="1400" b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8288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594360" indent="-18288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594360" indent="-18288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" indent="-18288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94360" indent="-18288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594360" indent="-18288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>
          <p15:clr>
            <a:srgbClr val="F26B43"/>
          </p15:clr>
        </p15:guide>
        <p15:guide id="20" pos="7680">
          <p15:clr>
            <a:srgbClr val="F26B43"/>
          </p15:clr>
        </p15:guide>
        <p15:guide id="21" pos="288">
          <p15:clr>
            <a:srgbClr val="F26B43"/>
          </p15:clr>
        </p15:guide>
        <p15:guide id="22" pos="1472">
          <p15:clr>
            <a:srgbClr val="F26B43"/>
          </p15:clr>
        </p15:guide>
        <p15:guide id="23" pos="2656">
          <p15:clr>
            <a:srgbClr val="F26B43"/>
          </p15:clr>
        </p15:guide>
        <p15:guide id="24" pos="3840">
          <p15:clr>
            <a:srgbClr val="F26B43"/>
          </p15:clr>
        </p15:guide>
        <p15:guide id="25" pos="5024">
          <p15:clr>
            <a:srgbClr val="F26B43"/>
          </p15:clr>
        </p15:guide>
        <p15:guide id="26" pos="6208">
          <p15:clr>
            <a:srgbClr val="F26B43"/>
          </p15:clr>
        </p15:guide>
        <p15:guide id="27" pos="7392">
          <p15:clr>
            <a:srgbClr val="F26B43"/>
          </p15:clr>
        </p15:guide>
        <p15:guide id="28" orient="horz">
          <p15:clr>
            <a:srgbClr val="F26B43"/>
          </p15:clr>
        </p15:guide>
        <p15:guide id="29" orient="horz" pos="4320">
          <p15:clr>
            <a:srgbClr val="F26B43"/>
          </p15:clr>
        </p15:guide>
        <p15:guide id="30" orient="horz" pos="288">
          <p15:clr>
            <a:srgbClr val="F26B43"/>
          </p15:clr>
        </p15:guide>
        <p15:guide id="31" orient="horz" pos="912">
          <p15:clr>
            <a:srgbClr val="F26B43"/>
          </p15:clr>
        </p15:guide>
        <p15:guide id="32" orient="horz" pos="1536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784">
          <p15:clr>
            <a:srgbClr val="F26B43"/>
          </p15:clr>
        </p15:guide>
        <p15:guide id="35" orient="horz" pos="3408">
          <p15:clr>
            <a:srgbClr val="F26B43"/>
          </p15:clr>
        </p15:guide>
        <p15:guide id="36" orient="horz" pos="4032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61924"/>
            <a:ext cx="11734800" cy="99060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6701" y="6339396"/>
            <a:ext cx="424932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71542C3-5026-413F-92E6-25E148904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0704" y="6339660"/>
            <a:ext cx="2060448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>
              <a:defRPr lang="en-US" sz="700" smtClean="0"/>
            </a:lvl1pPr>
          </a:lstStyle>
          <a:p>
            <a:r>
              <a:rPr lang="en-US"/>
              <a:t>© 2026 Cognizant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FB554D7-4C23-DD35-E6DF-4E6A1CE80A63}"/>
              </a:ext>
            </a:extLst>
          </p:cNvPr>
          <p:cNvGrpSpPr/>
          <p:nvPr userDrawn="1"/>
        </p:nvGrpSpPr>
        <p:grpSpPr>
          <a:xfrm>
            <a:off x="10138942" y="6571415"/>
            <a:ext cx="1571672" cy="218841"/>
            <a:chOff x="2516664" y="4269919"/>
            <a:chExt cx="2301085" cy="320405"/>
          </a:xfrm>
        </p:grpSpPr>
        <p:pic>
          <p:nvPicPr>
            <p:cNvPr id="31" name="Cognizant Logo_rgb_pos_2023">
              <a:extLst>
                <a:ext uri="{FF2B5EF4-FFF2-40B4-BE49-F238E27FC236}">
                  <a16:creationId xmlns:a16="http://schemas.microsoft.com/office/drawing/2014/main" id="{34B1B418-6201-E822-A781-C03E85DF1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2516664" y="4327397"/>
              <a:ext cx="1170432" cy="205449"/>
            </a:xfrm>
            <a:prstGeom prst="rect">
              <a:avLst/>
            </a:prstGeom>
          </p:spPr>
        </p:pic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3944351-406B-2CF9-A001-D57A4803076A}"/>
                </a:ext>
              </a:extLst>
            </p:cNvPr>
            <p:cNvCxnSpPr/>
            <p:nvPr userDrawn="1"/>
          </p:nvCxnSpPr>
          <p:spPr>
            <a:xfrm>
              <a:off x="3774183" y="4269919"/>
              <a:ext cx="0" cy="320405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3" name="Picture 2" descr="Discover logo and symbol, meaning, history, PNG">
              <a:extLst>
                <a:ext uri="{FF2B5EF4-FFF2-40B4-BE49-F238E27FC236}">
                  <a16:creationId xmlns:a16="http://schemas.microsoft.com/office/drawing/2014/main" id="{DA1FA6CE-9E80-2028-ABAD-70DFAC4D3E3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146" b="30661"/>
            <a:stretch/>
          </p:blipFill>
          <p:spPr bwMode="auto">
            <a:xfrm>
              <a:off x="3861270" y="4327357"/>
              <a:ext cx="956479" cy="2054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55044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5" r:id="rId14"/>
    <p:sldLayoutId id="2147483976" r:id="rId15"/>
    <p:sldLayoutId id="2147483977" r:id="rId16"/>
    <p:sldLayoutId id="2147483978" r:id="rId17"/>
    <p:sldLayoutId id="2147483979" r:id="rId18"/>
    <p:sldLayoutId id="2147483981" r:id="rId19"/>
    <p:sldLayoutId id="2147483982" r:id="rId20"/>
    <p:sldLayoutId id="2147483983" r:id="rId21"/>
  </p:sldLayoutIdLst>
  <p:hf hdr="0" dt="0"/>
  <p:txStyles>
    <p:titleStyle>
      <a:lvl1pPr algn="l" defTabSz="914363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63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15" indent="-230179" algn="l" defTabSz="914363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54" indent="-230179" algn="l" defTabSz="914363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6" indent="-228591" algn="l" defTabSz="914363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8" indent="-228591" algn="l" defTabSz="914363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024">
          <p15:clr>
            <a:srgbClr val="F26B43"/>
          </p15:clr>
        </p15:guide>
        <p15:guide id="2" pos="7536">
          <p15:clr>
            <a:srgbClr val="F26B43"/>
          </p15:clr>
        </p15:guide>
        <p15:guide id="3" orient="horz" pos="4800">
          <p15:clr>
            <a:srgbClr val="F26B43"/>
          </p15:clr>
        </p15:guide>
        <p15:guide id="4" orient="horz" pos="96">
          <p15:clr>
            <a:srgbClr val="F26B43"/>
          </p15:clr>
        </p15:guide>
        <p15:guide id="6" orient="horz" pos="720">
          <p15:clr>
            <a:srgbClr val="F26B43"/>
          </p15:clr>
        </p15:guide>
        <p15:guide id="7" pos="144">
          <p15:clr>
            <a:srgbClr val="F26B43"/>
          </p15:clr>
        </p15:guide>
        <p15:guide id="8" orient="horz" pos="39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image" Target="../media/image39.emf"/><Relationship Id="rId7" Type="http://schemas.openxmlformats.org/officeDocument/2006/relationships/image" Target="../media/image43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emf"/><Relationship Id="rId11" Type="http://schemas.openxmlformats.org/officeDocument/2006/relationships/image" Target="../media/image47.emf"/><Relationship Id="rId5" Type="http://schemas.openxmlformats.org/officeDocument/2006/relationships/image" Target="../media/image41.emf"/><Relationship Id="rId10" Type="http://schemas.openxmlformats.org/officeDocument/2006/relationships/image" Target="../media/image46.emf"/><Relationship Id="rId4" Type="http://schemas.openxmlformats.org/officeDocument/2006/relationships/image" Target="../media/image40.emf"/><Relationship Id="rId9" Type="http://schemas.openxmlformats.org/officeDocument/2006/relationships/image" Target="../media/image45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image" Target="../media/image50.emf"/><Relationship Id="rId7" Type="http://schemas.openxmlformats.org/officeDocument/2006/relationships/image" Target="../media/image54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3.emf"/><Relationship Id="rId5" Type="http://schemas.openxmlformats.org/officeDocument/2006/relationships/image" Target="../media/image52.emf"/><Relationship Id="rId4" Type="http://schemas.openxmlformats.org/officeDocument/2006/relationships/image" Target="../media/image51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rick bank building with a sign">
            <a:extLst>
              <a:ext uri="{FF2B5EF4-FFF2-40B4-BE49-F238E27FC236}">
                <a16:creationId xmlns:a16="http://schemas.microsoft.com/office/drawing/2014/main" id="{C1636CA1-56B8-20A4-BD12-88302991DB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63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87371D-1E20-267F-6AA8-C469C2782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499" y="4773655"/>
            <a:ext cx="8824836" cy="516531"/>
          </a:xfrm>
        </p:spPr>
        <p:txBody>
          <a:bodyPr/>
          <a:lstStyle/>
          <a:p>
            <a:r>
              <a:rPr lang="en-US" dirty="0"/>
              <a:t>KeyBank – </a:t>
            </a:r>
            <a:r>
              <a:rPr lang="en-US" dirty="0" err="1"/>
              <a:t>KeyNav</a:t>
            </a:r>
            <a:r>
              <a:rPr lang="en-US" dirty="0"/>
              <a:t> Java Migration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91E4D-E3DD-D5A1-0F6D-B04C55100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9499" y="5426712"/>
            <a:ext cx="4014215" cy="457200"/>
          </a:xfrm>
        </p:spPr>
        <p:txBody>
          <a:bodyPr/>
          <a:lstStyle/>
          <a:p>
            <a:r>
              <a:rPr lang="en-US"/>
              <a:t>Cognizant Proposal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884FF-808B-FDE3-325F-73B1E95FADA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299499" y="5883912"/>
            <a:ext cx="4013178" cy="365125"/>
          </a:xfrm>
        </p:spPr>
        <p:txBody>
          <a:bodyPr/>
          <a:lstStyle/>
          <a:p>
            <a:r>
              <a:rPr lang="en-US"/>
              <a:t>January 2026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EC266E-4024-2B92-298D-6D4FBCE83739}"/>
              </a:ext>
            </a:extLst>
          </p:cNvPr>
          <p:cNvGrpSpPr/>
          <p:nvPr/>
        </p:nvGrpSpPr>
        <p:grpSpPr>
          <a:xfrm>
            <a:off x="70625" y="222714"/>
            <a:ext cx="3750237" cy="551785"/>
            <a:chOff x="2667319" y="384698"/>
            <a:chExt cx="4510396" cy="663628"/>
          </a:xfrm>
        </p:grpSpPr>
        <p:pic>
          <p:nvPicPr>
            <p:cNvPr id="12" name="Logo">
              <a:extLst>
                <a:ext uri="{FF2B5EF4-FFF2-40B4-BE49-F238E27FC236}">
                  <a16:creationId xmlns:a16="http://schemas.microsoft.com/office/drawing/2014/main" id="{68EC3855-DE27-8CDB-C8EB-0F420CCBC7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2667319" y="427931"/>
              <a:ext cx="2067983" cy="620395"/>
            </a:xfrm>
            <a:prstGeom prst="rect">
              <a:avLst/>
            </a:prstGeom>
          </p:spPr>
        </p:pic>
        <p:pic>
          <p:nvPicPr>
            <p:cNvPr id="14" name="Picture 2" descr="Download KeyBank Logo in SVG Vector or PNG File Format - Logo.wine">
              <a:extLst>
                <a:ext uri="{FF2B5EF4-FFF2-40B4-BE49-F238E27FC236}">
                  <a16:creationId xmlns:a16="http://schemas.microsoft.com/office/drawing/2014/main" id="{E7C791D2-59E9-B866-3097-EA546074681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3" t="34270" r="8703" b="34270"/>
            <a:stretch/>
          </p:blipFill>
          <p:spPr bwMode="auto">
            <a:xfrm>
              <a:off x="4731237" y="384698"/>
              <a:ext cx="2446478" cy="6212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139B4-52E3-A9BA-46B9-6EFFB948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Cognizant</a:t>
            </a:r>
          </a:p>
        </p:txBody>
      </p:sp>
    </p:spTree>
    <p:extLst>
      <p:ext uri="{BB962C8B-B14F-4D97-AF65-F5344CB8AC3E}">
        <p14:creationId xmlns:p14="http://schemas.microsoft.com/office/powerpoint/2010/main" val="1070651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F001C-90B3-A8DB-EE79-5B877B2DA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81F90-0D85-6F3A-1DF3-3459F847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53FC88C1-8BEA-CFE2-3E61-5B47F417D63B}"/>
              </a:ext>
            </a:extLst>
          </p:cNvPr>
          <p:cNvSpPr txBox="1">
            <a:spLocks/>
          </p:cNvSpPr>
          <p:nvPr/>
        </p:nvSpPr>
        <p:spPr>
          <a:xfrm>
            <a:off x="-8860" y="260350"/>
            <a:ext cx="4383863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ea typeface="+mj-ea"/>
                <a:cs typeface="+mj-cs"/>
              </a:rPr>
              <a:t>Executive Summary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DB831B-57E1-CDA2-713F-EB7248B7BC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98" r="17577"/>
          <a:stretch/>
        </p:blipFill>
        <p:spPr bwMode="auto">
          <a:xfrm>
            <a:off x="1" y="-10632"/>
            <a:ext cx="4367864" cy="627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8C60599-9C56-5CDB-23E1-FB9CE446E502}"/>
              </a:ext>
            </a:extLst>
          </p:cNvPr>
          <p:cNvSpPr/>
          <p:nvPr/>
        </p:nvSpPr>
        <p:spPr>
          <a:xfrm>
            <a:off x="-14197" y="-10630"/>
            <a:ext cx="4382060" cy="6266614"/>
          </a:xfrm>
          <a:prstGeom prst="rect">
            <a:avLst/>
          </a:prstGeom>
          <a:solidFill>
            <a:srgbClr val="1B459C">
              <a:alpha val="61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8" name="Title 31">
            <a:extLst>
              <a:ext uri="{FF2B5EF4-FFF2-40B4-BE49-F238E27FC236}">
                <a16:creationId xmlns:a16="http://schemas.microsoft.com/office/drawing/2014/main" id="{97D1F2E2-0A46-A7C1-503F-285323BCDF76}"/>
              </a:ext>
            </a:extLst>
          </p:cNvPr>
          <p:cNvSpPr txBox="1">
            <a:spLocks/>
          </p:cNvSpPr>
          <p:nvPr/>
        </p:nvSpPr>
        <p:spPr>
          <a:xfrm>
            <a:off x="286512" y="1260560"/>
            <a:ext cx="3847909" cy="225993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400" dirty="0">
              <a:solidFill>
                <a:srgbClr val="FFFFFF"/>
              </a:solidFill>
            </a:endParaRPr>
          </a:p>
          <a:p>
            <a:r>
              <a:rPr lang="en-US" sz="1400" dirty="0">
                <a:solidFill>
                  <a:srgbClr val="FFFFFF"/>
                </a:solidFill>
              </a:rPr>
              <a:t>Lift-and-shift KTT, GTM, KTW, KMC, and KTM from WAS applications to Tomcat applications deployed as containers.	</a:t>
            </a:r>
          </a:p>
          <a:p>
            <a:endParaRPr lang="en-US" sz="1400" dirty="0">
              <a:solidFill>
                <a:srgbClr val="FFFFFF"/>
              </a:solidFill>
            </a:endParaRPr>
          </a:p>
          <a:p>
            <a:r>
              <a:rPr lang="en-US" sz="1400" dirty="0">
                <a:solidFill>
                  <a:srgbClr val="FFFFFF"/>
                </a:solidFill>
              </a:rPr>
              <a:t>Coordinate with Dev and Support teams on deploying these applications to a containerized environment (assume the container environment already exists).		</a:t>
            </a:r>
          </a:p>
          <a:p>
            <a:r>
              <a:rPr lang="en-US" sz="1400" dirty="0">
                <a:solidFill>
                  <a:srgbClr val="FFFFFF"/>
                </a:solidFill>
              </a:rPr>
              <a:t>Migrate applications from Bitbucket to Gitlab in the process, which would include coordinating with the Dev and Support teams to create appropriate pipelines.		</a:t>
            </a:r>
          </a:p>
          <a:p>
            <a:endParaRPr lang="en-US" sz="1400" dirty="0">
              <a:solidFill>
                <a:srgbClr val="FFFFFF"/>
              </a:solidFill>
            </a:endParaRPr>
          </a:p>
          <a:p>
            <a:r>
              <a:rPr lang="en-US" sz="1400" dirty="0">
                <a:solidFill>
                  <a:srgbClr val="FFFFFF"/>
                </a:solidFill>
              </a:rPr>
              <a:t>Preparing runbooks, deployment artifacts, and other necessary documentation to facilitate getting the migrated applications into production		</a:t>
            </a:r>
          </a:p>
          <a:p>
            <a:endParaRPr lang="en-US" sz="1400" dirty="0">
              <a:solidFill>
                <a:srgbClr val="FFFFFF"/>
              </a:solidFill>
            </a:endParaRPr>
          </a:p>
          <a:p>
            <a:r>
              <a:rPr lang="en-US" sz="1400" dirty="0">
                <a:solidFill>
                  <a:srgbClr val="FFFFFF"/>
                </a:solidFill>
              </a:rPr>
              <a:t>QAS testing of migrated applications, including performance testing	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E488BE1-5777-CB56-364D-9B632092F92D}"/>
              </a:ext>
            </a:extLst>
          </p:cNvPr>
          <p:cNvSpPr txBox="1">
            <a:spLocks/>
          </p:cNvSpPr>
          <p:nvPr/>
        </p:nvSpPr>
        <p:spPr>
          <a:xfrm>
            <a:off x="614724" y="893576"/>
            <a:ext cx="2151230" cy="752257"/>
          </a:xfrm>
          <a:prstGeom prst="rect">
            <a:avLst/>
          </a:prstGeom>
        </p:spPr>
        <p:txBody>
          <a:bodyPr vert="horz" wrap="none" lIns="91440" tIns="45720" rIns="91440" bIns="45720" rtlCol="0" anchor="t">
            <a:spAutoFit/>
          </a:bodyPr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800" b="0" i="0" kern="1200" cap="none" spc="-27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Avenir Next" charset="0"/>
                <a:cs typeface="Avenir Next" charset="0"/>
              </a:defRPr>
            </a:lvl1pPr>
          </a:lstStyle>
          <a:p>
            <a:pPr defTabSz="914286">
              <a:lnSpc>
                <a:spcPct val="70000"/>
              </a:lnSpc>
              <a:defRPr/>
            </a:pPr>
            <a:r>
              <a:rPr lang="en-US" sz="6000" b="1" spc="-533" dirty="0">
                <a:solidFill>
                  <a:srgbClr val="26EFE9"/>
                </a:solidFill>
                <a:latin typeface="+mj-lt"/>
                <a:ea typeface="+mj-ea"/>
                <a:cs typeface="Arial" panose="020B0604020202020204" pitchFamily="34" charset="0"/>
                <a:sym typeface="Arial"/>
              </a:rPr>
              <a:t>Scope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37892-6C4A-E85A-D1C3-AFD99CF5B7FA}"/>
              </a:ext>
            </a:extLst>
          </p:cNvPr>
          <p:cNvSpPr txBox="1"/>
          <p:nvPr/>
        </p:nvSpPr>
        <p:spPr>
          <a:xfrm>
            <a:off x="4563786" y="225237"/>
            <a:ext cx="875526" cy="22427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kern="0" cap="all" spc="133">
                <a:solidFill>
                  <a:srgbClr val="000048"/>
                </a:solidFill>
                <a:latin typeface="+mj-lt"/>
                <a:ea typeface="+mn-lt"/>
                <a:cs typeface="Arial"/>
              </a:rPr>
              <a:t>Our Solution Highlights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75F2F4-0DFE-127D-3218-B8F7D79A295A}"/>
              </a:ext>
            </a:extLst>
          </p:cNvPr>
          <p:cNvSpPr txBox="1"/>
          <p:nvPr/>
        </p:nvSpPr>
        <p:spPr>
          <a:xfrm>
            <a:off x="4427640" y="726800"/>
            <a:ext cx="7764360" cy="552918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lvl="0" indent="-17145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000048"/>
                </a:solidFill>
                <a:latin typeface="+mj-lt"/>
                <a:ea typeface="Calibri"/>
                <a:cs typeface="Calibri"/>
              </a:rPr>
              <a:t>Oracle Java 8 version upgrade to openJDK17 or to the nearest prior compatible version without changes to existing architecture, design, or framework</a:t>
            </a:r>
          </a:p>
          <a:p>
            <a:pPr marL="171450" lvl="0" indent="-17145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n-US" sz="1200" kern="0" dirty="0">
              <a:solidFill>
                <a:srgbClr val="000048"/>
              </a:solidFill>
              <a:latin typeface="+mj-lt"/>
              <a:ea typeface="Calibri"/>
              <a:cs typeface="Calibri"/>
            </a:endParaRPr>
          </a:p>
          <a:p>
            <a:pPr marL="171450" lvl="0" indent="-17145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000048"/>
                </a:solidFill>
                <a:latin typeface="+mj-lt"/>
                <a:ea typeface="Calibri"/>
                <a:cs typeface="Calibri"/>
              </a:rPr>
              <a:t>Perform JAR version upgrades and remediate deprecated code in the current JDK version as part of the scope.</a:t>
            </a:r>
          </a:p>
          <a:p>
            <a:pPr marL="171450" lvl="0" indent="-17145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n-US" sz="1200" kern="0" dirty="0">
              <a:solidFill>
                <a:srgbClr val="000048"/>
              </a:solidFill>
              <a:latin typeface="+mj-lt"/>
              <a:ea typeface="Calibri"/>
              <a:cs typeface="Calibri"/>
            </a:endParaRPr>
          </a:p>
          <a:p>
            <a:pPr marL="171450" lvl="0" indent="-17145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000048"/>
                </a:solidFill>
                <a:latin typeface="+mj-lt"/>
                <a:ea typeface="Calibri"/>
                <a:cs typeface="Calibri"/>
              </a:rPr>
              <a:t>Coordinate with the TLA team to update deployment scripts and CI/CD pipelines for changes related to JDK upgrades.</a:t>
            </a:r>
          </a:p>
          <a:p>
            <a:pPr marL="171450" lvl="0" indent="-17145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n-US" sz="1200" kern="0" dirty="0">
              <a:solidFill>
                <a:srgbClr val="000048"/>
              </a:solidFill>
              <a:latin typeface="+mj-lt"/>
              <a:ea typeface="Calibri"/>
              <a:cs typeface="Calibri"/>
            </a:endParaRPr>
          </a:p>
          <a:p>
            <a:pPr marL="171450" lvl="0" indent="-17145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000048"/>
                </a:solidFill>
                <a:latin typeface="+mj-lt"/>
                <a:ea typeface="Calibri"/>
                <a:cs typeface="Calibri"/>
              </a:rPr>
              <a:t>Request and obtain required access from the application team, including GitHub repositories, database credentials, and local setup documentation for in-scope applications.</a:t>
            </a:r>
          </a:p>
          <a:p>
            <a:pPr marL="171450" lvl="0" indent="-17145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n-US" sz="1200" kern="0" dirty="0">
              <a:solidFill>
                <a:srgbClr val="000048"/>
              </a:solidFill>
              <a:latin typeface="+mj-lt"/>
              <a:ea typeface="Calibri"/>
              <a:cs typeface="Calibri"/>
            </a:endParaRPr>
          </a:p>
          <a:p>
            <a:pPr marL="171450" lvl="0" indent="-17145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000048"/>
                </a:solidFill>
                <a:latin typeface="+mj-lt"/>
                <a:ea typeface="Calibri"/>
                <a:cs typeface="Calibri"/>
              </a:rPr>
              <a:t>Fix any issues introduced by the upgraded code, as identified during development, QA, or PTE testing.</a:t>
            </a:r>
          </a:p>
          <a:p>
            <a:pPr marL="171450" lvl="0" indent="-17145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n-US" sz="1200" kern="0" dirty="0">
              <a:solidFill>
                <a:srgbClr val="000048"/>
              </a:solidFill>
              <a:latin typeface="+mj-lt"/>
              <a:ea typeface="Calibri"/>
              <a:cs typeface="Calibri"/>
            </a:endParaRPr>
          </a:p>
          <a:p>
            <a:pPr marL="171450" lvl="0" indent="-17145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000048"/>
                </a:solidFill>
                <a:latin typeface="+mj-lt"/>
                <a:ea typeface="Calibri"/>
                <a:cs typeface="Calibri"/>
              </a:rPr>
              <a:t>Remediate the application in one lower environment and support to application team for the deployments of remediated code in remaining regions.</a:t>
            </a:r>
          </a:p>
          <a:p>
            <a:pPr marL="171450" lvl="0" indent="-17145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n-US" sz="1200" kern="0" dirty="0">
              <a:solidFill>
                <a:srgbClr val="000048"/>
              </a:solidFill>
              <a:latin typeface="+mj-lt"/>
              <a:ea typeface="Calibri"/>
              <a:cs typeface="Calibri"/>
            </a:endParaRPr>
          </a:p>
          <a:p>
            <a:pPr marL="171450" lvl="0" indent="-17145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000048"/>
                </a:solidFill>
                <a:latin typeface="+mj-lt"/>
                <a:ea typeface="Calibri"/>
                <a:cs typeface="Calibri"/>
              </a:rPr>
              <a:t>Perform regression testing in a stable QA environment with required database connectivity and integration with upstream/downstream systems. Leverage existing automation scripts for testing.</a:t>
            </a:r>
          </a:p>
          <a:p>
            <a:pPr marL="171450" lvl="0" indent="-17145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n-US" sz="1200" kern="0" dirty="0">
              <a:solidFill>
                <a:srgbClr val="000048"/>
              </a:solidFill>
              <a:latin typeface="+mj-lt"/>
              <a:ea typeface="Calibri"/>
              <a:cs typeface="Calibri"/>
            </a:endParaRPr>
          </a:p>
          <a:p>
            <a:pPr marL="171450" lvl="0" indent="-17145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000048"/>
                </a:solidFill>
                <a:latin typeface="+mj-lt"/>
                <a:ea typeface="Calibri"/>
                <a:cs typeface="Calibri"/>
              </a:rPr>
              <a:t>Provide warranty support for two weeks post-release to ensure stability and resolve any issues.</a:t>
            </a:r>
          </a:p>
          <a:p>
            <a:pPr marL="172720" indent="-172720" defTabSz="914377" fontAlgn="base">
              <a:spcBef>
                <a:spcPts val="400"/>
              </a:spcBef>
              <a:spcAft>
                <a:spcPts val="4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kern="0" dirty="0">
              <a:solidFill>
                <a:srgbClr val="000048"/>
              </a:solidFill>
              <a:latin typeface="+mj-lt"/>
              <a:ea typeface="Calibri"/>
              <a:cs typeface="Calibri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23DC21-13E4-6C16-0775-27E40C344265}"/>
              </a:ext>
            </a:extLst>
          </p:cNvPr>
          <p:cNvCxnSpPr>
            <a:cxnSpLocks/>
          </p:cNvCxnSpPr>
          <p:nvPr/>
        </p:nvCxnSpPr>
        <p:spPr>
          <a:xfrm>
            <a:off x="4590138" y="490030"/>
            <a:ext cx="382670" cy="0"/>
          </a:xfrm>
          <a:prstGeom prst="line">
            <a:avLst/>
          </a:prstGeom>
          <a:noFill/>
          <a:ln w="38100" cap="flat" cmpd="sng" algn="ctr">
            <a:solidFill>
              <a:srgbClr val="06C7CC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12712842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81E016-2B99-3326-B70C-19F9C80CF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313D2-D314-56D7-0285-0D4A9E6B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7" name="Pentagon 70">
            <a:extLst>
              <a:ext uri="{FF2B5EF4-FFF2-40B4-BE49-F238E27FC236}">
                <a16:creationId xmlns:a16="http://schemas.microsoft.com/office/drawing/2014/main" id="{02A46FE1-C05D-E39E-74D0-D26B6CCEFE5C}"/>
              </a:ext>
            </a:extLst>
          </p:cNvPr>
          <p:cNvSpPr/>
          <p:nvPr/>
        </p:nvSpPr>
        <p:spPr>
          <a:xfrm>
            <a:off x="1439936" y="5371195"/>
            <a:ext cx="10330917" cy="563447"/>
          </a:xfrm>
          <a:prstGeom prst="homePlate">
            <a:avLst>
              <a:gd name="adj" fmla="val 0"/>
            </a:avLst>
          </a:prstGeom>
          <a:solidFill>
            <a:srgbClr val="92BBE6">
              <a:lumMod val="20000"/>
              <a:lumOff val="80000"/>
            </a:srgbClr>
          </a:solidFill>
          <a:ln w="3175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C5FE76DA-8CDB-C42A-C477-0C5252865D00}"/>
              </a:ext>
            </a:extLst>
          </p:cNvPr>
          <p:cNvSpPr txBox="1">
            <a:spLocks/>
          </p:cNvSpPr>
          <p:nvPr/>
        </p:nvSpPr>
        <p:spPr>
          <a:xfrm>
            <a:off x="106678" y="244815"/>
            <a:ext cx="11871962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Cognizant has designed a solution to cater to The KeyBank’s objectives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highlight>
                <a:srgbClr val="FFFF00"/>
              </a:highlight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6436F5-854B-6308-6142-D4279490FAED}"/>
              </a:ext>
            </a:extLst>
          </p:cNvPr>
          <p:cNvSpPr txBox="1"/>
          <p:nvPr/>
        </p:nvSpPr>
        <p:spPr>
          <a:xfrm>
            <a:off x="125590" y="631122"/>
            <a:ext cx="11881523" cy="461665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/>
          <a:p>
            <a:pPr lvl="0" defTabSz="457189">
              <a:defRPr/>
            </a:pPr>
            <a:r>
              <a:rPr lang="en-US" sz="1200"/>
              <a:t>The KeyBank aims to evolve and finalize their commercial Oracle Java Exit Strategy by 2026. They plan to transition smoothly to an opensource JDK alternative with long-term support (LTS) before their current Oracle JDK contract ends in Dec 2026.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F6CC62A-3D13-F3C9-DAF1-0686CD3A8303}"/>
              </a:ext>
            </a:extLst>
          </p:cNvPr>
          <p:cNvSpPr/>
          <p:nvPr/>
        </p:nvSpPr>
        <p:spPr>
          <a:xfrm>
            <a:off x="0" y="1179417"/>
            <a:ext cx="12192000" cy="1421729"/>
          </a:xfrm>
          <a:prstGeom prst="rect">
            <a:avLst/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CE90C7-25B8-5AC5-78E8-FA880932EE44}"/>
              </a:ext>
            </a:extLst>
          </p:cNvPr>
          <p:cNvSpPr txBox="1"/>
          <p:nvPr/>
        </p:nvSpPr>
        <p:spPr>
          <a:xfrm>
            <a:off x="1093214" y="1431465"/>
            <a:ext cx="1470007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14000"/>
              </a:lnSpc>
              <a:defRPr sz="1600">
                <a:latin typeface="Century Gothic" panose="020B0502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1pPr>
          </a:lstStyle>
          <a:p>
            <a:pPr algn="l" defTabSz="914309">
              <a:lnSpc>
                <a:spcPct val="10000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Arial" panose="020B0604020202020204"/>
                <a:cs typeface="Calibri" panose="020F0502020204030204" pitchFamily="34" charset="0"/>
              </a:rPr>
              <a:t>Demonstrated Capabilities to deliver with high quality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FBB670A2-E729-AB09-5F8F-F99C671D108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2E308E">
                <a:shade val="45000"/>
                <a:satMod val="135000"/>
              </a:srgbClr>
              <a:prstClr val="white"/>
            </a:duotone>
            <a:lum bright="100000"/>
          </a:blip>
          <a:stretch>
            <a:fillRect/>
          </a:stretch>
        </p:blipFill>
        <p:spPr>
          <a:xfrm>
            <a:off x="2754086" y="1696709"/>
            <a:ext cx="531561" cy="5400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E59BC12-B605-A8B3-999A-BA1EB690E024}"/>
              </a:ext>
            </a:extLst>
          </p:cNvPr>
          <p:cNvSpPr txBox="1"/>
          <p:nvPr/>
        </p:nvSpPr>
        <p:spPr>
          <a:xfrm>
            <a:off x="7517451" y="1350018"/>
            <a:ext cx="1789266" cy="10156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14000"/>
              </a:lnSpc>
              <a:defRPr sz="1600">
                <a:latin typeface="Century Gothic" panose="020B0502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1pPr>
          </a:lstStyle>
          <a:p>
            <a:pPr algn="l" defTabSz="914309">
              <a:lnSpc>
                <a:spcPct val="10000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Arial" panose="020B0604020202020204"/>
                <a:cs typeface="Calibri" panose="020F0502020204030204" pitchFamily="34" charset="0"/>
              </a:rPr>
              <a:t>Deep inventory insights and application landscape knowledge and incumbency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12BF7B-6F07-EE11-EB52-43D18D4F307C}"/>
              </a:ext>
            </a:extLst>
          </p:cNvPr>
          <p:cNvSpPr txBox="1"/>
          <p:nvPr/>
        </p:nvSpPr>
        <p:spPr>
          <a:xfrm>
            <a:off x="10159274" y="1317360"/>
            <a:ext cx="1984605" cy="8309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ctr">
              <a:lnSpc>
                <a:spcPct val="114000"/>
              </a:lnSpc>
              <a:defRPr sz="1600">
                <a:latin typeface="Century Gothic" panose="020B0502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1pPr>
          </a:lstStyle>
          <a:p>
            <a:pPr algn="l" defTabSz="914309">
              <a:lnSpc>
                <a:spcPct val="10000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Arial" panose="020B0604020202020204"/>
                <a:ea typeface="Tahoma"/>
                <a:cs typeface="Calibri"/>
              </a:rPr>
              <a:t>GenAI productivity factored in - 20% via GitHub Co-Pilot/Google’s Gemini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6747015-74F6-9F21-4D0E-245EEF9FA3A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2E308E">
                <a:shade val="45000"/>
                <a:satMod val="135000"/>
              </a:srgbClr>
              <a:prstClr val="white"/>
            </a:duotone>
            <a:lum bright="100000"/>
          </a:blip>
          <a:stretch>
            <a:fillRect/>
          </a:stretch>
        </p:blipFill>
        <p:spPr>
          <a:xfrm>
            <a:off x="9534047" y="1666628"/>
            <a:ext cx="576718" cy="60016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870BB99-7691-E87A-C79C-5958D3B98A0A}"/>
              </a:ext>
            </a:extLst>
          </p:cNvPr>
          <p:cNvSpPr txBox="1"/>
          <p:nvPr/>
        </p:nvSpPr>
        <p:spPr>
          <a:xfrm>
            <a:off x="3379544" y="1409693"/>
            <a:ext cx="1397438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14000"/>
              </a:lnSpc>
              <a:defRPr sz="1600">
                <a:latin typeface="Century Gothic" panose="020B0502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1pPr>
          </a:lstStyle>
          <a:p>
            <a:pPr algn="l" defTabSz="914309">
              <a:lnSpc>
                <a:spcPct val="10000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Arial" panose="020B0604020202020204"/>
                <a:cs typeface="Calibri" panose="020F0502020204030204" pitchFamily="34" charset="0"/>
              </a:rPr>
              <a:t>Aligned to The KeyBank’s Blueprint &amp; Roadmap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DE8A3D9-53FD-C5A0-24D1-C848A0219F4A}"/>
              </a:ext>
            </a:extLst>
          </p:cNvPr>
          <p:cNvCxnSpPr>
            <a:cxnSpLocks/>
          </p:cNvCxnSpPr>
          <p:nvPr/>
        </p:nvCxnSpPr>
        <p:spPr>
          <a:xfrm>
            <a:off x="2610441" y="1592019"/>
            <a:ext cx="0" cy="749381"/>
          </a:xfrm>
          <a:prstGeom prst="line">
            <a:avLst/>
          </a:prstGeom>
          <a:noFill/>
          <a:ln w="12700" cap="flat" cmpd="sng" algn="ctr">
            <a:solidFill>
              <a:srgbClr val="FFFFFF">
                <a:lumMod val="95000"/>
              </a:srgbClr>
            </a:solidFill>
            <a:prstDash val="sysDot"/>
            <a:miter lim="800000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A5A570D-EC82-9C75-F683-98A409AEFD71}"/>
              </a:ext>
            </a:extLst>
          </p:cNvPr>
          <p:cNvCxnSpPr>
            <a:cxnSpLocks/>
          </p:cNvCxnSpPr>
          <p:nvPr/>
        </p:nvCxnSpPr>
        <p:spPr>
          <a:xfrm>
            <a:off x="6681815" y="1592019"/>
            <a:ext cx="0" cy="749381"/>
          </a:xfrm>
          <a:prstGeom prst="line">
            <a:avLst/>
          </a:prstGeom>
          <a:noFill/>
          <a:ln w="12700" cap="flat" cmpd="sng" algn="ctr">
            <a:solidFill>
              <a:srgbClr val="FFFFFF">
                <a:lumMod val="95000"/>
              </a:srgbClr>
            </a:solidFill>
            <a:prstDash val="sysDot"/>
            <a:miter lim="800000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0FB6933-8D48-6B95-8787-24355DA81556}"/>
              </a:ext>
            </a:extLst>
          </p:cNvPr>
          <p:cNvCxnSpPr>
            <a:cxnSpLocks/>
          </p:cNvCxnSpPr>
          <p:nvPr/>
        </p:nvCxnSpPr>
        <p:spPr>
          <a:xfrm>
            <a:off x="9338929" y="1592019"/>
            <a:ext cx="0" cy="749381"/>
          </a:xfrm>
          <a:prstGeom prst="line">
            <a:avLst/>
          </a:prstGeom>
          <a:noFill/>
          <a:ln w="12700" cap="flat" cmpd="sng" algn="ctr">
            <a:solidFill>
              <a:srgbClr val="FFFFFF">
                <a:lumMod val="95000"/>
              </a:srgbClr>
            </a:solidFill>
            <a:prstDash val="sysDot"/>
            <a:miter lim="800000"/>
          </a:ln>
          <a:effectLst/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42D1A0F-B2D0-AB96-91CF-391AC7F8836D}"/>
              </a:ext>
            </a:extLst>
          </p:cNvPr>
          <p:cNvSpPr txBox="1"/>
          <p:nvPr/>
        </p:nvSpPr>
        <p:spPr>
          <a:xfrm>
            <a:off x="457200" y="1193342"/>
            <a:ext cx="2983075" cy="221599"/>
          </a:xfrm>
          <a:prstGeom prst="rect">
            <a:avLst/>
          </a:prstGeom>
          <a:noFill/>
        </p:spPr>
        <p:txBody>
          <a:bodyPr wrap="square" lIns="0" tIns="0" bIns="0" anchor="ctr" anchorCtr="0">
            <a:spAutoFit/>
          </a:bodyPr>
          <a:lstStyle/>
          <a:p>
            <a:pPr defTabSz="914332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600" b="1">
                <a:solidFill>
                  <a:srgbClr val="FFFFFF"/>
                </a:solidFill>
                <a:cs typeface="Calibri" panose="020F0502020204030204" pitchFamily="34" charset="0"/>
              </a:rPr>
              <a:t>Cognizant Proposition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6CBC78B-6E69-0617-E802-3043CE68E924}"/>
              </a:ext>
            </a:extLst>
          </p:cNvPr>
          <p:cNvCxnSpPr>
            <a:cxnSpLocks/>
          </p:cNvCxnSpPr>
          <p:nvPr/>
        </p:nvCxnSpPr>
        <p:spPr>
          <a:xfrm>
            <a:off x="4626428" y="1592019"/>
            <a:ext cx="0" cy="749381"/>
          </a:xfrm>
          <a:prstGeom prst="line">
            <a:avLst/>
          </a:prstGeom>
          <a:noFill/>
          <a:ln w="12700" cap="flat" cmpd="sng" algn="ctr">
            <a:solidFill>
              <a:srgbClr val="FFFFFF">
                <a:lumMod val="95000"/>
              </a:srgbClr>
            </a:solidFill>
            <a:prstDash val="sysDot"/>
            <a:miter lim="800000"/>
          </a:ln>
          <a:effectLst/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3AD7FA7-426B-B13B-3E77-69A9FBA8D0CA}"/>
              </a:ext>
            </a:extLst>
          </p:cNvPr>
          <p:cNvSpPr txBox="1"/>
          <p:nvPr/>
        </p:nvSpPr>
        <p:spPr>
          <a:xfrm>
            <a:off x="5402855" y="1420579"/>
            <a:ext cx="1506425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14000"/>
              </a:lnSpc>
              <a:defRPr sz="1600">
                <a:latin typeface="Century Gothic" panose="020B0502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1pPr>
          </a:lstStyle>
          <a:p>
            <a:pPr algn="l" defTabSz="914309">
              <a:lnSpc>
                <a:spcPct val="10000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Arial" panose="020B0604020202020204"/>
                <a:cs typeface="Calibri" panose="020F0502020204030204" pitchFamily="34" charset="0"/>
              </a:rPr>
              <a:t>Robust Governance &amp; Leadership Commitment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6D3E23-29F6-0DCE-5036-20A3F31B6B5E}"/>
              </a:ext>
            </a:extLst>
          </p:cNvPr>
          <p:cNvSpPr txBox="1"/>
          <p:nvPr/>
        </p:nvSpPr>
        <p:spPr>
          <a:xfrm>
            <a:off x="258861" y="2735822"/>
            <a:ext cx="4615890" cy="3139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defTabSz="914332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600" b="1">
                <a:solidFill>
                  <a:srgbClr val="2E308E"/>
                </a:solidFill>
                <a:cs typeface="Calibri" panose="020F0502020204030204" pitchFamily="34" charset="0"/>
              </a:rPr>
              <a:t>Our Solution Approach Highlights</a:t>
            </a:r>
          </a:p>
        </p:txBody>
      </p:sp>
      <p:sp>
        <p:nvSpPr>
          <p:cNvPr id="56" name="Rectangle: Rounded Corners 87">
            <a:extLst>
              <a:ext uri="{FF2B5EF4-FFF2-40B4-BE49-F238E27FC236}">
                <a16:creationId xmlns:a16="http://schemas.microsoft.com/office/drawing/2014/main" id="{2504D6F7-45DC-2226-F281-452E36B16216}"/>
              </a:ext>
            </a:extLst>
          </p:cNvPr>
          <p:cNvSpPr/>
          <p:nvPr/>
        </p:nvSpPr>
        <p:spPr>
          <a:xfrm>
            <a:off x="7472662" y="5454918"/>
            <a:ext cx="1481847" cy="396000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45718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00" b="1" i="0" u="none" strike="noStrike" kern="0" cap="none" spc="0" normalizeH="0" baseline="0" noProof="0" dirty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</a:rPr>
              <a:t>Technical debt reduction</a:t>
            </a:r>
          </a:p>
        </p:txBody>
      </p:sp>
      <p:sp>
        <p:nvSpPr>
          <p:cNvPr id="57" name="Rectangle: Rounded Corners 89">
            <a:extLst>
              <a:ext uri="{FF2B5EF4-FFF2-40B4-BE49-F238E27FC236}">
                <a16:creationId xmlns:a16="http://schemas.microsoft.com/office/drawing/2014/main" id="{A430B341-6A17-7836-0206-81D32EBD6415}"/>
              </a:ext>
            </a:extLst>
          </p:cNvPr>
          <p:cNvSpPr/>
          <p:nvPr/>
        </p:nvSpPr>
        <p:spPr>
          <a:xfrm>
            <a:off x="1798883" y="5454918"/>
            <a:ext cx="1347650" cy="396000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45718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</a:rPr>
              <a:t>TCO reduction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</a:rPr>
              <a:t> (Oracle Java license)</a:t>
            </a: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58" name="Rectangle: Rounded Corners 87">
            <a:extLst>
              <a:ext uri="{FF2B5EF4-FFF2-40B4-BE49-F238E27FC236}">
                <a16:creationId xmlns:a16="http://schemas.microsoft.com/office/drawing/2014/main" id="{A8E1F4E6-BAE0-CF49-2C7D-39F62B737AC7}"/>
              </a:ext>
            </a:extLst>
          </p:cNvPr>
          <p:cNvSpPr/>
          <p:nvPr/>
        </p:nvSpPr>
        <p:spPr>
          <a:xfrm>
            <a:off x="4078263" y="5443101"/>
            <a:ext cx="1754812" cy="396000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171450" marR="0" lvl="0" indent="-171450" defTabSz="45718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</a:rPr>
              <a:t>Eliminate security risks through InfoSec compliance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99D66-BE16-5871-3CA1-2CE636E937FE}"/>
              </a:ext>
            </a:extLst>
          </p:cNvPr>
          <p:cNvSpPr txBox="1"/>
          <p:nvPr/>
        </p:nvSpPr>
        <p:spPr>
          <a:xfrm>
            <a:off x="9176657" y="572065"/>
            <a:ext cx="2889753" cy="7195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highlight>
                <a:srgbClr val="FF0000"/>
              </a:highlight>
              <a:uLnTx/>
              <a:uFillTx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E1C50BB-8884-6DA6-5609-002A6377FD52}"/>
              </a:ext>
            </a:extLst>
          </p:cNvPr>
          <p:cNvSpPr/>
          <p:nvPr/>
        </p:nvSpPr>
        <p:spPr>
          <a:xfrm>
            <a:off x="266700" y="3112573"/>
            <a:ext cx="11507668" cy="396000"/>
          </a:xfrm>
          <a:prstGeom prst="rect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4F00B87-A45F-754E-18FD-3AFD2A905A3C}"/>
              </a:ext>
            </a:extLst>
          </p:cNvPr>
          <p:cNvSpPr/>
          <p:nvPr/>
        </p:nvSpPr>
        <p:spPr>
          <a:xfrm>
            <a:off x="266700" y="3553897"/>
            <a:ext cx="11514507" cy="396000"/>
          </a:xfrm>
          <a:prstGeom prst="rect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BA4023B-CC2E-37A6-9144-496DEEEE94BB}"/>
              </a:ext>
            </a:extLst>
          </p:cNvPr>
          <p:cNvSpPr/>
          <p:nvPr/>
        </p:nvSpPr>
        <p:spPr>
          <a:xfrm>
            <a:off x="266700" y="4007579"/>
            <a:ext cx="11505806" cy="396000"/>
          </a:xfrm>
          <a:prstGeom prst="rect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6417B0B-43EF-4EC1-6D82-3BDD2F57CA59}"/>
              </a:ext>
            </a:extLst>
          </p:cNvPr>
          <p:cNvSpPr/>
          <p:nvPr/>
        </p:nvSpPr>
        <p:spPr>
          <a:xfrm>
            <a:off x="266700" y="4453557"/>
            <a:ext cx="11514507" cy="396000"/>
          </a:xfrm>
          <a:prstGeom prst="rect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7EE1113-0164-9A6C-6208-2675DD17F873}"/>
              </a:ext>
            </a:extLst>
          </p:cNvPr>
          <p:cNvSpPr/>
          <p:nvPr/>
        </p:nvSpPr>
        <p:spPr>
          <a:xfrm>
            <a:off x="266700" y="4912376"/>
            <a:ext cx="11504153" cy="396000"/>
          </a:xfrm>
          <a:prstGeom prst="rect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624EBF4-85E3-1662-CAE4-B500B8608401}"/>
              </a:ext>
            </a:extLst>
          </p:cNvPr>
          <p:cNvSpPr/>
          <p:nvPr/>
        </p:nvSpPr>
        <p:spPr>
          <a:xfrm>
            <a:off x="858430" y="4503238"/>
            <a:ext cx="6614232" cy="28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0" rtlCol="0" anchor="ctr" anchorCtr="0">
            <a:noAutofit/>
          </a:bodyPr>
          <a:lstStyle/>
          <a:p>
            <a:pPr marL="0" marR="0" lvl="0" indent="0" defTabSz="9142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Team Readiness– 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Day 1 team is ready to kick start the program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2BE5EB-737B-FBB5-8597-AA67E493C0EF}"/>
              </a:ext>
            </a:extLst>
          </p:cNvPr>
          <p:cNvSpPr txBox="1"/>
          <p:nvPr/>
        </p:nvSpPr>
        <p:spPr>
          <a:xfrm>
            <a:off x="858430" y="3555644"/>
            <a:ext cx="6967330" cy="400110"/>
          </a:xfrm>
          <a:prstGeom prst="rect">
            <a:avLst/>
          </a:prstGeom>
          <a:noFill/>
          <a:ln>
            <a:noFill/>
          </a:ln>
        </p:spPr>
        <p:txBody>
          <a:bodyPr wrap="square" lIns="0" rtlCol="0" anchor="ctr" anchorCtr="0">
            <a:spAutoFit/>
          </a:bodyPr>
          <a:lstStyle/>
          <a:p>
            <a:pPr marL="0" marR="0" lvl="0" indent="0" defTabSz="9142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</a:rPr>
              <a:t>Robust Governance – 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</a:rPr>
              <a:t>Create a robust governance with a regular cadence of program reviews. Deliver within agreed timeline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36F7820-00D7-3723-C472-C73EEC2574EC}"/>
              </a:ext>
            </a:extLst>
          </p:cNvPr>
          <p:cNvSpPr txBox="1"/>
          <p:nvPr/>
        </p:nvSpPr>
        <p:spPr>
          <a:xfrm>
            <a:off x="858430" y="4013657"/>
            <a:ext cx="6967330" cy="400110"/>
          </a:xfrm>
          <a:prstGeom prst="rect">
            <a:avLst/>
          </a:prstGeom>
          <a:noFill/>
          <a:ln>
            <a:noFill/>
          </a:ln>
        </p:spPr>
        <p:txBody>
          <a:bodyPr wrap="square" lIns="0" rtlCol="0" anchor="ctr" anchorCtr="0">
            <a:spAutoFit/>
          </a:bodyPr>
          <a:lstStyle/>
          <a:p>
            <a:pPr marL="0" marR="0" lvl="0" indent="0" defTabSz="9142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</a:rPr>
              <a:t>Program Delivery Team 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</a:rPr>
              <a:t>– 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cs typeface="Calibri"/>
              </a:rPr>
              <a:t>Build a team with the best mix of skills, experience and leadership to exceed LOB’s expectations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50B8326-E94C-C909-3E4B-B3858BA32783}"/>
              </a:ext>
            </a:extLst>
          </p:cNvPr>
          <p:cNvSpPr txBox="1"/>
          <p:nvPr/>
        </p:nvSpPr>
        <p:spPr>
          <a:xfrm>
            <a:off x="858430" y="3132018"/>
            <a:ext cx="6817081" cy="400110"/>
          </a:xfrm>
          <a:prstGeom prst="rect">
            <a:avLst/>
          </a:prstGeom>
          <a:noFill/>
          <a:ln>
            <a:noFill/>
          </a:ln>
        </p:spPr>
        <p:txBody>
          <a:bodyPr wrap="square" lIns="0" rtlCol="0" anchor="ctr" anchorCtr="0">
            <a:spAutoFit/>
          </a:bodyPr>
          <a:lstStyle/>
          <a:p>
            <a:pPr marL="0" marR="0" lvl="0" indent="0" defTabSz="9142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</a:rPr>
              <a:t>4 Step Approach –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</a:rPr>
              <a:t>Requirements Assessment, Design &amp; Implementation, Testing &amp; Validation and Deployment &amp; Monitoring with multiple waves of go-live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3DCF90C-39D8-EE8B-E105-7C21CB860281}"/>
              </a:ext>
            </a:extLst>
          </p:cNvPr>
          <p:cNvSpPr/>
          <p:nvPr/>
        </p:nvSpPr>
        <p:spPr>
          <a:xfrm>
            <a:off x="858430" y="4968803"/>
            <a:ext cx="6614232" cy="28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0" rtlCol="0" anchor="ctr" anchorCtr="0">
            <a:noAutofit/>
          </a:bodyPr>
          <a:lstStyle/>
          <a:p>
            <a:pPr marL="0" marR="0" lvl="0" indent="0" defTabSz="9142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Tools &amp; Automation  – 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applications </a:t>
            </a:r>
            <a:r>
              <a:rPr lang="en-US" sz="1000" kern="0">
                <a:solidFill>
                  <a:srgbClr val="D0D0CE">
                    <a:lumMod val="25000"/>
                  </a:srgbClr>
                </a:solidFill>
                <a:latin typeface="Arial" panose="020B0604020202020204"/>
              </a:rPr>
              <a:t>remediation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and testing 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B5E91FA5-4398-EF34-7C8E-52E39A047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32" y="3149679"/>
            <a:ext cx="316464" cy="313932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EABD47D4-91AE-BA33-39B3-F0C047BF6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793" y="3595297"/>
            <a:ext cx="323303" cy="31320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EE79505E-EB5B-4115-77CA-39159D5AC0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494" y="4048979"/>
            <a:ext cx="313200" cy="31320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77897711-6712-1570-ADAE-58A99B9814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793" y="4494957"/>
            <a:ext cx="313200" cy="3132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204353B6-7E61-B8E7-5188-08B8CF5F86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147" y="4953776"/>
            <a:ext cx="302846" cy="313200"/>
          </a:xfrm>
          <a:prstGeom prst="rect">
            <a:avLst/>
          </a:prstGeom>
        </p:spPr>
      </p:pic>
      <p:sp>
        <p:nvSpPr>
          <p:cNvPr id="76" name="Pentagon 69">
            <a:extLst>
              <a:ext uri="{FF2B5EF4-FFF2-40B4-BE49-F238E27FC236}">
                <a16:creationId xmlns:a16="http://schemas.microsoft.com/office/drawing/2014/main" id="{602A4A05-2BFA-06F4-833E-4F2D9329CA14}"/>
              </a:ext>
            </a:extLst>
          </p:cNvPr>
          <p:cNvSpPr/>
          <p:nvPr/>
        </p:nvSpPr>
        <p:spPr>
          <a:xfrm>
            <a:off x="258862" y="5371195"/>
            <a:ext cx="1479599" cy="563447"/>
          </a:xfrm>
          <a:prstGeom prst="homePlate">
            <a:avLst/>
          </a:prstGeom>
          <a:solidFill>
            <a:srgbClr val="000048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Outcomes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7C915E2-B4A4-30F1-ED48-6B1D22AA188E}"/>
              </a:ext>
            </a:extLst>
          </p:cNvPr>
          <p:cNvSpPr/>
          <p:nvPr/>
        </p:nvSpPr>
        <p:spPr>
          <a:xfrm>
            <a:off x="0" y="2512620"/>
            <a:ext cx="12192000" cy="108000"/>
          </a:xfrm>
          <a:prstGeom prst="rect">
            <a:avLst/>
          </a:prstGeom>
          <a:solidFill>
            <a:srgbClr val="75003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1A502E85-3691-EDCD-016E-A2CAD2BF0AE3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100000"/>
          </a:blip>
          <a:stretch>
            <a:fillRect/>
          </a:stretch>
        </p:blipFill>
        <p:spPr>
          <a:xfrm>
            <a:off x="457200" y="1720525"/>
            <a:ext cx="492369" cy="492369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348F8CCA-297E-2414-53F5-80031CCE6571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100000"/>
          </a:blip>
          <a:stretch>
            <a:fillRect/>
          </a:stretch>
        </p:blipFill>
        <p:spPr>
          <a:xfrm>
            <a:off x="4772398" y="1720109"/>
            <a:ext cx="501929" cy="49320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293D3954-2D7B-F19A-3BD1-D8BD6A227078}"/>
              </a:ext>
            </a:extLst>
          </p:cNvPr>
          <p:cNvPicPr>
            <a:picLocks noChangeAspect="1"/>
          </p:cNvPicPr>
          <p:nvPr/>
        </p:nvPicPr>
        <p:blipFill>
          <a:blip r:embed="rId11">
            <a:lum bright="100000"/>
          </a:blip>
          <a:stretch>
            <a:fillRect/>
          </a:stretch>
        </p:blipFill>
        <p:spPr>
          <a:xfrm>
            <a:off x="6870578" y="1714710"/>
            <a:ext cx="448874" cy="503999"/>
          </a:xfrm>
          <a:prstGeom prst="rect">
            <a:avLst/>
          </a:prstGeom>
        </p:spPr>
      </p:pic>
      <p:sp>
        <p:nvSpPr>
          <p:cNvPr id="81" name="Rectangle: Rounded Corners 87">
            <a:extLst>
              <a:ext uri="{FF2B5EF4-FFF2-40B4-BE49-F238E27FC236}">
                <a16:creationId xmlns:a16="http://schemas.microsoft.com/office/drawing/2014/main" id="{5E92208F-A63A-5ABC-F41E-D63E0DD3B1C6}"/>
              </a:ext>
            </a:extLst>
          </p:cNvPr>
          <p:cNvSpPr/>
          <p:nvPr/>
        </p:nvSpPr>
        <p:spPr>
          <a:xfrm>
            <a:off x="9652193" y="5454918"/>
            <a:ext cx="1481847" cy="396000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45718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</a:rPr>
              <a:t>Foundation for cloud Readiness</a:t>
            </a:r>
            <a:endParaRPr kumimoji="0" lang="en-GB" sz="800" b="1" i="0" u="none" strike="noStrike" kern="0" cap="none" spc="0" normalizeH="0" baseline="0" noProof="0" dirty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481501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84EDF-9F57-454E-CC06-884E0D1BD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C725F0-0782-33DE-C684-131AD18A5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63196-ED0D-3533-CF7C-5EB239354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C5E25B-6E49-5A8F-5433-447EE629FBF5}"/>
              </a:ext>
            </a:extLst>
          </p:cNvPr>
          <p:cNvSpPr txBox="1">
            <a:spLocks/>
          </p:cNvSpPr>
          <p:nvPr/>
        </p:nvSpPr>
        <p:spPr>
          <a:xfrm>
            <a:off x="106678" y="244815"/>
            <a:ext cx="11871962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Milestone based delivery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highlight>
                <a:srgbClr val="FFFF00"/>
              </a:highlight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15617A0-D923-1494-4887-DEAFB34B0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724714"/>
              </p:ext>
            </p:extLst>
          </p:nvPr>
        </p:nvGraphicFramePr>
        <p:xfrm>
          <a:off x="457199" y="820941"/>
          <a:ext cx="11253021" cy="2095500"/>
        </p:xfrm>
        <a:graphic>
          <a:graphicData uri="http://schemas.openxmlformats.org/drawingml/2006/table">
            <a:tbl>
              <a:tblPr/>
              <a:tblGrid>
                <a:gridCol w="1893119">
                  <a:extLst>
                    <a:ext uri="{9D8B030D-6E8A-4147-A177-3AD203B41FA5}">
                      <a16:colId xmlns:a16="http://schemas.microsoft.com/office/drawing/2014/main" val="3317737655"/>
                    </a:ext>
                  </a:extLst>
                </a:gridCol>
                <a:gridCol w="2310172">
                  <a:extLst>
                    <a:ext uri="{9D8B030D-6E8A-4147-A177-3AD203B41FA5}">
                      <a16:colId xmlns:a16="http://schemas.microsoft.com/office/drawing/2014/main" val="144747767"/>
                    </a:ext>
                  </a:extLst>
                </a:gridCol>
                <a:gridCol w="5329084">
                  <a:extLst>
                    <a:ext uri="{9D8B030D-6E8A-4147-A177-3AD203B41FA5}">
                      <a16:colId xmlns:a16="http://schemas.microsoft.com/office/drawing/2014/main" val="2841553919"/>
                    </a:ext>
                  </a:extLst>
                </a:gridCol>
                <a:gridCol w="1720646">
                  <a:extLst>
                    <a:ext uri="{9D8B030D-6E8A-4147-A177-3AD203B41FA5}">
                      <a16:colId xmlns:a16="http://schemas.microsoft.com/office/drawing/2014/main" val="142395042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Milestone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Milestone 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Target Window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07087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Milestone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Discovery &amp; Assessment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Analyze WAS apps, dependencies, configs, Tomcat compatibility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 1–2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6382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Milestone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Source Migration&amp; start development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Move Bitbucket repos → GitLab, rebuild pipelines, local development in tomcat workspace, change dependencies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 2–4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7617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Milestone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Containerization &amp; configuration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Create Tomcat images,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Dockerfiles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config updates, firewalls, access set ups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 4–8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8073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Milestone 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 Deployment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Deploy to DEV containers, verify integrations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 4–8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9851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Milestone 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Documentation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Prepare runbooks, configs, deployment artifacts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 4-8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8709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Milestone 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QAS Testing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Functional, regression, performance testing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 6–12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2817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Milestone 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Production Cutover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Deploy to PROD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 12–14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725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6095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F263A52-48A0-A632-4373-5ED6A9E00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7" y="2542471"/>
            <a:ext cx="8168643" cy="498599"/>
          </a:xfrm>
        </p:spPr>
        <p:txBody>
          <a:bodyPr/>
          <a:lstStyle/>
          <a:p>
            <a:r>
              <a:rPr lang="en-US"/>
              <a:t>Solution Deep Dive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1D73C-DB85-BD42-FE1A-C96D3800F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799"/>
            <a:ext cx="365760" cy="228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BCFCF6-9929-12F4-8ACA-7F3F3AB24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400800"/>
            <a:ext cx="1371600" cy="228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</p:spTree>
    <p:extLst>
      <p:ext uri="{BB962C8B-B14F-4D97-AF65-F5344CB8AC3E}">
        <p14:creationId xmlns:p14="http://schemas.microsoft.com/office/powerpoint/2010/main" val="785010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8AD8A-6672-8C4E-45FE-368BF269E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0">
            <a:extLst>
              <a:ext uri="{FF2B5EF4-FFF2-40B4-BE49-F238E27FC236}">
                <a16:creationId xmlns:a16="http://schemas.microsoft.com/office/drawing/2014/main" id="{EC7656AF-D029-384F-DC74-EB67F8E39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52168"/>
            <a:ext cx="11387328" cy="307777"/>
          </a:xfrm>
        </p:spPr>
        <p:txBody>
          <a:bodyPr/>
          <a:lstStyle/>
          <a:p>
            <a:r>
              <a:rPr lang="en-US"/>
              <a:t>Solution Approach – Oracle Java 8 to OpenJDK17 version Upgrade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98D0B5-409E-DB4B-E54C-7AB0AD406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288865"/>
            <a:ext cx="365760" cy="228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1EFB40FC-1A18-F9E0-ADE4-53AA3A7A92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288866"/>
            <a:ext cx="1371600" cy="228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48AD620-9FD1-6D4D-B232-B205915BB2B4}"/>
              </a:ext>
            </a:extLst>
          </p:cNvPr>
          <p:cNvSpPr txBox="1">
            <a:spLocks/>
          </p:cNvSpPr>
          <p:nvPr/>
        </p:nvSpPr>
        <p:spPr bwMode="auto">
          <a:xfrm>
            <a:off x="1102036" y="5368749"/>
            <a:ext cx="476976" cy="401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Arial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Arial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Arial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Arial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6DB23F"/>
              </a:solidFill>
              <a:effectLst/>
              <a:uLnTx/>
              <a:uFillTx/>
              <a:latin typeface="Arial" panose="020B0604020202020204"/>
              <a:ea typeface="ＭＳ Ｐゴシック" pitchFamily="34" charset="-128"/>
              <a:cs typeface="Calibri" panose="020F0502020204030204" pitchFamily="34" charset="0"/>
            </a:endParaRPr>
          </a:p>
        </p:txBody>
      </p:sp>
      <p:sp>
        <p:nvSpPr>
          <p:cNvPr id="8" name="Pentagon 86">
            <a:extLst>
              <a:ext uri="{FF2B5EF4-FFF2-40B4-BE49-F238E27FC236}">
                <a16:creationId xmlns:a16="http://schemas.microsoft.com/office/drawing/2014/main" id="{01FA88CB-BC9E-F417-EDBF-6ED3317D1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633" y="1018846"/>
            <a:ext cx="1800000" cy="302487"/>
          </a:xfrm>
          <a:prstGeom prst="homePlate">
            <a:avLst>
              <a:gd name="adj" fmla="val 50128"/>
            </a:avLst>
          </a:prstGeom>
          <a:solidFill>
            <a:schemeClr val="accent5"/>
          </a:solidFill>
          <a:ln>
            <a:noFill/>
          </a:ln>
        </p:spPr>
        <p:txBody>
          <a:bodyPr lIns="91440" tIns="45720" rIns="91440" bIns="4572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 Req. Assessment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9" name="Pentagon 86">
            <a:extLst>
              <a:ext uri="{FF2B5EF4-FFF2-40B4-BE49-F238E27FC236}">
                <a16:creationId xmlns:a16="http://schemas.microsoft.com/office/drawing/2014/main" id="{7853CD6A-B478-5E6C-4540-69F922D30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507" y="1018846"/>
            <a:ext cx="1980000" cy="302487"/>
          </a:xfrm>
          <a:prstGeom prst="homePlate">
            <a:avLst>
              <a:gd name="adj" fmla="val 50128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Design &amp; Implementation</a:t>
            </a:r>
          </a:p>
        </p:txBody>
      </p:sp>
      <p:sp>
        <p:nvSpPr>
          <p:cNvPr id="10" name="Pentagon 86">
            <a:extLst>
              <a:ext uri="{FF2B5EF4-FFF2-40B4-BE49-F238E27FC236}">
                <a16:creationId xmlns:a16="http://schemas.microsoft.com/office/drawing/2014/main" id="{5E03D8BF-F649-FF5E-D9DE-5C7669F12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381" y="1018846"/>
            <a:ext cx="1800000" cy="302487"/>
          </a:xfrm>
          <a:prstGeom prst="homePlate">
            <a:avLst>
              <a:gd name="adj" fmla="val 50128"/>
            </a:avLst>
          </a:prstGeom>
          <a:solidFill>
            <a:schemeClr val="accent3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Testing &amp; Validation</a:t>
            </a:r>
          </a:p>
        </p:txBody>
      </p:sp>
      <p:sp>
        <p:nvSpPr>
          <p:cNvPr id="11" name="Pentagon 86">
            <a:extLst>
              <a:ext uri="{FF2B5EF4-FFF2-40B4-BE49-F238E27FC236}">
                <a16:creationId xmlns:a16="http://schemas.microsoft.com/office/drawing/2014/main" id="{7AC8D1AC-E9D0-7EF4-06B2-1D81E624A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7255" y="1018846"/>
            <a:ext cx="1980000" cy="302487"/>
          </a:xfrm>
          <a:prstGeom prst="homePlate">
            <a:avLst>
              <a:gd name="adj" fmla="val 5012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Deployment &amp; Validation</a:t>
            </a:r>
          </a:p>
        </p:txBody>
      </p:sp>
      <p:sp>
        <p:nvSpPr>
          <p:cNvPr id="12" name="Pentagon 86">
            <a:extLst>
              <a:ext uri="{FF2B5EF4-FFF2-40B4-BE49-F238E27FC236}">
                <a16:creationId xmlns:a16="http://schemas.microsoft.com/office/drawing/2014/main" id="{F48A8D1F-322B-6706-756D-F0D2655E9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2781" y="1018846"/>
            <a:ext cx="1800000" cy="306325"/>
          </a:xfrm>
          <a:prstGeom prst="homePlate">
            <a:avLst>
              <a:gd name="adj" fmla="val 50128"/>
            </a:avLst>
          </a:prstGeom>
          <a:solidFill>
            <a:schemeClr val="accent6">
              <a:lumMod val="25000"/>
            </a:schemeClr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Handover &amp; Warranty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4A60BD-510F-D79F-B581-BE21FAD664E7}"/>
              </a:ext>
            </a:extLst>
          </p:cNvPr>
          <p:cNvSpPr/>
          <p:nvPr/>
        </p:nvSpPr>
        <p:spPr bwMode="auto">
          <a:xfrm>
            <a:off x="457199" y="683781"/>
            <a:ext cx="11155578" cy="250440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ＭＳ Ｐゴシック" pitchFamily="-12" charset="-128"/>
                <a:cs typeface="Calibri" panose="020F0502020204030204" pitchFamily="34" charset="0"/>
              </a:rPr>
              <a:t>Approach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0E5C959-33ED-9FC1-1D7A-D5AE56C8EF49}"/>
              </a:ext>
            </a:extLst>
          </p:cNvPr>
          <p:cNvGrpSpPr/>
          <p:nvPr/>
        </p:nvGrpSpPr>
        <p:grpSpPr>
          <a:xfrm>
            <a:off x="2937331" y="1042547"/>
            <a:ext cx="6758394" cy="4554246"/>
            <a:chOff x="2937331" y="1042547"/>
            <a:chExt cx="6758394" cy="5151386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FEA08D-89F3-6792-B1C5-1B1D90A553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7331" y="1045861"/>
              <a:ext cx="2" cy="5148072"/>
            </a:xfrm>
            <a:prstGeom prst="line">
              <a:avLst/>
            </a:prstGeom>
            <a:noFill/>
            <a:ln w="12700" cap="flat" cmpd="sng" algn="ctr">
              <a:solidFill>
                <a:schemeClr val="bg1">
                  <a:lumMod val="50000"/>
                </a:schemeClr>
              </a:solidFill>
              <a:prstDash val="sysDot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7E07491-E4E9-C352-8150-31C54A82178C}"/>
                </a:ext>
              </a:extLst>
            </p:cNvPr>
            <p:cNvCxnSpPr/>
            <p:nvPr/>
          </p:nvCxnSpPr>
          <p:spPr>
            <a:xfrm>
              <a:off x="5206780" y="1042547"/>
              <a:ext cx="1" cy="5148072"/>
            </a:xfrm>
            <a:prstGeom prst="line">
              <a:avLst/>
            </a:prstGeom>
            <a:noFill/>
            <a:ln w="12700" cap="flat" cmpd="sng" algn="ctr">
              <a:solidFill>
                <a:schemeClr val="bg1">
                  <a:lumMod val="50000"/>
                </a:schemeClr>
              </a:solidFill>
              <a:prstDash val="sysDot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6932172-DA98-A24F-FDF9-02C0232F5037}"/>
                </a:ext>
              </a:extLst>
            </p:cNvPr>
            <p:cNvCxnSpPr/>
            <p:nvPr/>
          </p:nvCxnSpPr>
          <p:spPr>
            <a:xfrm>
              <a:off x="7454431" y="1042547"/>
              <a:ext cx="0" cy="5148072"/>
            </a:xfrm>
            <a:prstGeom prst="line">
              <a:avLst/>
            </a:prstGeom>
            <a:noFill/>
            <a:ln w="12700" cap="flat" cmpd="sng" algn="ctr">
              <a:solidFill>
                <a:schemeClr val="bg1">
                  <a:lumMod val="50000"/>
                </a:schemeClr>
              </a:solidFill>
              <a:prstDash val="sysDot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4E27FFC-6788-7707-7A93-F3146992CC81}"/>
                </a:ext>
              </a:extLst>
            </p:cNvPr>
            <p:cNvCxnSpPr>
              <a:cxnSpLocks/>
            </p:cNvCxnSpPr>
            <p:nvPr/>
          </p:nvCxnSpPr>
          <p:spPr>
            <a:xfrm>
              <a:off x="9695725" y="1042547"/>
              <a:ext cx="0" cy="5150234"/>
            </a:xfrm>
            <a:prstGeom prst="line">
              <a:avLst/>
            </a:prstGeom>
            <a:noFill/>
            <a:ln w="12700" cap="flat" cmpd="sng" algn="ctr">
              <a:solidFill>
                <a:schemeClr val="bg1">
                  <a:lumMod val="50000"/>
                </a:schemeClr>
              </a:solidFill>
              <a:prstDash val="sysDot"/>
            </a:ln>
            <a:effectLst/>
          </p:spPr>
        </p:cxn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F614A9-A096-B820-2BF2-71A3C6867C11}"/>
              </a:ext>
            </a:extLst>
          </p:cNvPr>
          <p:cNvCxnSpPr>
            <a:cxnSpLocks/>
          </p:cNvCxnSpPr>
          <p:nvPr/>
        </p:nvCxnSpPr>
        <p:spPr>
          <a:xfrm flipH="1">
            <a:off x="889238" y="2578237"/>
            <a:ext cx="10803511" cy="0"/>
          </a:xfrm>
          <a:prstGeom prst="line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ot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C7AD9F-A9CD-874F-1899-52DDA1763AB5}"/>
              </a:ext>
            </a:extLst>
          </p:cNvPr>
          <p:cNvCxnSpPr>
            <a:cxnSpLocks/>
          </p:cNvCxnSpPr>
          <p:nvPr/>
        </p:nvCxnSpPr>
        <p:spPr>
          <a:xfrm flipH="1">
            <a:off x="889237" y="4326599"/>
            <a:ext cx="10800000" cy="0"/>
          </a:xfrm>
          <a:prstGeom prst="line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ot"/>
          </a:ln>
          <a:effectLst/>
        </p:spPr>
      </p:cxnSp>
      <p:sp>
        <p:nvSpPr>
          <p:cNvPr id="20" name="Rounded Rectangle 92">
            <a:extLst>
              <a:ext uri="{FF2B5EF4-FFF2-40B4-BE49-F238E27FC236}">
                <a16:creationId xmlns:a16="http://schemas.microsoft.com/office/drawing/2014/main" id="{2D2DD87F-D64D-954E-BD39-479732676A8E}"/>
              </a:ext>
            </a:extLst>
          </p:cNvPr>
          <p:cNvSpPr/>
          <p:nvPr/>
        </p:nvSpPr>
        <p:spPr bwMode="auto">
          <a:xfrm>
            <a:off x="457200" y="1311808"/>
            <a:ext cx="223413" cy="1200600"/>
          </a:xfrm>
          <a:prstGeom prst="rect">
            <a:avLst/>
          </a:prstGeom>
          <a:solidFill>
            <a:srgbClr val="75003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ＭＳ Ｐゴシック" pitchFamily="-12" charset="-128"/>
                <a:cs typeface="Calibri" panose="020F0502020204030204" pitchFamily="34" charset="0"/>
              </a:rPr>
              <a:t>Input</a:t>
            </a:r>
          </a:p>
        </p:txBody>
      </p:sp>
      <p:sp>
        <p:nvSpPr>
          <p:cNvPr id="21" name="Rounded Rectangle 93">
            <a:extLst>
              <a:ext uri="{FF2B5EF4-FFF2-40B4-BE49-F238E27FC236}">
                <a16:creationId xmlns:a16="http://schemas.microsoft.com/office/drawing/2014/main" id="{F2B2C876-5D2A-A5C4-1FB6-65CE094772E8}"/>
              </a:ext>
            </a:extLst>
          </p:cNvPr>
          <p:cNvSpPr/>
          <p:nvPr/>
        </p:nvSpPr>
        <p:spPr bwMode="auto">
          <a:xfrm>
            <a:off x="457200" y="2607269"/>
            <a:ext cx="223413" cy="1725304"/>
          </a:xfrm>
          <a:prstGeom prst="rect">
            <a:avLst/>
          </a:prstGeom>
          <a:solidFill>
            <a:srgbClr val="75003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ＭＳ Ｐゴシック" pitchFamily="-12" charset="-128"/>
                <a:cs typeface="Calibri" panose="020F0502020204030204" pitchFamily="34" charset="0"/>
              </a:rPr>
              <a:t>Activities</a:t>
            </a:r>
          </a:p>
        </p:txBody>
      </p:sp>
      <p:sp>
        <p:nvSpPr>
          <p:cNvPr id="22" name="Rounded Rectangle 94">
            <a:extLst>
              <a:ext uri="{FF2B5EF4-FFF2-40B4-BE49-F238E27FC236}">
                <a16:creationId xmlns:a16="http://schemas.microsoft.com/office/drawing/2014/main" id="{96AB519D-3700-E101-08FA-085FCE7FA391}"/>
              </a:ext>
            </a:extLst>
          </p:cNvPr>
          <p:cNvSpPr/>
          <p:nvPr/>
        </p:nvSpPr>
        <p:spPr bwMode="auto">
          <a:xfrm>
            <a:off x="457200" y="4427435"/>
            <a:ext cx="223413" cy="1050252"/>
          </a:xfrm>
          <a:prstGeom prst="rect">
            <a:avLst/>
          </a:prstGeom>
          <a:solidFill>
            <a:srgbClr val="75003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ＭＳ Ｐゴシック" pitchFamily="-12" charset="-128"/>
                <a:cs typeface="Calibri" panose="020F0502020204030204" pitchFamily="34" charset="0"/>
              </a:rPr>
              <a:t>Deliverables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D3035E-524A-A366-D1C6-69CF6580320C}"/>
              </a:ext>
            </a:extLst>
          </p:cNvPr>
          <p:cNvSpPr txBox="1"/>
          <p:nvPr/>
        </p:nvSpPr>
        <p:spPr>
          <a:xfrm>
            <a:off x="806444" y="1451064"/>
            <a:ext cx="1986037" cy="7463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Identify the SPOC from The KeyBank team.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Access to the environment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Requirements Gathering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Remediation plan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C92CB7-8EAE-BD2F-2E78-2A4D8A83D434}"/>
              </a:ext>
            </a:extLst>
          </p:cNvPr>
          <p:cNvSpPr txBox="1"/>
          <p:nvPr/>
        </p:nvSpPr>
        <p:spPr>
          <a:xfrm>
            <a:off x="775104" y="2681873"/>
            <a:ext cx="2262903" cy="11387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Getting the inventory details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Understanding Application Architecture and dependencies.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Understanding the utilization pattern each JDK stack application.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Document the assessment findings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Remediation Workflow design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3549ED-54F2-323D-A0EB-E7095DFCF844}"/>
              </a:ext>
            </a:extLst>
          </p:cNvPr>
          <p:cNvSpPr txBox="1"/>
          <p:nvPr/>
        </p:nvSpPr>
        <p:spPr>
          <a:xfrm>
            <a:off x="755073" y="4427435"/>
            <a:ext cx="1981020" cy="10079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Inventory of Java Runtime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Application Compatibility Report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Application maintenance window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Application dependency details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4B01B7-5611-0EF6-544E-6D8CDD213B1C}"/>
              </a:ext>
            </a:extLst>
          </p:cNvPr>
          <p:cNvSpPr txBox="1"/>
          <p:nvPr/>
        </p:nvSpPr>
        <p:spPr>
          <a:xfrm>
            <a:off x="2959130" y="1360671"/>
            <a:ext cx="1966003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2395" indent="-112395"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50">
                <a:solidFill>
                  <a:srgbClr val="D0D0CE">
                    <a:lumMod val="25000"/>
                  </a:srgbClr>
                </a:solidFill>
                <a:cs typeface="Calibri"/>
              </a:rPr>
              <a:t>Inventory of server and environmental Report</a:t>
            </a:r>
          </a:p>
          <a:p>
            <a:pPr marL="112395" indent="-112395"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50">
                <a:solidFill>
                  <a:srgbClr val="D0D0CE">
                    <a:lumMod val="25000"/>
                  </a:srgbClr>
                </a:solidFill>
                <a:cs typeface="Calibri"/>
              </a:rPr>
              <a:t>Dependency map</a:t>
            </a:r>
          </a:p>
          <a:p>
            <a:pPr marL="112395" indent="-112395"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50">
                <a:solidFill>
                  <a:srgbClr val="D0D0CE">
                    <a:lumMod val="25000"/>
                  </a:srgbClr>
                </a:solidFill>
                <a:cs typeface="Calibri"/>
              </a:rPr>
              <a:t>API map</a:t>
            </a:r>
          </a:p>
          <a:p>
            <a:pPr marL="112395" indent="-112395"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50">
                <a:solidFill>
                  <a:srgbClr val="D0D0CE">
                    <a:lumMod val="25000"/>
                  </a:srgbClr>
                </a:solidFill>
                <a:cs typeface="Calibri"/>
              </a:rPr>
              <a:t>Application Architecture</a:t>
            </a:r>
          </a:p>
          <a:p>
            <a:pPr marL="112395" marR="0" lvl="0" indent="-1123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Migration Road map</a:t>
            </a:r>
          </a:p>
          <a:p>
            <a:pPr marL="112395" marR="0" lvl="0" indent="-1123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Deployment &amp; installer updates</a:t>
            </a:r>
          </a:p>
          <a:p>
            <a:pPr marL="112395" marR="0" lvl="0" indent="-1123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50">
                <a:solidFill>
                  <a:srgbClr val="D0D0CE">
                    <a:lumMod val="25000"/>
                  </a:srgbClr>
                </a:solidFill>
                <a:latin typeface="Arial" panose="020B0604020202020204"/>
                <a:cs typeface="Calibri" panose="020F0502020204030204" pitchFamily="34" charset="0"/>
              </a:rPr>
              <a:t>Build Tools &amp; Dependencies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E08257-6022-2C24-8794-4BF36244B61F}"/>
              </a:ext>
            </a:extLst>
          </p:cNvPr>
          <p:cNvSpPr txBox="1"/>
          <p:nvPr/>
        </p:nvSpPr>
        <p:spPr>
          <a:xfrm>
            <a:off x="2937331" y="2630065"/>
            <a:ext cx="2247302" cy="13465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17475" lvl="0" indent="-117475"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850">
                <a:solidFill>
                  <a:srgbClr val="D0D0CE">
                    <a:lumMod val="25000"/>
                  </a:srgbClr>
                </a:solidFill>
                <a:cs typeface="Calibri"/>
              </a:rPr>
              <a:t>JDK upgrade landscape design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Categorize applications based on complexity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Rollback Plan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Develop migration &amp; upgrade wave plan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Develop testing plan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Plan Cutover 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Updating all related dependencies to the latest versions.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EBA3C5-CFE2-AA8C-4826-6E17D9FB7202}"/>
              </a:ext>
            </a:extLst>
          </p:cNvPr>
          <p:cNvSpPr txBox="1"/>
          <p:nvPr/>
        </p:nvSpPr>
        <p:spPr>
          <a:xfrm>
            <a:off x="2937331" y="4442132"/>
            <a:ext cx="1954214" cy="12157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JDK upgrade approach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Delta Architecture document.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Detailed Migration &amp; upgrade strategy,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prioritization, waves, Checklists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Rollback Plan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Testing Approach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Cutover plan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A7CC6A-F5F7-60E3-1490-EC10DD16F7C7}"/>
              </a:ext>
            </a:extLst>
          </p:cNvPr>
          <p:cNvSpPr txBox="1"/>
          <p:nvPr/>
        </p:nvSpPr>
        <p:spPr>
          <a:xfrm>
            <a:off x="7621081" y="1362055"/>
            <a:ext cx="2096792" cy="1084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Deployment Plan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Rollback Plan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Wave plan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Testing Plan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Cutover Plan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50">
                <a:solidFill>
                  <a:srgbClr val="D0D0CE">
                    <a:lumMod val="25000"/>
                  </a:srgbClr>
                </a:solidFill>
                <a:latin typeface="Arial" panose="020B0604020202020204"/>
                <a:cs typeface="Calibri" panose="020F0502020204030204" pitchFamily="34" charset="0"/>
              </a:rPr>
              <a:t>Monitoring &amp; alerts 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7E12D-EBB2-0872-D1DD-A5D2C97608F6}"/>
              </a:ext>
            </a:extLst>
          </p:cNvPr>
          <p:cNvSpPr txBox="1"/>
          <p:nvPr/>
        </p:nvSpPr>
        <p:spPr>
          <a:xfrm>
            <a:off x="7621081" y="2816228"/>
            <a:ext cx="2096792" cy="19082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12395" marR="0" lvl="0" indent="-1123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Leverage the existing tool in middleware environment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12395" marR="0" lvl="0" indent="-1123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Deploy application in Tomcat server environment</a:t>
            </a:r>
          </a:p>
          <a:p>
            <a:pPr marL="112395" marR="0" lvl="0" indent="-1123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50">
                <a:solidFill>
                  <a:srgbClr val="D0D0CE">
                    <a:lumMod val="25000"/>
                  </a:srgbClr>
                </a:solidFill>
                <a:latin typeface="Arial" panose="020B0604020202020204"/>
                <a:cs typeface="Calibri"/>
              </a:rPr>
              <a:t>Connect with Monitoring &amp; alert team to provide recommendations.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/>
            </a:endParaRPr>
          </a:p>
          <a:p>
            <a:pPr marL="112395" marR="0" lvl="0" indent="-1123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Regression testing</a:t>
            </a:r>
          </a:p>
          <a:p>
            <a:pPr marL="112395" marR="0" lvl="0" indent="-1123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Issue resolution during testing</a:t>
            </a:r>
          </a:p>
          <a:p>
            <a:pPr marL="112395" marR="0" lvl="0" indent="-1123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Sync &amp; Cutover</a:t>
            </a:r>
          </a:p>
          <a:p>
            <a:pPr marL="112395" marR="0" lvl="0" indent="-1123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sng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/>
            </a:endParaRPr>
          </a:p>
          <a:p>
            <a:pPr marL="112395" marR="0" lvl="0" indent="-1123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4DE736-E782-AB09-9E77-F990D7DEC121}"/>
              </a:ext>
            </a:extLst>
          </p:cNvPr>
          <p:cNvSpPr txBox="1"/>
          <p:nvPr/>
        </p:nvSpPr>
        <p:spPr>
          <a:xfrm>
            <a:off x="7558367" y="4403645"/>
            <a:ext cx="2096792" cy="9284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12395" marR="0" lvl="0" indent="-1123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Captured issues</a:t>
            </a:r>
          </a:p>
          <a:p>
            <a:pPr marL="112395" marR="0" lvl="0" indent="-1123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Compiling the code &amp; validation post upgrade</a:t>
            </a:r>
          </a:p>
          <a:p>
            <a:pPr marL="112395" marR="0" lvl="0" indent="-1123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Summary of migration report</a:t>
            </a:r>
          </a:p>
          <a:p>
            <a:pPr marL="112395" marR="0" lvl="0" indent="-1123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Sign off from app owners.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tabLst/>
              <a:defRPr/>
            </a:pPr>
            <a:endParaRPr kumimoji="0" lang="en-US" sz="850" b="0" i="0" u="none" strike="sng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0EA477-16AA-69DE-D860-418F5420C621}"/>
              </a:ext>
            </a:extLst>
          </p:cNvPr>
          <p:cNvSpPr txBox="1"/>
          <p:nvPr/>
        </p:nvSpPr>
        <p:spPr>
          <a:xfrm>
            <a:off x="9874928" y="1362055"/>
            <a:ext cx="1898365" cy="510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Test report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sng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 panose="020F0502020204030204" pitchFamily="34" charset="0"/>
            </a:endParaRP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7B93C3-8BB2-DF2D-A2F0-00D75B99AA72}"/>
              </a:ext>
            </a:extLst>
          </p:cNvPr>
          <p:cNvSpPr txBox="1"/>
          <p:nvPr/>
        </p:nvSpPr>
        <p:spPr>
          <a:xfrm>
            <a:off x="9874928" y="2816228"/>
            <a:ext cx="1898365" cy="6540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Knowledge transfer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Ensure RFC’s closure </a:t>
            </a: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/>
            </a:endParaRPr>
          </a:p>
          <a:p>
            <a:pPr marL="117475" marR="0" lvl="0" indent="-117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FCFD70-A120-31EB-AD61-225EB088B8F0}"/>
              </a:ext>
            </a:extLst>
          </p:cNvPr>
          <p:cNvSpPr txBox="1"/>
          <p:nvPr/>
        </p:nvSpPr>
        <p:spPr>
          <a:xfrm>
            <a:off x="9790872" y="4442132"/>
            <a:ext cx="1898365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Warranty support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3A759A-BA6E-D56F-4799-D205D6A43638}"/>
              </a:ext>
            </a:extLst>
          </p:cNvPr>
          <p:cNvSpPr txBox="1"/>
          <p:nvPr/>
        </p:nvSpPr>
        <p:spPr>
          <a:xfrm>
            <a:off x="5166521" y="1394986"/>
            <a:ext cx="2130855" cy="1072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Readiness of Test env. For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tabLst/>
              <a:defRPr/>
            </a:pPr>
            <a:r>
              <a:rPr lang="en-US" sz="850">
                <a:solidFill>
                  <a:srgbClr val="D0D0CE">
                    <a:lumMod val="25000"/>
                  </a:srgbClr>
                </a:solidFill>
                <a:latin typeface="Arial" panose="020B0604020202020204"/>
                <a:cs typeface="Calibri" panose="020F0502020204030204" pitchFamily="34" charset="0"/>
              </a:rPr>
              <a:t>      Open JDK 17+.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 panose="020F050202020403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Existing Test Scripts.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50">
                <a:solidFill>
                  <a:srgbClr val="D0D0CE">
                    <a:lumMod val="25000"/>
                  </a:srgbClr>
                </a:solidFill>
                <a:latin typeface="Arial" panose="020B0604020202020204"/>
                <a:cs typeface="Calibri" panose="020F0502020204030204" pitchFamily="34" charset="0"/>
              </a:rPr>
              <a:t>Existing Test assets-Requirements,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tabLst/>
              <a:defRPr/>
            </a:pPr>
            <a:r>
              <a:rPr lang="en-US" sz="850">
                <a:solidFill>
                  <a:srgbClr val="D0D0CE">
                    <a:lumMod val="25000"/>
                  </a:srgbClr>
                </a:solidFill>
                <a:latin typeface="Arial" panose="020B0604020202020204"/>
                <a:cs typeface="Calibri" panose="020F0502020204030204" pitchFamily="34" charset="0"/>
              </a:rPr>
              <a:t>      past execution reports, Plan , strategy etc.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 panose="020F050202020403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F1E457-B309-5685-4F08-BB9C710A5916}"/>
              </a:ext>
            </a:extLst>
          </p:cNvPr>
          <p:cNvSpPr txBox="1"/>
          <p:nvPr/>
        </p:nvSpPr>
        <p:spPr>
          <a:xfrm>
            <a:off x="5157785" y="2634099"/>
            <a:ext cx="2262903" cy="120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Update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Envt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 variables, namespaces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Update GitHub for Test Automation Repo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50" err="1">
                <a:solidFill>
                  <a:srgbClr val="D0D0CE">
                    <a:lumMod val="25000"/>
                  </a:srgbClr>
                </a:solidFill>
                <a:latin typeface="Arial" panose="020B0604020202020204"/>
                <a:cs typeface="Calibri" panose="020F0502020204030204" pitchFamily="34" charset="0"/>
              </a:rPr>
              <a:t>Updation</a:t>
            </a:r>
            <a:r>
              <a:rPr lang="en-US" sz="850">
                <a:solidFill>
                  <a:srgbClr val="D0D0CE">
                    <a:lumMod val="25000"/>
                  </a:srgbClr>
                </a:solidFill>
                <a:latin typeface="Arial" panose="020B0604020202020204"/>
                <a:cs typeface="Calibri" panose="020F0502020204030204" pitchFamily="34" charset="0"/>
              </a:rPr>
              <a:t> of test automation framework.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Execute the Test scripts-Smoke Tests.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50">
                <a:solidFill>
                  <a:srgbClr val="D0D0CE">
                    <a:lumMod val="25000"/>
                  </a:srgbClr>
                </a:solidFill>
                <a:latin typeface="Arial" panose="020B0604020202020204"/>
                <a:cs typeface="Calibri" panose="020F0502020204030204" pitchFamily="34" charset="0"/>
              </a:rPr>
              <a:t>Regression execution.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Execution E2E Integrated Test workflows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0C892E-2040-EBD7-0F69-FE14903C5088}"/>
              </a:ext>
            </a:extLst>
          </p:cNvPr>
          <p:cNvSpPr txBox="1"/>
          <p:nvPr/>
        </p:nvSpPr>
        <p:spPr>
          <a:xfrm>
            <a:off x="5206780" y="4442132"/>
            <a:ext cx="2275455" cy="65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Scalable Up &amp;Running Test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Envt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 panose="020F050202020403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50">
                <a:solidFill>
                  <a:srgbClr val="D0D0CE">
                    <a:lumMod val="25000"/>
                  </a:srgbClr>
                </a:solidFill>
                <a:latin typeface="Arial" panose="020B0604020202020204"/>
                <a:cs typeface="Calibri" panose="020F0502020204030204" pitchFamily="34" charset="0"/>
              </a:rPr>
              <a:t>Detailed Test plan.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Calibri" panose="020F0502020204030204" pitchFamily="34" charset="0"/>
              </a:rPr>
              <a:t>Test execution Report.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31" name="Pentagon 70">
            <a:extLst>
              <a:ext uri="{FF2B5EF4-FFF2-40B4-BE49-F238E27FC236}">
                <a16:creationId xmlns:a16="http://schemas.microsoft.com/office/drawing/2014/main" id="{F8D77B84-09EE-B06F-A68F-42B1223B681B}"/>
              </a:ext>
            </a:extLst>
          </p:cNvPr>
          <p:cNvSpPr/>
          <p:nvPr/>
        </p:nvSpPr>
        <p:spPr>
          <a:xfrm>
            <a:off x="1638273" y="5623972"/>
            <a:ext cx="10050958" cy="681771"/>
          </a:xfrm>
          <a:prstGeom prst="homePlate">
            <a:avLst>
              <a:gd name="adj" fmla="val 0"/>
            </a:avLst>
          </a:prstGeom>
          <a:solidFill>
            <a:srgbClr val="92BBE6">
              <a:lumMod val="20000"/>
              <a:lumOff val="80000"/>
            </a:srgbClr>
          </a:solidFill>
          <a:ln w="3175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8" name="Pentagon 69">
            <a:extLst>
              <a:ext uri="{FF2B5EF4-FFF2-40B4-BE49-F238E27FC236}">
                <a16:creationId xmlns:a16="http://schemas.microsoft.com/office/drawing/2014/main" id="{E5D6A298-14B6-8C77-8CE3-BF5C4B2F4048}"/>
              </a:ext>
            </a:extLst>
          </p:cNvPr>
          <p:cNvSpPr/>
          <p:nvPr/>
        </p:nvSpPr>
        <p:spPr>
          <a:xfrm>
            <a:off x="457199" y="5623972"/>
            <a:ext cx="1479599" cy="681771"/>
          </a:xfrm>
          <a:prstGeom prst="homePlate">
            <a:avLst/>
          </a:prstGeom>
          <a:solidFill>
            <a:srgbClr val="000048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Solution Tenets</a:t>
            </a:r>
          </a:p>
        </p:txBody>
      </p:sp>
      <p:sp>
        <p:nvSpPr>
          <p:cNvPr id="41" name="Rectangle: Rounded Corners 89">
            <a:extLst>
              <a:ext uri="{FF2B5EF4-FFF2-40B4-BE49-F238E27FC236}">
                <a16:creationId xmlns:a16="http://schemas.microsoft.com/office/drawing/2014/main" id="{E555AE8D-0649-8658-FF18-AA95EFB16D73}"/>
              </a:ext>
            </a:extLst>
          </p:cNvPr>
          <p:cNvSpPr/>
          <p:nvPr/>
        </p:nvSpPr>
        <p:spPr>
          <a:xfrm>
            <a:off x="1974991" y="5892455"/>
            <a:ext cx="1650908" cy="501650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457189">
              <a:defRPr/>
            </a:pPr>
            <a:r>
              <a:rPr lang="en-US" sz="800">
                <a:solidFill>
                  <a:srgbClr val="D0D0CE">
                    <a:lumMod val="25000"/>
                  </a:srgbClr>
                </a:solidFill>
              </a:rPr>
              <a:t>Reduce licensing and infrastructure costs by moving to open-source runtime</a:t>
            </a:r>
            <a:endParaRPr lang="en-GB" sz="800">
              <a:solidFill>
                <a:srgbClr val="D0D0CE">
                  <a:lumMod val="25000"/>
                </a:srgbClr>
              </a:solidFill>
            </a:endParaRPr>
          </a:p>
          <a:p>
            <a:pPr marR="0" lvl="0" defTabSz="45718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42" name="Rectangle: Rounded Corners 87">
            <a:extLst>
              <a:ext uri="{FF2B5EF4-FFF2-40B4-BE49-F238E27FC236}">
                <a16:creationId xmlns:a16="http://schemas.microsoft.com/office/drawing/2014/main" id="{52BF7B56-0094-4A8F-8CC9-FA3169BB1A0A}"/>
              </a:ext>
            </a:extLst>
          </p:cNvPr>
          <p:cNvSpPr/>
          <p:nvPr/>
        </p:nvSpPr>
        <p:spPr>
          <a:xfrm>
            <a:off x="3996400" y="5877953"/>
            <a:ext cx="2084694" cy="396000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lvl="0" defTabSz="457189">
              <a:defRPr/>
            </a:pPr>
            <a:r>
              <a:rPr lang="en-US" sz="800">
                <a:solidFill>
                  <a:srgbClr val="D0D0CE">
                    <a:lumMod val="25000"/>
                  </a:srgbClr>
                </a:solidFill>
              </a:rPr>
              <a:t>Increasing efficiency &amp; quality while performing JDK upgrade using GitHub Copilot/ Google’s Gemini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43" name="Rectangle: Rounded Corners 87">
            <a:extLst>
              <a:ext uri="{FF2B5EF4-FFF2-40B4-BE49-F238E27FC236}">
                <a16:creationId xmlns:a16="http://schemas.microsoft.com/office/drawing/2014/main" id="{A2C1B95F-31A7-A587-6AFE-065D2E02FF34}"/>
              </a:ext>
            </a:extLst>
          </p:cNvPr>
          <p:cNvSpPr/>
          <p:nvPr/>
        </p:nvSpPr>
        <p:spPr>
          <a:xfrm>
            <a:off x="6578734" y="5957144"/>
            <a:ext cx="2084694" cy="396000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lang="en-US" sz="800">
                <a:solidFill>
                  <a:srgbClr val="D0D0CE">
                    <a:lumMod val="25000"/>
                  </a:srgbClr>
                </a:solidFill>
              </a:rPr>
              <a:t>Retain core business logic and workflows during migration.</a:t>
            </a:r>
          </a:p>
          <a:p>
            <a:pPr lvl="0">
              <a:defRPr/>
            </a:pPr>
            <a:r>
              <a:rPr lang="en-US" sz="800">
                <a:solidFill>
                  <a:srgbClr val="D0D0CE">
                    <a:lumMod val="25000"/>
                  </a:srgbClr>
                </a:solidFill>
              </a:rPr>
              <a:t>Phased rollout plan to reduce risk</a:t>
            </a:r>
            <a:endParaRPr lang="en-GB" sz="800">
              <a:solidFill>
                <a:srgbClr val="D0D0CE">
                  <a:lumMod val="25000"/>
                </a:srgbClr>
              </a:solidFill>
            </a:endParaRPr>
          </a:p>
          <a:p>
            <a:pPr marR="0" lvl="0" defTabSz="45718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800" b="1" i="0" u="none" strike="noStrike" kern="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0B8D11-46F9-6E5B-147B-0458E39667AF}"/>
              </a:ext>
            </a:extLst>
          </p:cNvPr>
          <p:cNvSpPr txBox="1"/>
          <p:nvPr/>
        </p:nvSpPr>
        <p:spPr>
          <a:xfrm>
            <a:off x="1982124" y="5658923"/>
            <a:ext cx="13476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000" b="1" i="0" u="none" strike="noStrike" kern="1200" cap="none" spc="0" normalizeH="0" baseline="0" noProof="1">
                <a:ln>
                  <a:noFill/>
                </a:ln>
                <a:solidFill>
                  <a:srgbClr val="2F78C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Cost Optimization</a:t>
            </a:r>
            <a:endParaRPr lang="en-IN" sz="10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0EBE3E-A593-3902-C600-5168CADD2C1A}"/>
              </a:ext>
            </a:extLst>
          </p:cNvPr>
          <p:cNvSpPr txBox="1"/>
          <p:nvPr/>
        </p:nvSpPr>
        <p:spPr>
          <a:xfrm>
            <a:off x="3992429" y="5640849"/>
            <a:ext cx="18463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0" sz="1000" b="1" i="0" u="none" strike="noStrike" cap="none" spc="0" normalizeH="0" baseline="0">
                <a:ln>
                  <a:noFill/>
                </a:ln>
                <a:solidFill>
                  <a:srgbClr val="2F78C4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r>
              <a:rPr lang="en-US" noProof="1"/>
              <a:t>Gen AI based Conversion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0D5ED76-79DF-A50A-B69F-0E2ADB826E21}"/>
              </a:ext>
            </a:extLst>
          </p:cNvPr>
          <p:cNvSpPr txBox="1"/>
          <p:nvPr/>
        </p:nvSpPr>
        <p:spPr>
          <a:xfrm>
            <a:off x="6578734" y="5671373"/>
            <a:ext cx="1379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0" sz="1000" b="1" i="0" u="none" strike="noStrike" cap="none" spc="0" normalizeH="0" baseline="0">
                <a:ln>
                  <a:noFill/>
                </a:ln>
                <a:solidFill>
                  <a:srgbClr val="2F78C4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r>
              <a:rPr lang="en-US" noProof="1"/>
              <a:t>Minimal Disruption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07D246-8FE5-6D71-0D19-88FE34F3FC0F}"/>
              </a:ext>
            </a:extLst>
          </p:cNvPr>
          <p:cNvSpPr txBox="1"/>
          <p:nvPr/>
        </p:nvSpPr>
        <p:spPr>
          <a:xfrm>
            <a:off x="9203007" y="5651459"/>
            <a:ext cx="12195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0" sz="1000" b="1" i="0" u="none" strike="noStrike" cap="none" spc="0" normalizeH="0" baseline="0">
                <a:ln>
                  <a:noFill/>
                </a:ln>
                <a:solidFill>
                  <a:srgbClr val="2F78C4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r>
              <a:rPr lang="en-US" noProof="1"/>
              <a:t>Skilled Team</a:t>
            </a:r>
          </a:p>
        </p:txBody>
      </p:sp>
      <p:sp>
        <p:nvSpPr>
          <p:cNvPr id="51" name="Rectangle: Rounded Corners 87">
            <a:extLst>
              <a:ext uri="{FF2B5EF4-FFF2-40B4-BE49-F238E27FC236}">
                <a16:creationId xmlns:a16="http://schemas.microsoft.com/office/drawing/2014/main" id="{A94C580E-BA1E-4880-9C96-1FD8A96B294E}"/>
              </a:ext>
            </a:extLst>
          </p:cNvPr>
          <p:cNvSpPr/>
          <p:nvPr/>
        </p:nvSpPr>
        <p:spPr>
          <a:xfrm>
            <a:off x="9174287" y="5833853"/>
            <a:ext cx="2084694" cy="396000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lang="en-US" sz="800">
                <a:solidFill>
                  <a:srgbClr val="D0D0CE">
                    <a:lumMod val="25000"/>
                  </a:srgbClr>
                </a:solidFill>
              </a:rPr>
              <a:t>Team of Skilled People with know-how of currency upgrade.</a:t>
            </a:r>
            <a:endParaRPr kumimoji="0" lang="en-GB" sz="800" b="1" i="0" u="none" strike="noStrike" kern="0" cap="none" spc="0" normalizeH="0" baseline="0" noProof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90643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D5D2B-3CC7-27A2-AEB2-6CFC0704F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52168"/>
            <a:ext cx="11387328" cy="307777"/>
          </a:xfrm>
        </p:spPr>
        <p:txBody>
          <a:bodyPr/>
          <a:lstStyle/>
          <a:p>
            <a:r>
              <a:rPr lang="en-US"/>
              <a:t>Accelerators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278D3-04FE-18E0-0A86-0A300A843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799"/>
            <a:ext cx="365760" cy="228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826FC0-333C-E549-9FA3-0EE43DF298A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6FC2E-754D-48FB-D276-D97F728CF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400800"/>
            <a:ext cx="1371600" cy="228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1DFFBD-B552-26C3-3A1E-39DBF290B283}"/>
              </a:ext>
            </a:extLst>
          </p:cNvPr>
          <p:cNvGraphicFramePr>
            <a:graphicFrameLocks noGrp="1"/>
          </p:cNvGraphicFramePr>
          <p:nvPr/>
        </p:nvGraphicFramePr>
        <p:xfrm>
          <a:off x="55130" y="604051"/>
          <a:ext cx="12146484" cy="5022354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945944">
                  <a:extLst>
                    <a:ext uri="{9D8B030D-6E8A-4147-A177-3AD203B41FA5}">
                      <a16:colId xmlns:a16="http://schemas.microsoft.com/office/drawing/2014/main" val="727736961"/>
                    </a:ext>
                  </a:extLst>
                </a:gridCol>
                <a:gridCol w="1975892">
                  <a:extLst>
                    <a:ext uri="{9D8B030D-6E8A-4147-A177-3AD203B41FA5}">
                      <a16:colId xmlns:a16="http://schemas.microsoft.com/office/drawing/2014/main" val="3641600036"/>
                    </a:ext>
                  </a:extLst>
                </a:gridCol>
                <a:gridCol w="8224648">
                  <a:extLst>
                    <a:ext uri="{9D8B030D-6E8A-4147-A177-3AD203B41FA5}">
                      <a16:colId xmlns:a16="http://schemas.microsoft.com/office/drawing/2014/main" val="1118314432"/>
                    </a:ext>
                  </a:extLst>
                </a:gridCol>
              </a:tblGrid>
              <a:tr h="3589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Area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Accelerator 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 Details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110133"/>
                  </a:ext>
                </a:extLst>
              </a:tr>
              <a:tr h="29594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6">
                              <a:lumMod val="25000"/>
                            </a:schemeClr>
                          </a:solidFill>
                        </a:rPr>
                        <a:t>JDK Upgrade</a:t>
                      </a:r>
                    </a:p>
                    <a:p>
                      <a:pPr algn="l"/>
                      <a:endParaRPr lang="en-US" sz="900" b="1">
                        <a:solidFill>
                          <a:schemeClr val="accent6">
                            <a:lumMod val="2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kern="1200"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en-US" sz="900" kern="1200"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GitHub Copilot with Agent </a:t>
                      </a:r>
                    </a:p>
                    <a:p>
                      <a:pPr algn="l"/>
                      <a:r>
                        <a:rPr lang="en-US" sz="900" kern="1200"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Powered by Cognizant’s Prompt Library</a:t>
                      </a:r>
                    </a:p>
                    <a:p>
                      <a:pPr algn="l"/>
                      <a:endParaRPr lang="en-US" sz="900" kern="1200">
                        <a:solidFill>
                          <a:schemeClr val="accent6">
                            <a:lumMod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900" kern="1200">
                        <a:solidFill>
                          <a:schemeClr val="accent6">
                            <a:lumMod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900" kern="1200">
                        <a:solidFill>
                          <a:schemeClr val="accent6">
                            <a:lumMod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900" b="1" kern="1200"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en-US" sz="900" kern="1200"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OpenRewrite </a:t>
                      </a:r>
                    </a:p>
                  </a:txBody>
                  <a:tcPr marT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b="1">
                          <a:solidFill>
                            <a:schemeClr val="accent6">
                              <a:lumMod val="25000"/>
                            </a:schemeClr>
                          </a:solidFill>
                        </a:rPr>
                        <a:t>Application Assessment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>
                          <a:solidFill>
                            <a:schemeClr val="accent6">
                              <a:lumMod val="25000"/>
                            </a:schemeClr>
                          </a:solidFill>
                        </a:rPr>
                        <a:t>Analyzes codebase for Java EE dependencies like EJB, JMS, JTA, and JPA.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>
                          <a:solidFill>
                            <a:schemeClr val="accent6">
                              <a:lumMod val="25000"/>
                            </a:schemeClr>
                          </a:solidFill>
                        </a:rPr>
                        <a:t>Flags areas that are need refactoring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>
                          <a:solidFill>
                            <a:schemeClr val="accent6">
                              <a:lumMod val="25000"/>
                            </a:schemeClr>
                          </a:solidFill>
                        </a:rPr>
                        <a:t>Helps visualize migration tasks and dependencies.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b="1">
                          <a:solidFill>
                            <a:schemeClr val="accent6">
                              <a:lumMod val="25000"/>
                            </a:schemeClr>
                          </a:solidFill>
                        </a:rPr>
                        <a:t>Code Transformation Suggestions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Code changes for EJB, JMS, JPA, and JTA components to align with TomEE PluME standards.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>
                          <a:solidFill>
                            <a:schemeClr val="accent6">
                              <a:lumMod val="25000"/>
                            </a:schemeClr>
                          </a:solidFill>
                        </a:rPr>
                        <a:t>Refactors JMS code to work with external brokers (e.g., ActiveMQ) compatible with TomcatEE.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b="1">
                          <a:solidFill>
                            <a:schemeClr val="accent6">
                              <a:lumMod val="25000"/>
                            </a:schemeClr>
                          </a:solidFill>
                        </a:rPr>
                        <a:t>Dependency &amp; Runtime Upgrade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>
                          <a:solidFill>
                            <a:schemeClr val="accent6">
                              <a:lumMod val="25000"/>
                            </a:schemeClr>
                          </a:solidFill>
                        </a:rPr>
                        <a:t>Assists in upgrading Java versions (e.g., from 8 to 17 or 21).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b="1">
                          <a:solidFill>
                            <a:schemeClr val="accent6">
                              <a:lumMod val="25000"/>
                            </a:schemeClr>
                          </a:solidFill>
                        </a:rPr>
                        <a:t>Build &amp;  Unit Test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>
                          <a:solidFill>
                            <a:schemeClr val="accent6">
                              <a:lumMod val="25000"/>
                            </a:schemeClr>
                          </a:solidFill>
                        </a:rPr>
                        <a:t>Updates Maven/Gradle build files for OpenJDK17 version.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>
                          <a:solidFill>
                            <a:schemeClr val="accent6">
                              <a:lumMod val="25000"/>
                            </a:schemeClr>
                          </a:solidFill>
                        </a:rPr>
                        <a:t>Generates or migrates unit tests to validate refactored components and fixing vulnerabilities in new code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b="1">
                          <a:solidFill>
                            <a:schemeClr val="accent6">
                              <a:lumMod val="25000"/>
                            </a:schemeClr>
                          </a:solidFill>
                        </a:rPr>
                        <a:t>Custom Task Creation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>
                          <a:solidFill>
                            <a:schemeClr val="accent6">
                              <a:lumMod val="25000"/>
                            </a:schemeClr>
                          </a:solidFill>
                        </a:rPr>
                        <a:t>Allows to create custom migration tasks based on previously migrated code.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>
                          <a:solidFill>
                            <a:schemeClr val="accent6">
                              <a:lumMod val="25000"/>
                            </a:schemeClr>
                          </a:solidFill>
                        </a:rPr>
                        <a:t>Applies consistent remediation patterns across similar modules.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900" b="1" kern="1100"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Cognizant® Prompt Library</a:t>
                      </a:r>
                      <a:r>
                        <a:rPr lang="en-US" sz="900" b="0" kern="1100"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: can be used to increase developer productivity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900" b="1" kern="1100"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OpenRewrite: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kern="1100"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Provides ready-made recipes for upgrading from Java 8 → 17/21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kern="1100"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Identifies and replaces deprecated APIs with recommended alternatives.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kern="1100"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Ensures correct source and target compatibility in build configurations.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kern="1100"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Automates safe, large-scale refactoring for consistent JDK migration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401089"/>
                  </a:ext>
                </a:extLst>
              </a:tr>
              <a:tr h="467491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chemeClr val="accent6">
                              <a:lumMod val="25000"/>
                            </a:schemeClr>
                          </a:solidFill>
                        </a:rPr>
                        <a:t>Google’s Gemini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>
                        <a:buAutoNum type="arabicPeriod"/>
                      </a:pPr>
                      <a:endParaRPr lang="en-US" sz="900">
                        <a:solidFill>
                          <a:schemeClr val="accent6">
                            <a:lumMod val="2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IN" sz="900">
                          <a:solidFill>
                            <a:srgbClr val="000000"/>
                          </a:solidFill>
                        </a:rPr>
                        <a:t>Automated Dependency Mapping</a:t>
                      </a:r>
                    </a:p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IN" sz="900">
                          <a:solidFill>
                            <a:srgbClr val="000000"/>
                          </a:solidFill>
                        </a:rPr>
                        <a:t>API Incompatibility Resolution</a:t>
                      </a:r>
                    </a:p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IN" sz="900">
                          <a:solidFill>
                            <a:srgbClr val="000000"/>
                          </a:solidFill>
                        </a:rPr>
                        <a:t>Context-Aware Explanation</a:t>
                      </a:r>
                    </a:p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IN" sz="900">
                          <a:solidFill>
                            <a:srgbClr val="000000"/>
                          </a:solidFill>
                        </a:rPr>
                        <a:t>Unit Test Generation</a:t>
                      </a:r>
                    </a:p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IN" sz="900" b="1">
                          <a:solidFill>
                            <a:srgbClr val="000000"/>
                          </a:solidFill>
                        </a:rPr>
                        <a:t>Productivity Gain:</a:t>
                      </a:r>
                      <a:r>
                        <a:rPr lang="en-IN" sz="90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IN" sz="900" b="1">
                          <a:solidFill>
                            <a:srgbClr val="000000"/>
                          </a:solidFill>
                        </a:rPr>
                        <a:t>25%</a:t>
                      </a:r>
                      <a:endParaRPr lang="en-US" sz="90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5460584"/>
                  </a:ext>
                </a:extLst>
              </a:tr>
              <a:tr h="467491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chemeClr val="accent6">
                              <a:lumMod val="25000"/>
                            </a:schemeClr>
                          </a:solidFill>
                        </a:rPr>
                        <a:t>Cognition’s Devin.AI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>
                        <a:buAutoNum type="arabicPeriod"/>
                      </a:pPr>
                      <a:endParaRPr lang="en-US" sz="900">
                        <a:solidFill>
                          <a:schemeClr val="accent6">
                            <a:lumMod val="2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IN" sz="900">
                          <a:solidFill>
                            <a:srgbClr val="000000"/>
                          </a:solidFill>
                        </a:rPr>
                        <a:t>Autonomous End-to-End Migration</a:t>
                      </a:r>
                    </a:p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IN" sz="900">
                          <a:solidFill>
                            <a:srgbClr val="000000"/>
                          </a:solidFill>
                        </a:rPr>
                        <a:t>Mass Parallelization</a:t>
                      </a:r>
                    </a:p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IN" sz="900">
                          <a:solidFill>
                            <a:srgbClr val="000000"/>
                          </a:solidFill>
                        </a:rPr>
                        <a:t>Self-Healing Build Pipelines</a:t>
                      </a:r>
                    </a:p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IN" sz="900">
                          <a:solidFill>
                            <a:srgbClr val="000000"/>
                          </a:solidFill>
                        </a:rPr>
                        <a:t>Legacy Library Replacement</a:t>
                      </a:r>
                    </a:p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IN" sz="900">
                          <a:solidFill>
                            <a:srgbClr val="000000"/>
                          </a:solidFill>
                        </a:rPr>
                        <a:t>Security Vulnerability Remediation</a:t>
                      </a:r>
                    </a:p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IN" sz="900" b="1">
                          <a:solidFill>
                            <a:srgbClr val="000000"/>
                          </a:solidFill>
                        </a:rPr>
                        <a:t>Productivity Gain:</a:t>
                      </a:r>
                      <a:r>
                        <a:rPr lang="en-IN" sz="90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IN" sz="900" b="1">
                          <a:solidFill>
                            <a:srgbClr val="000000"/>
                          </a:solidFill>
                        </a:rPr>
                        <a:t>up to 50%</a:t>
                      </a:r>
                      <a:r>
                        <a:rPr lang="en-IN" sz="90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90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02078"/>
                  </a:ext>
                </a:extLst>
              </a:tr>
            </a:tbl>
          </a:graphicData>
        </a:graphic>
      </p:graphicFrame>
      <p:pic>
        <p:nvPicPr>
          <p:cNvPr id="7" name="Picture 6" descr="A cartoon character with goggles&#10;&#10;Description automatically generated">
            <a:extLst>
              <a:ext uri="{FF2B5EF4-FFF2-40B4-BE49-F238E27FC236}">
                <a16:creationId xmlns:a16="http://schemas.microsoft.com/office/drawing/2014/main" id="{310779CF-5879-959C-2C27-458C7B6C5F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193" y="2227027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93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5D19F-B82D-D79B-41F0-C7EC393B3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9E37DD0-2A51-95D8-2F80-C2C8E7C6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 Remediation for JDK Upgrade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F64DA5-E60C-C0E8-02D5-A3A2EC309B3D}"/>
              </a:ext>
            </a:extLst>
          </p:cNvPr>
          <p:cNvSpPr/>
          <p:nvPr/>
        </p:nvSpPr>
        <p:spPr>
          <a:xfrm>
            <a:off x="0" y="3635829"/>
            <a:ext cx="12192000" cy="2579914"/>
          </a:xfrm>
          <a:prstGeom prst="rect">
            <a:avLst/>
          </a:prstGeom>
          <a:solidFill>
            <a:schemeClr val="tx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518B1B-C475-846A-685E-172E317D48D4}"/>
              </a:ext>
            </a:extLst>
          </p:cNvPr>
          <p:cNvSpPr/>
          <p:nvPr/>
        </p:nvSpPr>
        <p:spPr bwMode="auto">
          <a:xfrm>
            <a:off x="457199" y="929153"/>
            <a:ext cx="11275622" cy="4871879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lIns="144000" tIns="144000" rIns="144000" bIns="108000" rtlCol="0" anchor="t" anchorCtr="0">
            <a:noAutofit/>
          </a:bodyPr>
          <a:lstStyle/>
          <a:p>
            <a:pPr marL="45085" marR="0" lvl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2E308E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Assumptions</a:t>
            </a:r>
          </a:p>
          <a:p>
            <a:pPr marL="226695" lvl="0" indent="-171450" defTabSz="609570">
              <a:spcAft>
                <a:spcPts val="9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kern="0" dirty="0">
                <a:solidFill>
                  <a:srgbClr val="D0D0CE">
                    <a:lumMod val="25000"/>
                  </a:srgbClr>
                </a:solidFill>
                <a:ea typeface="+mn-lt"/>
                <a:cs typeface="Arial" panose="020B0604020202020204"/>
              </a:rPr>
              <a:t>Any infrastructure needed for this migration will be set up by KeyBank with out delay.	</a:t>
            </a:r>
          </a:p>
          <a:p>
            <a:pPr marL="226695" lvl="0" indent="-171450" defTabSz="609570">
              <a:spcAft>
                <a:spcPts val="9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kern="0" dirty="0">
                <a:solidFill>
                  <a:srgbClr val="D0D0CE">
                    <a:lumMod val="25000"/>
                  </a:srgbClr>
                </a:solidFill>
                <a:ea typeface="+mn-lt"/>
                <a:cs typeface="Arial" panose="020B0604020202020204"/>
              </a:rPr>
              <a:t>Any integration changes like Apigee, </a:t>
            </a:r>
            <a:r>
              <a:rPr lang="en-US" sz="1100" kern="0" dirty="0" err="1">
                <a:solidFill>
                  <a:srgbClr val="D0D0CE">
                    <a:lumMod val="25000"/>
                  </a:srgbClr>
                </a:solidFill>
                <a:ea typeface="+mn-lt"/>
                <a:cs typeface="Arial" panose="020B0604020202020204"/>
              </a:rPr>
              <a:t>Datapower</a:t>
            </a:r>
            <a:r>
              <a:rPr lang="en-US" sz="1100" kern="0" dirty="0">
                <a:solidFill>
                  <a:srgbClr val="D0D0CE">
                    <a:lumMod val="25000"/>
                  </a:srgbClr>
                </a:solidFill>
                <a:ea typeface="+mn-lt"/>
                <a:cs typeface="Arial" panose="020B0604020202020204"/>
              </a:rPr>
              <a:t>, ISAM that involves other team efforts are not estimated		</a:t>
            </a:r>
          </a:p>
          <a:p>
            <a:pPr marL="226695" lvl="0" indent="-171450" defTabSz="609570">
              <a:spcAft>
                <a:spcPts val="9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kern="0" dirty="0">
                <a:solidFill>
                  <a:srgbClr val="D0D0CE">
                    <a:lumMod val="25000"/>
                  </a:srgbClr>
                </a:solidFill>
                <a:ea typeface="+mn-lt"/>
                <a:cs typeface="Arial" panose="020B0604020202020204"/>
              </a:rPr>
              <a:t>Application support team  will be helping this team when ever there is a need	.	</a:t>
            </a:r>
          </a:p>
          <a:p>
            <a:pPr marL="226695" lvl="0" indent="-171450" defTabSz="609570">
              <a:spcAft>
                <a:spcPts val="9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kern="0" dirty="0">
                <a:solidFill>
                  <a:srgbClr val="D0D0CE">
                    <a:lumMod val="25000"/>
                  </a:srgbClr>
                </a:solidFill>
                <a:ea typeface="+mn-lt"/>
                <a:cs typeface="Arial" panose="020B0604020202020204"/>
              </a:rPr>
              <a:t>No new nonhuman ids are getting created.		</a:t>
            </a:r>
          </a:p>
          <a:p>
            <a:pPr marL="226695" lvl="0" indent="-171450" defTabSz="609570">
              <a:spcAft>
                <a:spcPts val="9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kern="0" dirty="0">
                <a:solidFill>
                  <a:srgbClr val="D0D0CE">
                    <a:lumMod val="25000"/>
                  </a:srgbClr>
                </a:solidFill>
                <a:ea typeface="+mn-lt"/>
                <a:cs typeface="Arial" panose="020B0604020202020204"/>
              </a:rPr>
              <a:t>Minimal application refactoring; adapt only what’s necessary to make applications Tomcat‑compatible and container‑ready. No new enhancements. KTT-BKT is also assumed to be in scope. 	</a:t>
            </a:r>
          </a:p>
          <a:p>
            <a:pPr marL="226695" lvl="0" indent="-171450" defTabSz="609570">
              <a:spcAft>
                <a:spcPts val="9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kern="0" dirty="0">
                <a:solidFill>
                  <a:srgbClr val="D0D0CE">
                    <a:lumMod val="25000"/>
                  </a:srgbClr>
                </a:solidFill>
                <a:ea typeface="+mn-lt"/>
                <a:cs typeface="Arial" panose="020B0604020202020204"/>
              </a:rPr>
              <a:t>WAS remains operational until Tomcat code is QA complete.		</a:t>
            </a:r>
          </a:p>
          <a:p>
            <a:pPr marL="226695" lvl="0" indent="-171450" defTabSz="609570">
              <a:spcAft>
                <a:spcPts val="9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kern="0" dirty="0">
                <a:solidFill>
                  <a:srgbClr val="D0D0CE">
                    <a:lumMod val="25000"/>
                  </a:srgbClr>
                </a:solidFill>
                <a:ea typeface="+mn-lt"/>
                <a:cs typeface="Arial" panose="020B0604020202020204"/>
              </a:rPr>
              <a:t>All pipelines rebuilt in GitLab, replacing Bitbucket pipelines.		</a:t>
            </a:r>
          </a:p>
          <a:p>
            <a:pPr marL="226695" lvl="0" indent="-171450" defTabSz="609570">
              <a:spcAft>
                <a:spcPts val="9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kern="0" dirty="0">
                <a:solidFill>
                  <a:srgbClr val="D0D0CE">
                    <a:lumMod val="25000"/>
                  </a:srgbClr>
                </a:solidFill>
                <a:ea typeface="+mn-lt"/>
                <a:cs typeface="Arial" panose="020B0604020202020204"/>
              </a:rPr>
              <a:t>Migrate applications one at a time to reduce cross‑dependency risks but work parallel to have code ready.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lt"/>
              <a:cs typeface="Arial" panose="020B0604020202020204"/>
            </a:endParaRPr>
          </a:p>
          <a:p>
            <a:pPr marL="226695" marR="0" lvl="0" indent="-171450" algn="l" defTabSz="609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lt"/>
              <a:cs typeface="Arial" panose="020B0604020202020204"/>
            </a:endParaRPr>
          </a:p>
          <a:p>
            <a:pPr marL="226695" marR="0" lvl="0" indent="-171450" algn="just" defTabSz="609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uLnTx/>
              <a:uFillTx/>
              <a:latin typeface="Arial" panose="020B0604020202020204"/>
              <a:ea typeface="+mn-lt"/>
              <a:cs typeface="Arial" panose="020B0604020202020204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ECC7D86-227F-837F-3B6A-5D0CE42F5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800"/>
            <a:ext cx="365125" cy="228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826FC0-333C-E549-9FA3-0EE43DF298A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4D3D6C8C-8B03-B2FF-5F9F-FBCDCFA845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6475" y="6400800"/>
            <a:ext cx="1371600" cy="228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</p:spTree>
    <p:extLst>
      <p:ext uri="{BB962C8B-B14F-4D97-AF65-F5344CB8AC3E}">
        <p14:creationId xmlns:p14="http://schemas.microsoft.com/office/powerpoint/2010/main" val="3778862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02E11-33D2-B992-E4FF-79E6F4C0C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452BF0-9D75-677E-4338-727DD0E38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52168"/>
            <a:ext cx="11387328" cy="369332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RACI Matrix</a:t>
            </a:r>
            <a:endParaRPr lang="en-US">
              <a:highlight>
                <a:srgbClr val="FFFF00"/>
              </a:highligh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669FA6-021D-6F3F-CCAE-6F79A4A9E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799"/>
            <a:ext cx="365760" cy="228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4C2BE722-007F-BAA8-CB60-5250C566C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400800"/>
            <a:ext cx="1371600" cy="228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graphicFrame>
        <p:nvGraphicFramePr>
          <p:cNvPr id="7" name="Group 73">
            <a:extLst>
              <a:ext uri="{FF2B5EF4-FFF2-40B4-BE49-F238E27FC236}">
                <a16:creationId xmlns:a16="http://schemas.microsoft.com/office/drawing/2014/main" id="{9C714044-3B08-4096-C3DB-AC4B570BB602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274953"/>
          <a:ext cx="11189925" cy="4056526"/>
        </p:xfrm>
        <a:graphic>
          <a:graphicData uri="http://schemas.openxmlformats.org/drawingml/2006/table">
            <a:tbl>
              <a:tblPr/>
              <a:tblGrid>
                <a:gridCol w="574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1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09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19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3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S#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Phase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R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esponsible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A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ccountable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onsulted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I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nformed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3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JDK Upgrade code remediation 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0" lang="en-US" sz="1100" b="0" i="0" u="none" strike="noStrike" kern="1100" cap="none" spc="0" normalizeH="0" baseline="0" noProof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Cognizant Team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0" lang="en-US" sz="1100" b="0" i="0" u="none" strike="noStrike" kern="1100" cap="none" spc="0" normalizeH="0" baseline="0" noProof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Cognizant Team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0" lang="en-US" sz="1100" b="0" i="0" u="none" strike="noStrike" kern="1100" cap="none" spc="0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The KeyBank, Application Team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0" lang="en-US" sz="1100" b="0" i="0" u="none" strike="noStrike" kern="1100" cap="none" spc="0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The KeyBank , Application Team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209432"/>
                  </a:ext>
                </a:extLst>
              </a:tr>
              <a:tr h="4521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Remediated code deployment to Tomcat Environments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 Team</a:t>
                      </a:r>
                      <a:endParaRPr kumimoji="0" lang="en-US" sz="1100" b="0" i="0" u="none" strike="noStrike" kern="1100" cap="none" normalizeH="0" baseline="0" noProof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 Team</a:t>
                      </a:r>
                      <a:endParaRPr kumimoji="0" lang="en-US" sz="1100" b="0" i="0" u="none" strike="noStrike" kern="1100" cap="none" normalizeH="0" baseline="0" noProof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KeyBank , </a:t>
                      </a:r>
                      <a:r>
                        <a:rPr kumimoji="0" lang="en-US" sz="1100" b="0" i="0" u="none" strike="noStrike" kern="1100" cap="none" normalizeH="0" baseline="0" noProof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Cognizant Factory Team</a:t>
                      </a:r>
                      <a:endParaRPr kumimoji="0" lang="en-US" sz="1100" b="0" i="0" u="none" strike="noStrike" kern="1100" cap="none" normalizeH="0" baseline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KeyBank , </a:t>
                      </a:r>
                      <a:r>
                        <a:rPr kumimoji="0" lang="en-US" sz="1100" b="0" i="0" u="none" strike="noStrike" kern="1100" cap="none" normalizeH="0" baseline="0" noProof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Cognizant Team</a:t>
                      </a:r>
                      <a:endParaRPr kumimoji="0" lang="en-US" sz="1100" b="0" i="0" u="none" strike="noStrike" kern="1100" cap="none" normalizeH="0" baseline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274664"/>
                  </a:ext>
                </a:extLst>
              </a:tr>
              <a:tr h="4521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Regression Testing &amp; Performance Testing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0" lang="en-US" sz="1100" b="0" i="0" u="none" strike="noStrike" kern="1100" cap="none" normalizeH="0" baseline="0" noProof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Cognizant Team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0" lang="en-US" sz="1100" b="0" i="0" u="none" strike="noStrike" kern="1100" cap="none" normalizeH="0" baseline="0" noProof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Cognizant Team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KeyBank, Application Team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KeyBank, Application Team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Release to SIT &amp; UAT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 team , The KeyBank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 Team, The KeyBank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Cognizant team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Cognizant Team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19719"/>
                  </a:ext>
                </a:extLst>
              </a:tr>
              <a:tr h="4521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Release to Production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 team , The KeyBank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 Team, The KeyBank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Cognizant team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Cognizant Team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9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Warranty Support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Cognizant Team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Cognizant Team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Cognizant Team</a:t>
                      </a: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, The KeyBank, Vendor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Cognizant Team</a:t>
                      </a: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, The KeyBank, Vendor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2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Program Management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Cognizant Team, The KeyBank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Cognizant Team</a:t>
                      </a: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, The KeyBank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The KeyBank, Vendor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kumimoji="0" lang="en-US" sz="1100" b="0" i="0" u="none" strike="noStrike" kern="1100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Cognizant Team</a:t>
                      </a: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, The KeyBank, Vendor</a:t>
                      </a:r>
                    </a:p>
                  </a:txBody>
                  <a:tcPr marL="118879" marR="118879" marT="45735" marB="4573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FE12510-474B-BBBF-4513-FA5CA7BD84F2}"/>
              </a:ext>
            </a:extLst>
          </p:cNvPr>
          <p:cNvSpPr/>
          <p:nvPr/>
        </p:nvSpPr>
        <p:spPr>
          <a:xfrm>
            <a:off x="457200" y="803800"/>
            <a:ext cx="11340846" cy="461665"/>
          </a:xfrm>
          <a:prstGeom prst="rect">
            <a:avLst/>
          </a:prstGeom>
        </p:spPr>
        <p:txBody>
          <a:bodyPr wrap="square" lIns="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 indicative RACI is provided in the table below. Cognizant will discuss this further with the KeyBank stakeholders and implement the necessary governance for this  program during the planning phase –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0D0CE">
                  <a:lumMod val="25000"/>
                </a:srgbClr>
              </a:solidFill>
              <a:effectLst/>
              <a:highlight>
                <a:srgbClr val="FFFF00"/>
              </a:highlight>
              <a:uLnTx/>
              <a:uFillTx/>
              <a:latin typeface="Arial" panose="020B0604020202020204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3365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B0FC4-F27E-1CC7-243B-BA2D0DDCB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2125923-4DFC-2B91-49D2-AF457BAD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7" y="2542471"/>
            <a:ext cx="8168643" cy="498599"/>
          </a:xfrm>
        </p:spPr>
        <p:txBody>
          <a:bodyPr/>
          <a:lstStyle/>
          <a:p>
            <a:r>
              <a:rPr lang="en-US" dirty="0"/>
              <a:t>Commercials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F69DC-4BC8-53DE-C5A3-7B57E2050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799"/>
            <a:ext cx="365760" cy="228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9474C5-3842-8442-8DC6-77E283028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400800"/>
            <a:ext cx="1371600" cy="228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</p:spTree>
    <p:extLst>
      <p:ext uri="{BB962C8B-B14F-4D97-AF65-F5344CB8AC3E}">
        <p14:creationId xmlns:p14="http://schemas.microsoft.com/office/powerpoint/2010/main" val="4218242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D763D-3AC7-55F5-B1C5-BBAD38352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9359BC0-62FA-BAA8-9486-A3CBDC33A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52168"/>
            <a:ext cx="11387328" cy="369332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Commercials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96C731-E764-74F4-5F89-340164EA8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799"/>
            <a:ext cx="365760" cy="228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44664585-2F62-4378-F049-18861C7D0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400800"/>
            <a:ext cx="1371600" cy="228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5D03C66-3B2A-96CE-8018-EF1C501D0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416523"/>
              </p:ext>
            </p:extLst>
          </p:nvPr>
        </p:nvGraphicFramePr>
        <p:xfrm>
          <a:off x="457197" y="1272182"/>
          <a:ext cx="11387327" cy="2371655"/>
        </p:xfrm>
        <a:graphic>
          <a:graphicData uri="http://schemas.openxmlformats.org/drawingml/2006/table">
            <a:tbl>
              <a:tblPr/>
              <a:tblGrid>
                <a:gridCol w="2230936">
                  <a:extLst>
                    <a:ext uri="{9D8B030D-6E8A-4147-A177-3AD203B41FA5}">
                      <a16:colId xmlns:a16="http://schemas.microsoft.com/office/drawing/2014/main" val="395641084"/>
                    </a:ext>
                  </a:extLst>
                </a:gridCol>
                <a:gridCol w="4204296">
                  <a:extLst>
                    <a:ext uri="{9D8B030D-6E8A-4147-A177-3AD203B41FA5}">
                      <a16:colId xmlns:a16="http://schemas.microsoft.com/office/drawing/2014/main" val="3553119071"/>
                    </a:ext>
                  </a:extLst>
                </a:gridCol>
                <a:gridCol w="1811337">
                  <a:extLst>
                    <a:ext uri="{9D8B030D-6E8A-4147-A177-3AD203B41FA5}">
                      <a16:colId xmlns:a16="http://schemas.microsoft.com/office/drawing/2014/main" val="1822173954"/>
                    </a:ext>
                  </a:extLst>
                </a:gridCol>
                <a:gridCol w="3140758">
                  <a:extLst>
                    <a:ext uri="{9D8B030D-6E8A-4147-A177-3AD203B41FA5}">
                      <a16:colId xmlns:a16="http://schemas.microsoft.com/office/drawing/2014/main" val="3549954707"/>
                    </a:ext>
                  </a:extLst>
                </a:gridCol>
              </a:tblGrid>
              <a:tr h="47010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Milestone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7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Milestone Name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7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Milestone Fee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7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Total Project Cost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113430"/>
                  </a:ext>
                </a:extLst>
              </a:tr>
              <a:tr h="2716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Milestone 1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Discovery &amp; Assessment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$18,834 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B81F2D"/>
                          </a:solidFill>
                          <a:effectLst/>
                          <a:latin typeface="Aptos Narrow" panose="020B0004020202020204" pitchFamily="34" charset="0"/>
                        </a:rPr>
                        <a:t>$188,340</a:t>
                      </a:r>
                      <a:br>
                        <a:rPr lang="en-US" sz="1200" b="1" i="0" u="none" strike="noStrike" dirty="0">
                          <a:solidFill>
                            <a:srgbClr val="B81F2D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br>
                        <a:rPr lang="en-US" sz="1200" b="1" i="0" u="none" strike="noStrike" dirty="0">
                          <a:solidFill>
                            <a:srgbClr val="B81F2D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B81F2D"/>
                          </a:solidFill>
                          <a:effectLst/>
                          <a:latin typeface="Aptos Narrow" panose="020B0004020202020204" pitchFamily="34" charset="0"/>
                        </a:rPr>
                        <a:t>(One Hundred Eighty-Eight Thousand Three Hundred and Forty)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685195"/>
                  </a:ext>
                </a:extLst>
              </a:tr>
              <a:tr h="2716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Milestone 2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Source Migration&amp; start development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$37,668 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154930"/>
                  </a:ext>
                </a:extLst>
              </a:tr>
              <a:tr h="2716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Milestone 3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Containerization &amp; configuration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$56,502 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044211"/>
                  </a:ext>
                </a:extLst>
              </a:tr>
              <a:tr h="2716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Milestone 4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 Deployment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$37,668 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575310"/>
                  </a:ext>
                </a:extLst>
              </a:tr>
              <a:tr h="2716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Milestone 5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Documentation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$9,417 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142327"/>
                  </a:ext>
                </a:extLst>
              </a:tr>
              <a:tr h="2716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Milestone 6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QAS Testing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$9,417 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964223"/>
                  </a:ext>
                </a:extLst>
              </a:tr>
              <a:tr h="2716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Milestone 7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Production Cutover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$18,834 </a:t>
                      </a:r>
                    </a:p>
                  </a:txBody>
                  <a:tcPr marL="8232" marR="8232" marT="82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939173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3D0A3B1-8956-FE81-4E76-E851A5EE23C0}"/>
              </a:ext>
            </a:extLst>
          </p:cNvPr>
          <p:cNvSpPr/>
          <p:nvPr/>
        </p:nvSpPr>
        <p:spPr bwMode="auto">
          <a:xfrm>
            <a:off x="457198" y="3781103"/>
            <a:ext cx="11387326" cy="2581582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lIns="144000" tIns="144000" rIns="144000" bIns="108000" rtlCol="0" anchor="t" anchorCtr="0">
            <a:noAutofit/>
          </a:bodyPr>
          <a:lstStyle/>
          <a:p>
            <a:pPr marL="45085" marR="0" lvl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2E308E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Pricing Assumptions</a:t>
            </a:r>
          </a:p>
          <a:p>
            <a:pPr marL="226695" lvl="0" indent="-171450" defTabSz="609570">
              <a:spcAft>
                <a:spcPts val="9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kern="0" dirty="0">
                <a:solidFill>
                  <a:srgbClr val="D0D0CE">
                    <a:lumMod val="25000"/>
                  </a:srgbClr>
                </a:solidFill>
                <a:ea typeface="+mn-lt"/>
                <a:cs typeface="Arial" panose="020B0604020202020204"/>
              </a:rPr>
              <a:t>KeyBank to approve the payment milestones</a:t>
            </a:r>
          </a:p>
          <a:p>
            <a:pPr marL="226695" lvl="0" indent="-171450" defTabSz="609570">
              <a:spcAft>
                <a:spcPts val="9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0D0CE">
                    <a:lumMod val="25000"/>
                  </a:srgbClr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Any scope change will go through a</a:t>
            </a:r>
            <a:r>
              <a:rPr lang="en-US" sz="1100" kern="0" dirty="0">
                <a:solidFill>
                  <a:srgbClr val="D0D0CE">
                    <a:lumMod val="25000"/>
                  </a:srgbClr>
                </a:solidFill>
                <a:latin typeface="Arial" panose="020B0604020202020204"/>
                <a:ea typeface="+mn-lt"/>
                <a:cs typeface="Arial" panose="020B0604020202020204"/>
              </a:rPr>
              <a:t> change request</a:t>
            </a:r>
          </a:p>
          <a:p>
            <a:pPr marL="226695" lvl="0" indent="-171450" defTabSz="609570">
              <a:spcAft>
                <a:spcPts val="9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kern="0" dirty="0">
                <a:solidFill>
                  <a:srgbClr val="D0D0CE">
                    <a:lumMod val="25000"/>
                  </a:srgbClr>
                </a:solidFill>
                <a:latin typeface="Arial" panose="020B0604020202020204"/>
                <a:ea typeface="+mn-lt"/>
                <a:cs typeface="Arial" panose="020B0604020202020204"/>
              </a:rPr>
              <a:t>The pricing assumes engagement duration of 3.5 months or longer.</a:t>
            </a:r>
          </a:p>
          <a:p>
            <a:pPr marL="226695" lvl="0" indent="-171450" defTabSz="609570">
              <a:spcAft>
                <a:spcPts val="9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kern="0" dirty="0">
                <a:solidFill>
                  <a:srgbClr val="D0D0CE">
                    <a:lumMod val="25000"/>
                  </a:srgbClr>
                </a:solidFill>
                <a:latin typeface="Arial" panose="020B0604020202020204"/>
                <a:ea typeface="+mn-lt"/>
                <a:cs typeface="Arial" panose="020B0604020202020204"/>
              </a:rPr>
              <a:t>Cognizant resources will provide services to KeyBank from U.S. and India location.</a:t>
            </a:r>
          </a:p>
          <a:p>
            <a:pPr marL="226695" lvl="0" indent="-171450" defTabSz="609570">
              <a:spcAft>
                <a:spcPts val="9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kern="0" dirty="0">
                <a:solidFill>
                  <a:srgbClr val="D0D0CE">
                    <a:lumMod val="25000"/>
                  </a:srgbClr>
                </a:solidFill>
                <a:latin typeface="Arial" panose="020B0604020202020204"/>
                <a:ea typeface="+mn-lt"/>
                <a:cs typeface="Arial" panose="020B0604020202020204"/>
              </a:rPr>
              <a:t>Pricing does not cover any hardware and software costs specific to this engagement. It does not include any licensing costs, including those for third-party tools. All necessary software licenses will need to be provided by Huntington Bank.</a:t>
            </a:r>
          </a:p>
          <a:p>
            <a:pPr marL="226695" lvl="0" indent="-171450" defTabSz="609570">
              <a:spcAft>
                <a:spcPts val="9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kern="0" dirty="0">
                <a:solidFill>
                  <a:srgbClr val="D0D0CE">
                    <a:lumMod val="25000"/>
                  </a:srgbClr>
                </a:solidFill>
                <a:latin typeface="Arial" panose="020B0604020202020204"/>
                <a:ea typeface="+mn-lt"/>
                <a:cs typeface="Arial" panose="020B0604020202020204"/>
              </a:rPr>
              <a:t>Any changes in scope, assumptions, responsibility or delays in the project schedule including onboarding due to factors beyond Cognizant's control may necessitate a reevaluation of the pricing and will follow the established change request procedure.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3D9205-F32C-177C-C502-23389A5FD704}"/>
              </a:ext>
            </a:extLst>
          </p:cNvPr>
          <p:cNvSpPr txBox="1"/>
          <p:nvPr/>
        </p:nvSpPr>
        <p:spPr>
          <a:xfrm>
            <a:off x="402337" y="857917"/>
            <a:ext cx="113873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80808"/>
                </a:solidFill>
              </a:rPr>
              <a:t>To best align with KeyBank strategic and goals</a:t>
            </a:r>
            <a:r>
              <a:rPr lang="en-US" sz="1200" b="1" dirty="0">
                <a:solidFill>
                  <a:srgbClr val="080808"/>
                </a:solidFill>
              </a:rPr>
              <a:t>, </a:t>
            </a:r>
            <a:r>
              <a:rPr lang="en-US" sz="1200" dirty="0">
                <a:solidFill>
                  <a:srgbClr val="080808"/>
                </a:solidFill>
              </a:rPr>
              <a:t>Cognizant proposes Fixed Fee pricing model as mentioned below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10584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749E3-9627-AE87-2A32-151D229DB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7B9FC38-FA63-DA88-79B8-CB0056130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7" y="2542471"/>
            <a:ext cx="8168643" cy="498599"/>
          </a:xfrm>
        </p:spPr>
        <p:txBody>
          <a:bodyPr/>
          <a:lstStyle/>
          <a:p>
            <a:r>
              <a:rPr lang="en-US"/>
              <a:t>Case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A1492-8E87-66B9-734D-43061B4E4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799"/>
            <a:ext cx="365760" cy="228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60C1C-9B5F-460E-3392-3A51D505D5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400800"/>
            <a:ext cx="1371600" cy="228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</p:spTree>
    <p:extLst>
      <p:ext uri="{BB962C8B-B14F-4D97-AF65-F5344CB8AC3E}">
        <p14:creationId xmlns:p14="http://schemas.microsoft.com/office/powerpoint/2010/main" val="2806968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Cognizant Credential for Open JDK Migration – BFSI Client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22571CA-B23D-49E2-AFFA-37BDCAE757A1}"/>
              </a:ext>
            </a:extLst>
          </p:cNvPr>
          <p:cNvSpPr/>
          <p:nvPr/>
        </p:nvSpPr>
        <p:spPr>
          <a:xfrm>
            <a:off x="4381989" y="1277345"/>
            <a:ext cx="3200400" cy="338555"/>
          </a:xfrm>
          <a:prstGeom prst="rect">
            <a:avLst/>
          </a:prstGeom>
          <a:noFill/>
        </p:spPr>
        <p:txBody>
          <a:bodyPr wrap="square" lIns="274320" anchor="ctr">
            <a:noAutofit/>
          </a:bodyPr>
          <a:lstStyle/>
          <a:p>
            <a:pPr defTabSz="380920" eaLnBrk="0" hangingPunct="0">
              <a:defRPr/>
            </a:pPr>
            <a:r>
              <a:rPr lang="en-US" sz="1600" b="1">
                <a:solidFill>
                  <a:srgbClr val="000048"/>
                </a:solidFill>
                <a:effectLst>
                  <a:outerShdw blurRad="63500" sx="102000" sy="102000" algn="ctr" rotWithShape="0">
                    <a:prstClr val="white">
                      <a:alpha val="40000"/>
                    </a:prstClr>
                  </a:outerShdw>
                </a:effectLst>
                <a:latin typeface="+mj-lt"/>
                <a:cs typeface="Calibri" panose="020F0502020204030204" pitchFamily="34" charset="0"/>
              </a:rPr>
              <a:t>Objective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5064994-2D03-4385-A43D-8169F9ADF434}"/>
              </a:ext>
            </a:extLst>
          </p:cNvPr>
          <p:cNvSpPr/>
          <p:nvPr/>
        </p:nvSpPr>
        <p:spPr>
          <a:xfrm>
            <a:off x="4647765" y="1576691"/>
            <a:ext cx="7092960" cy="710147"/>
          </a:xfrm>
          <a:prstGeom prst="rect">
            <a:avLst/>
          </a:prstGeom>
          <a:ln>
            <a:noFill/>
          </a:ln>
        </p:spPr>
        <p:txBody>
          <a:bodyPr wrap="square" tIns="91440" anchor="t">
            <a:noAutofit/>
          </a:bodyPr>
          <a:lstStyle/>
          <a:p>
            <a:pPr defTabSz="1584760">
              <a:defRPr/>
            </a:pPr>
            <a:r>
              <a:rPr lang="en-US" sz="1200">
                <a:solidFill>
                  <a:srgbClr val="000048"/>
                </a:solidFill>
                <a:latin typeface="+mj-lt"/>
              </a:rPr>
              <a:t>The identified applications which are using Oracle JDK need to be converted to Azul Open JDK to save Licensing cost.  </a:t>
            </a:r>
            <a:r>
              <a:rPr lang="en-US" sz="1200">
                <a:solidFill>
                  <a:srgbClr val="000048"/>
                </a:solidFill>
                <a:latin typeface="+mj-lt"/>
                <a:ea typeface="Times New Roman" panose="02020603050405020304" pitchFamily="18" charset="0"/>
              </a:rPr>
              <a:t>Although both Oracle JDK and Azul Open JDK are same but there could minor differences in behavior and compatibility. It is essential to test the application thoroughly..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2475705-5D76-4773-AB1C-A52780FD70C9}"/>
              </a:ext>
            </a:extLst>
          </p:cNvPr>
          <p:cNvSpPr/>
          <p:nvPr/>
        </p:nvSpPr>
        <p:spPr>
          <a:xfrm>
            <a:off x="4381989" y="2423183"/>
            <a:ext cx="4299827" cy="338555"/>
          </a:xfrm>
          <a:prstGeom prst="rect">
            <a:avLst/>
          </a:prstGeom>
          <a:noFill/>
        </p:spPr>
        <p:txBody>
          <a:bodyPr wrap="square" lIns="274320">
            <a:noAutofit/>
          </a:bodyPr>
          <a:lstStyle/>
          <a:p>
            <a:pPr defTabSz="380920" eaLnBrk="0" hangingPunct="0">
              <a:defRPr/>
            </a:pPr>
            <a:r>
              <a:rPr lang="en-US" sz="1600" b="1">
                <a:solidFill>
                  <a:srgbClr val="000048"/>
                </a:solidFill>
                <a:effectLst>
                  <a:outerShdw blurRad="63500" sx="102000" sy="102000" algn="ctr" rotWithShape="0">
                    <a:prstClr val="white">
                      <a:alpha val="40000"/>
                    </a:prstClr>
                  </a:outerShdw>
                </a:effectLst>
                <a:latin typeface="+mj-lt"/>
                <a:cs typeface="Calibri" panose="020F0502020204030204" pitchFamily="34" charset="0"/>
              </a:rPr>
              <a:t>Solution Highlights, Challenges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57A9146-369D-4246-8187-5AB7DB2F2A94}"/>
              </a:ext>
            </a:extLst>
          </p:cNvPr>
          <p:cNvSpPr/>
          <p:nvPr/>
        </p:nvSpPr>
        <p:spPr>
          <a:xfrm>
            <a:off x="4381989" y="4897153"/>
            <a:ext cx="4299827" cy="338555"/>
          </a:xfrm>
          <a:prstGeom prst="rect">
            <a:avLst/>
          </a:prstGeom>
          <a:noFill/>
        </p:spPr>
        <p:txBody>
          <a:bodyPr wrap="square" lIns="274320">
            <a:noAutofit/>
          </a:bodyPr>
          <a:lstStyle/>
          <a:p>
            <a:pPr defTabSz="380920" eaLnBrk="0" hangingPunct="0">
              <a:defRPr/>
            </a:pPr>
            <a:r>
              <a:rPr lang="en-US" sz="1600" b="1">
                <a:solidFill>
                  <a:srgbClr val="000048"/>
                </a:solidFill>
                <a:effectLst>
                  <a:outerShdw blurRad="63500" sx="102000" sy="102000" algn="ctr" rotWithShape="0">
                    <a:prstClr val="white">
                      <a:alpha val="40000"/>
                    </a:prstClr>
                  </a:outerShdw>
                </a:effectLst>
                <a:latin typeface="+mj-lt"/>
                <a:cs typeface="Calibri" panose="020F0502020204030204" pitchFamily="34" charset="0"/>
              </a:rPr>
              <a:t>Business results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5DFCA97-4E78-4AD9-AF7B-2368F0B84945}"/>
              </a:ext>
            </a:extLst>
          </p:cNvPr>
          <p:cNvGrpSpPr/>
          <p:nvPr/>
        </p:nvGrpSpPr>
        <p:grpSpPr>
          <a:xfrm>
            <a:off x="1755433" y="1113417"/>
            <a:ext cx="1478625" cy="4405775"/>
            <a:chOff x="2010069" y="1113411"/>
            <a:chExt cx="1478625" cy="440577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DB942A0-8949-453A-87E6-85270A27A198}"/>
                </a:ext>
              </a:extLst>
            </p:cNvPr>
            <p:cNvSpPr/>
            <p:nvPr/>
          </p:nvSpPr>
          <p:spPr bwMode="auto">
            <a:xfrm rot="653219" flipH="1">
              <a:off x="2206294" y="1457854"/>
              <a:ext cx="1282400" cy="4052520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127000"/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74964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 b="1">
                <a:solidFill>
                  <a:prstClr val="black"/>
                </a:solidFill>
                <a:latin typeface="+mj-lt"/>
                <a:ea typeface="ＭＳ Ｐゴシック" pitchFamily="-12" charset="-128"/>
                <a:cs typeface="Calibri" panose="020F0502020204030204" pitchFamily="34" charset="0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C89C742-A3CC-4D8D-8E8B-8490F28F2299}"/>
                </a:ext>
              </a:extLst>
            </p:cNvPr>
            <p:cNvSpPr/>
            <p:nvPr/>
          </p:nvSpPr>
          <p:spPr bwMode="auto">
            <a:xfrm rot="653219" flipH="1">
              <a:off x="2010069" y="1113411"/>
              <a:ext cx="1267423" cy="4405775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74964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 b="1">
                <a:solidFill>
                  <a:prstClr val="black"/>
                </a:solidFill>
                <a:latin typeface="+mj-lt"/>
                <a:ea typeface="ＭＳ Ｐゴシック" pitchFamily="-12" charset="-128"/>
                <a:cs typeface="Calibri" panose="020F0502020204030204" pitchFamily="34" charset="0"/>
              </a:endParaRPr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42E15B10-5819-4CF4-850A-C46B6C7E9CA8}"/>
              </a:ext>
            </a:extLst>
          </p:cNvPr>
          <p:cNvSpPr/>
          <p:nvPr/>
        </p:nvSpPr>
        <p:spPr>
          <a:xfrm>
            <a:off x="228505" y="1233891"/>
            <a:ext cx="3197035" cy="321935"/>
          </a:xfrm>
          <a:prstGeom prst="rect">
            <a:avLst/>
          </a:prstGeom>
        </p:spPr>
        <p:txBody>
          <a:bodyPr wrap="square" lIns="74981" tIns="37491" rIns="74981" bIns="37491">
            <a:spAutoFit/>
          </a:bodyPr>
          <a:lstStyle/>
          <a:p>
            <a:pPr algn="ctr" defTabSz="374824" eaLnBrk="0" hangingPunct="0">
              <a:defRPr/>
            </a:pPr>
            <a:r>
              <a:rPr lang="pt-BR" sz="1600" b="1">
                <a:solidFill>
                  <a:srgbClr val="000048"/>
                </a:solidFill>
                <a:effectLst>
                  <a:outerShdw blurRad="63500" sx="102000" sy="102000" algn="ctr" rotWithShape="0">
                    <a:prstClr val="white">
                      <a:alpha val="40000"/>
                    </a:prstClr>
                  </a:outerShdw>
                </a:effectLst>
                <a:latin typeface="+mj-lt"/>
                <a:cs typeface="Calibri" panose="020F0502020204030204" pitchFamily="34" charset="0"/>
              </a:rPr>
              <a:t>Key Highlights</a:t>
            </a:r>
            <a:endParaRPr lang="en-US" sz="1600" b="1">
              <a:solidFill>
                <a:srgbClr val="000048"/>
              </a:solidFill>
              <a:effectLst>
                <a:outerShdw blurRad="63500" sx="102000" sy="102000" algn="ctr" rotWithShape="0">
                  <a:prstClr val="white">
                    <a:alpha val="40000"/>
                  </a:prstClr>
                </a:outerShdw>
              </a:effectLst>
              <a:latin typeface="+mj-lt"/>
              <a:cs typeface="Calibri" panose="020F0502020204030204" pitchFamily="34" charset="0"/>
            </a:endParaRPr>
          </a:p>
        </p:txBody>
      </p:sp>
      <p:sp>
        <p:nvSpPr>
          <p:cNvPr id="95" name="Freeform 55">
            <a:extLst>
              <a:ext uri="{FF2B5EF4-FFF2-40B4-BE49-F238E27FC236}">
                <a16:creationId xmlns:a16="http://schemas.microsoft.com/office/drawing/2014/main" id="{0C7AE297-0BB1-4C94-93F5-35A640A5776B}"/>
              </a:ext>
            </a:extLst>
          </p:cNvPr>
          <p:cNvSpPr/>
          <p:nvPr/>
        </p:nvSpPr>
        <p:spPr>
          <a:xfrm>
            <a:off x="2809874" y="4395108"/>
            <a:ext cx="113580" cy="98665"/>
          </a:xfrm>
          <a:custGeom>
            <a:avLst/>
            <a:gdLst>
              <a:gd name="connsiteX0" fmla="*/ 12700 w 107950"/>
              <a:gd name="connsiteY0" fmla="*/ 0 h 92075"/>
              <a:gd name="connsiteX1" fmla="*/ 0 w 107950"/>
              <a:gd name="connsiteY1" fmla="*/ 92075 h 92075"/>
              <a:gd name="connsiteX2" fmla="*/ 107950 w 107950"/>
              <a:gd name="connsiteY2" fmla="*/ 88900 h 92075"/>
              <a:gd name="connsiteX3" fmla="*/ 12700 w 107950"/>
              <a:gd name="connsiteY3" fmla="*/ 0 h 92075"/>
              <a:gd name="connsiteX0" fmla="*/ 12700 w 112713"/>
              <a:gd name="connsiteY0" fmla="*/ 0 h 93662"/>
              <a:gd name="connsiteX1" fmla="*/ 0 w 112713"/>
              <a:gd name="connsiteY1" fmla="*/ 92075 h 93662"/>
              <a:gd name="connsiteX2" fmla="*/ 112713 w 112713"/>
              <a:gd name="connsiteY2" fmla="*/ 93662 h 93662"/>
              <a:gd name="connsiteX3" fmla="*/ 12700 w 112713"/>
              <a:gd name="connsiteY3" fmla="*/ 0 h 93662"/>
              <a:gd name="connsiteX0" fmla="*/ 12700 w 115094"/>
              <a:gd name="connsiteY0" fmla="*/ 0 h 92075"/>
              <a:gd name="connsiteX1" fmla="*/ 0 w 115094"/>
              <a:gd name="connsiteY1" fmla="*/ 92075 h 92075"/>
              <a:gd name="connsiteX2" fmla="*/ 115094 w 115094"/>
              <a:gd name="connsiteY2" fmla="*/ 91281 h 92075"/>
              <a:gd name="connsiteX3" fmla="*/ 12700 w 115094"/>
              <a:gd name="connsiteY3" fmla="*/ 0 h 9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094" h="92075">
                <a:moveTo>
                  <a:pt x="12700" y="0"/>
                </a:moveTo>
                <a:lnTo>
                  <a:pt x="0" y="92075"/>
                </a:lnTo>
                <a:lnTo>
                  <a:pt x="115094" y="91281"/>
                </a:lnTo>
                <a:lnTo>
                  <a:pt x="12700" y="0"/>
                </a:lnTo>
                <a:close/>
              </a:path>
            </a:pathLst>
          </a:custGeom>
          <a:solidFill>
            <a:srgbClr val="BDCFFF">
              <a:lumMod val="25000"/>
            </a:srgbClr>
          </a:solidFill>
          <a:ln w="9525" cap="flat" cmpd="sng" algn="ctr">
            <a:noFill/>
            <a:prstDash val="solid"/>
          </a:ln>
          <a:effectLst/>
        </p:spPr>
        <p:txBody>
          <a:bodyPr lIns="0" tIns="37491" rIns="0" bIns="37491" rtlCol="0" anchor="ctr"/>
          <a:lstStyle/>
          <a:p>
            <a:pPr algn="ctr" defTabSz="74961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100" b="1">
              <a:solidFill>
                <a:prstClr val="white"/>
              </a:solidFill>
              <a:latin typeface="+mj-lt"/>
              <a:ea typeface="ＭＳ Ｐゴシック" pitchFamily="-112" charset="-128"/>
              <a:cs typeface="Calibri" panose="020F0502020204030204" pitchFamily="34" charset="0"/>
            </a:endParaRPr>
          </a:p>
        </p:txBody>
      </p:sp>
      <p:sp>
        <p:nvSpPr>
          <p:cNvPr id="81" name="Freeform 46">
            <a:extLst>
              <a:ext uri="{FF2B5EF4-FFF2-40B4-BE49-F238E27FC236}">
                <a16:creationId xmlns:a16="http://schemas.microsoft.com/office/drawing/2014/main" id="{020C4B9C-1656-4E44-8A07-4AFDC53BEB68}"/>
              </a:ext>
            </a:extLst>
          </p:cNvPr>
          <p:cNvSpPr/>
          <p:nvPr/>
        </p:nvSpPr>
        <p:spPr>
          <a:xfrm>
            <a:off x="3018968" y="2274553"/>
            <a:ext cx="90933" cy="76729"/>
          </a:xfrm>
          <a:custGeom>
            <a:avLst/>
            <a:gdLst>
              <a:gd name="connsiteX0" fmla="*/ 12700 w 107950"/>
              <a:gd name="connsiteY0" fmla="*/ 0 h 92075"/>
              <a:gd name="connsiteX1" fmla="*/ 0 w 107950"/>
              <a:gd name="connsiteY1" fmla="*/ 92075 h 92075"/>
              <a:gd name="connsiteX2" fmla="*/ 107950 w 107950"/>
              <a:gd name="connsiteY2" fmla="*/ 88900 h 92075"/>
              <a:gd name="connsiteX3" fmla="*/ 12700 w 107950"/>
              <a:gd name="connsiteY3" fmla="*/ 0 h 92075"/>
              <a:gd name="connsiteX0" fmla="*/ 12700 w 112713"/>
              <a:gd name="connsiteY0" fmla="*/ 0 h 93662"/>
              <a:gd name="connsiteX1" fmla="*/ 0 w 112713"/>
              <a:gd name="connsiteY1" fmla="*/ 92075 h 93662"/>
              <a:gd name="connsiteX2" fmla="*/ 112713 w 112713"/>
              <a:gd name="connsiteY2" fmla="*/ 93662 h 93662"/>
              <a:gd name="connsiteX3" fmla="*/ 12700 w 112713"/>
              <a:gd name="connsiteY3" fmla="*/ 0 h 93662"/>
              <a:gd name="connsiteX0" fmla="*/ 12700 w 115094"/>
              <a:gd name="connsiteY0" fmla="*/ 0 h 92075"/>
              <a:gd name="connsiteX1" fmla="*/ 0 w 115094"/>
              <a:gd name="connsiteY1" fmla="*/ 92075 h 92075"/>
              <a:gd name="connsiteX2" fmla="*/ 115094 w 115094"/>
              <a:gd name="connsiteY2" fmla="*/ 91281 h 92075"/>
              <a:gd name="connsiteX3" fmla="*/ 12700 w 115094"/>
              <a:gd name="connsiteY3" fmla="*/ 0 h 9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094" h="92075">
                <a:moveTo>
                  <a:pt x="12700" y="0"/>
                </a:moveTo>
                <a:lnTo>
                  <a:pt x="0" y="92075"/>
                </a:lnTo>
                <a:lnTo>
                  <a:pt x="115094" y="91281"/>
                </a:lnTo>
                <a:lnTo>
                  <a:pt x="12700" y="0"/>
                </a:lnTo>
                <a:close/>
              </a:path>
            </a:pathLst>
          </a:custGeom>
          <a:solidFill>
            <a:srgbClr val="BDCFFF">
              <a:lumMod val="25000"/>
            </a:srgbClr>
          </a:solidFill>
          <a:ln w="9525" cap="flat" cmpd="sng" algn="ctr">
            <a:noFill/>
            <a:prstDash val="solid"/>
          </a:ln>
          <a:effectLst/>
        </p:spPr>
        <p:txBody>
          <a:bodyPr lIns="74981" tIns="37491" rIns="74981" bIns="37491" rtlCol="0" anchor="ctr"/>
          <a:lstStyle/>
          <a:p>
            <a:pPr algn="ctr" defTabSz="374824">
              <a:defRPr/>
            </a:pPr>
            <a:endParaRPr lang="en-US" sz="1300">
              <a:solidFill>
                <a:prstClr val="white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99D0EE8-02A5-4188-9B41-120363768397}"/>
              </a:ext>
            </a:extLst>
          </p:cNvPr>
          <p:cNvSpPr/>
          <p:nvPr/>
        </p:nvSpPr>
        <p:spPr>
          <a:xfrm>
            <a:off x="4381990" y="2699328"/>
            <a:ext cx="7596948" cy="1879155"/>
          </a:xfrm>
          <a:prstGeom prst="rect">
            <a:avLst/>
          </a:prstGeom>
          <a:ln>
            <a:noFill/>
          </a:ln>
        </p:spPr>
        <p:txBody>
          <a:bodyPr wrap="square" tIns="91440" anchor="t">
            <a:noAutofit/>
          </a:bodyPr>
          <a:lstStyle/>
          <a:p>
            <a:pPr marL="457189" indent="-228594" defTabSz="1584760">
              <a:spcBef>
                <a:spcPts val="667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48"/>
                </a:solidFill>
                <a:latin typeface="+mj-lt"/>
                <a:cs typeface="Calibri" panose="020F0502020204030204" pitchFamily="34" charset="0"/>
              </a:rPr>
              <a:t>Migration plan based on application scenario grouping ( e.g. all Tomcat hosted applications )</a:t>
            </a:r>
          </a:p>
          <a:p>
            <a:pPr marL="457189" indent="-228594" defTabSz="1584760">
              <a:spcBef>
                <a:spcPts val="667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48"/>
                </a:solidFill>
                <a:latin typeface="+mj-lt"/>
                <a:cs typeface="Calibri" panose="020F0502020204030204" pitchFamily="34" charset="0"/>
              </a:rPr>
              <a:t>Ecosystem / Dependency analysis for readiness to target OpenJDK</a:t>
            </a:r>
          </a:p>
          <a:p>
            <a:pPr marL="457189" indent="-228594" defTabSz="1584760">
              <a:spcBef>
                <a:spcPts val="667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48"/>
                </a:solidFill>
                <a:latin typeface="+mj-lt"/>
                <a:cs typeface="Calibri" panose="020F0502020204030204" pitchFamily="34" charset="0"/>
              </a:rPr>
              <a:t>Formalizing a migration plan based on technical complexity and business criticality</a:t>
            </a:r>
          </a:p>
          <a:p>
            <a:pPr marL="457189" indent="-228594" defTabSz="1584760">
              <a:spcBef>
                <a:spcPts val="667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48"/>
                </a:solidFill>
                <a:latin typeface="+mj-lt"/>
                <a:cs typeface="Calibri" panose="020F0502020204030204" pitchFamily="34" charset="0"/>
              </a:rPr>
              <a:t>Vendor support was required  to make Security adjustments for component such as Applets to work at workstations</a:t>
            </a:r>
          </a:p>
          <a:p>
            <a:pPr marL="457189" indent="-228594" defTabSz="1584760">
              <a:spcBef>
                <a:spcPts val="667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48"/>
                </a:solidFill>
                <a:latin typeface="+mj-lt"/>
                <a:cs typeface="Calibri" panose="020F0502020204030204" pitchFamily="34" charset="0"/>
              </a:rPr>
              <a:t>Performance testing to ensure no performance degrade </a:t>
            </a:r>
          </a:p>
          <a:p>
            <a:pPr marL="457189" indent="-228594" defTabSz="1584760">
              <a:spcBef>
                <a:spcPts val="667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48"/>
                </a:solidFill>
                <a:latin typeface="+mj-lt"/>
                <a:cs typeface="Calibri" panose="020F0502020204030204" pitchFamily="34" charset="0"/>
              </a:rPr>
              <a:t>Azul JDK has offers different support models. if required, we can take professional support from Azul.</a:t>
            </a:r>
          </a:p>
          <a:p>
            <a:pPr marL="457189" indent="-228594" defTabSz="1584760">
              <a:spcBef>
                <a:spcPts val="667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48"/>
                </a:solidFill>
                <a:latin typeface="+mj-lt"/>
                <a:cs typeface="Calibri" panose="020F0502020204030204" pitchFamily="34" charset="0"/>
              </a:rPr>
              <a:t>Azul JDK also has high permanence capabilities, but we have to fine tuning to achieve the optimal results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A611BAA-AA19-4400-98BB-F498E6C84C37}"/>
              </a:ext>
            </a:extLst>
          </p:cNvPr>
          <p:cNvSpPr/>
          <p:nvPr/>
        </p:nvSpPr>
        <p:spPr>
          <a:xfrm>
            <a:off x="4381990" y="5176263"/>
            <a:ext cx="7596948" cy="1172044"/>
          </a:xfrm>
          <a:prstGeom prst="rect">
            <a:avLst/>
          </a:prstGeom>
          <a:ln>
            <a:noFill/>
          </a:ln>
        </p:spPr>
        <p:txBody>
          <a:bodyPr wrap="square" tIns="91440" anchor="t">
            <a:noAutofit/>
          </a:bodyPr>
          <a:lstStyle/>
          <a:p>
            <a:pPr marL="457189" indent="-228594" defTabSz="1584760">
              <a:spcBef>
                <a:spcPts val="667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48"/>
                </a:solidFill>
                <a:latin typeface="+mj-lt"/>
                <a:cs typeface="Calibri" panose="020F0502020204030204" pitchFamily="34" charset="0"/>
              </a:rPr>
              <a:t>License cost saving</a:t>
            </a:r>
          </a:p>
          <a:p>
            <a:pPr marL="457189" indent="-228594" defTabSz="1584760">
              <a:spcBef>
                <a:spcPts val="667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48"/>
                </a:solidFill>
                <a:latin typeface="+mj-lt"/>
                <a:cs typeface="Calibri" panose="020F0502020204030204" pitchFamily="34" charset="0"/>
              </a:rPr>
              <a:t>Higher level of automation in App server and framework migration</a:t>
            </a:r>
          </a:p>
          <a:p>
            <a:pPr marL="457189" indent="-228594" defTabSz="1584760">
              <a:spcBef>
                <a:spcPts val="667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48"/>
                </a:solidFill>
                <a:latin typeface="+mj-lt"/>
                <a:cs typeface="Calibri" panose="020F0502020204030204" pitchFamily="34" charset="0"/>
              </a:rPr>
              <a:t>Ease of customization to include new rules / transform server configurations</a:t>
            </a:r>
          </a:p>
          <a:p>
            <a:pPr marL="457189" indent="-228594" defTabSz="1584760">
              <a:spcBef>
                <a:spcPts val="667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48"/>
                </a:solidFill>
                <a:latin typeface="+mj-lt"/>
                <a:cs typeface="Calibri" panose="020F0502020204030204" pitchFamily="34" charset="0"/>
              </a:rPr>
              <a:t>Azul provides long term support for their Open JDK distributions.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FE06E23-95D1-4A03-8F69-36B5B9E81788}"/>
              </a:ext>
            </a:extLst>
          </p:cNvPr>
          <p:cNvSpPr/>
          <p:nvPr/>
        </p:nvSpPr>
        <p:spPr>
          <a:xfrm>
            <a:off x="0" y="1723751"/>
            <a:ext cx="1566421" cy="731520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09515">
              <a:defRPr/>
            </a:pPr>
            <a:endParaRPr lang="en-US" sz="2417">
              <a:solidFill>
                <a:prstClr val="white"/>
              </a:solidFill>
              <a:latin typeface="+mj-lt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3B0C3A6-55F4-422A-94D9-D2BDFEFCA2C8}"/>
              </a:ext>
            </a:extLst>
          </p:cNvPr>
          <p:cNvSpPr/>
          <p:nvPr/>
        </p:nvSpPr>
        <p:spPr>
          <a:xfrm>
            <a:off x="1" y="2619383"/>
            <a:ext cx="1429715" cy="731520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09515">
              <a:defRPr/>
            </a:pPr>
            <a:endParaRPr lang="en-US" sz="2417">
              <a:solidFill>
                <a:prstClr val="white"/>
              </a:solidFill>
              <a:latin typeface="+mj-lt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1188B32-1485-4DDB-ACE3-B713A40E0BF3}"/>
              </a:ext>
            </a:extLst>
          </p:cNvPr>
          <p:cNvSpPr/>
          <p:nvPr/>
        </p:nvSpPr>
        <p:spPr>
          <a:xfrm>
            <a:off x="-3345" y="3510807"/>
            <a:ext cx="1068769" cy="731520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09515">
              <a:defRPr/>
            </a:pPr>
            <a:endParaRPr lang="en-US" sz="2417">
              <a:solidFill>
                <a:prstClr val="white"/>
              </a:solidFill>
              <a:latin typeface="+mj-lt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38E5FC7-0F47-42AF-A702-C669B93EE7D3}"/>
              </a:ext>
            </a:extLst>
          </p:cNvPr>
          <p:cNvSpPr/>
          <p:nvPr/>
        </p:nvSpPr>
        <p:spPr>
          <a:xfrm>
            <a:off x="-3345" y="4487424"/>
            <a:ext cx="1068769" cy="1005840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09515">
              <a:defRPr/>
            </a:pPr>
            <a:endParaRPr lang="en-US" sz="2417">
              <a:solidFill>
                <a:prstClr val="white"/>
              </a:solidFill>
              <a:latin typeface="+mj-lt"/>
            </a:endParaRPr>
          </a:p>
        </p:txBody>
      </p:sp>
      <p:sp>
        <p:nvSpPr>
          <p:cNvPr id="88" name="Parallelogram 87">
            <a:extLst>
              <a:ext uri="{FF2B5EF4-FFF2-40B4-BE49-F238E27FC236}">
                <a16:creationId xmlns:a16="http://schemas.microsoft.com/office/drawing/2014/main" id="{3F61864F-6F3D-4058-A8A2-E9A8F1C166D1}"/>
              </a:ext>
            </a:extLst>
          </p:cNvPr>
          <p:cNvSpPr/>
          <p:nvPr/>
        </p:nvSpPr>
        <p:spPr>
          <a:xfrm>
            <a:off x="1229019" y="1723751"/>
            <a:ext cx="2189728" cy="731520"/>
          </a:xfrm>
          <a:prstGeom prst="parallelogram">
            <a:avLst>
              <a:gd name="adj" fmla="val 18651"/>
            </a:avLst>
          </a:prstGeom>
          <a:solidFill>
            <a:srgbClr val="2F78C4"/>
          </a:solidFill>
          <a:ln w="9525" cap="flat" cmpd="sng" algn="ctr">
            <a:noFill/>
            <a:prstDash val="solid"/>
          </a:ln>
          <a:effectLst/>
        </p:spPr>
        <p:txBody>
          <a:bodyPr lIns="0" tIns="37491" rIns="0" bIns="37491" rtlCol="0" anchor="ctr"/>
          <a:lstStyle/>
          <a:p>
            <a:pPr defTabSz="1219018">
              <a:spcAft>
                <a:spcPts val="356"/>
              </a:spcAft>
              <a:buSzPct val="100000"/>
              <a:defRPr/>
            </a:pPr>
            <a:r>
              <a:rPr lang="en-US" sz="1100" b="1" kern="0">
                <a:solidFill>
                  <a:prstClr val="white"/>
                </a:solidFill>
                <a:latin typeface="+mj-lt"/>
                <a:cs typeface="Calibri" panose="020F0502020204030204" pitchFamily="34" charset="0"/>
              </a:rPr>
              <a:t>Migrating Oracle JDK to Azul Open JDK (Same version)</a:t>
            </a:r>
            <a:endParaRPr lang="en-US" sz="1067" b="1">
              <a:solidFill>
                <a:srgbClr val="FFFFFF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89" name="Parallelogram 88">
            <a:extLst>
              <a:ext uri="{FF2B5EF4-FFF2-40B4-BE49-F238E27FC236}">
                <a16:creationId xmlns:a16="http://schemas.microsoft.com/office/drawing/2014/main" id="{9D5ABA87-EF75-4B46-B5C0-C0326006FF12}"/>
              </a:ext>
            </a:extLst>
          </p:cNvPr>
          <p:cNvSpPr/>
          <p:nvPr/>
        </p:nvSpPr>
        <p:spPr>
          <a:xfrm>
            <a:off x="924563" y="3510807"/>
            <a:ext cx="2161276" cy="731520"/>
          </a:xfrm>
          <a:prstGeom prst="parallelogram">
            <a:avLst>
              <a:gd name="adj" fmla="val 18651"/>
            </a:avLst>
          </a:prstGeom>
          <a:solidFill>
            <a:srgbClr val="2F78C4"/>
          </a:solidFill>
          <a:ln w="9525" cap="flat" cmpd="sng" algn="ctr">
            <a:noFill/>
            <a:prstDash val="solid"/>
          </a:ln>
          <a:effectLst/>
        </p:spPr>
        <p:txBody>
          <a:bodyPr lIns="0" tIns="37491" rIns="0" bIns="37491" rtlCol="0" anchor="ctr"/>
          <a:lstStyle/>
          <a:p>
            <a:pPr algn="just" defTabSz="1219018">
              <a:spcAft>
                <a:spcPts val="356"/>
              </a:spcAft>
              <a:buSzPct val="100000"/>
              <a:defRPr/>
            </a:pPr>
            <a:r>
              <a:rPr lang="en-US" sz="1067" b="1">
                <a:solidFill>
                  <a:srgbClr val="FFFFFF"/>
                </a:solidFill>
                <a:latin typeface="+mj-lt"/>
                <a:cs typeface="Calibri" panose="020F0502020204030204" pitchFamily="34" charset="0"/>
              </a:rPr>
              <a:t>Team size: ~8  members  Applications: ~30 Apps</a:t>
            </a:r>
          </a:p>
        </p:txBody>
      </p:sp>
      <p:sp>
        <p:nvSpPr>
          <p:cNvPr id="90" name="Parallelogram 89">
            <a:extLst>
              <a:ext uri="{FF2B5EF4-FFF2-40B4-BE49-F238E27FC236}">
                <a16:creationId xmlns:a16="http://schemas.microsoft.com/office/drawing/2014/main" id="{8B865D7F-80D6-46BB-AF8F-9C7FD59DC081}"/>
              </a:ext>
            </a:extLst>
          </p:cNvPr>
          <p:cNvSpPr/>
          <p:nvPr/>
        </p:nvSpPr>
        <p:spPr>
          <a:xfrm>
            <a:off x="1057176" y="2619383"/>
            <a:ext cx="2198681" cy="731520"/>
          </a:xfrm>
          <a:prstGeom prst="parallelogram">
            <a:avLst>
              <a:gd name="adj" fmla="val 18651"/>
            </a:avLst>
          </a:prstGeom>
          <a:solidFill>
            <a:srgbClr val="2F78C4"/>
          </a:solidFill>
          <a:ln w="9525" cap="flat" cmpd="sng" algn="ctr">
            <a:noFill/>
            <a:prstDash val="solid"/>
          </a:ln>
          <a:effectLst/>
        </p:spPr>
        <p:txBody>
          <a:bodyPr lIns="0" tIns="37491" rIns="0" bIns="37491" rtlCol="0" anchor="ctr"/>
          <a:lstStyle/>
          <a:p>
            <a:pPr algn="just" defTabSz="1219018">
              <a:spcAft>
                <a:spcPts val="356"/>
              </a:spcAft>
              <a:buSzPct val="100000"/>
              <a:defRPr/>
            </a:pPr>
            <a:r>
              <a:rPr lang="en-US" sz="1067" b="1">
                <a:solidFill>
                  <a:srgbClr val="FFFFFF"/>
                </a:solidFill>
                <a:latin typeface="+mj-lt"/>
                <a:cs typeface="Calibri" panose="020F0502020204030204" pitchFamily="34" charset="0"/>
              </a:rPr>
              <a:t>Timeline : ~3 months</a:t>
            </a:r>
          </a:p>
        </p:txBody>
      </p:sp>
      <p:sp>
        <p:nvSpPr>
          <p:cNvPr id="91" name="Parallelogram 90">
            <a:extLst>
              <a:ext uri="{FF2B5EF4-FFF2-40B4-BE49-F238E27FC236}">
                <a16:creationId xmlns:a16="http://schemas.microsoft.com/office/drawing/2014/main" id="{179804B8-7F69-4D17-9140-3B66F3230A7F}"/>
              </a:ext>
            </a:extLst>
          </p:cNvPr>
          <p:cNvSpPr/>
          <p:nvPr/>
        </p:nvSpPr>
        <p:spPr>
          <a:xfrm>
            <a:off x="701041" y="4493031"/>
            <a:ext cx="2216227" cy="1005840"/>
          </a:xfrm>
          <a:prstGeom prst="parallelogram">
            <a:avLst>
              <a:gd name="adj" fmla="val 18651"/>
            </a:avLst>
          </a:prstGeom>
          <a:solidFill>
            <a:srgbClr val="2F78C4"/>
          </a:solidFill>
          <a:ln w="9525" cap="flat" cmpd="sng" algn="ctr">
            <a:noFill/>
            <a:prstDash val="solid"/>
          </a:ln>
          <a:effectLst/>
        </p:spPr>
        <p:txBody>
          <a:bodyPr lIns="0" tIns="37491" rIns="0" bIns="37491" rtlCol="0" anchor="ctr"/>
          <a:lstStyle/>
          <a:p>
            <a:pPr defTabSz="74961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67" b="1">
                <a:solidFill>
                  <a:prstClr val="white"/>
                </a:solidFill>
                <a:latin typeface="+mj-lt"/>
                <a:ea typeface="ＭＳ Ｐゴシック" pitchFamily="-112" charset="-128"/>
                <a:cs typeface="Calibri" panose="020F0502020204030204" pitchFamily="34" charset="0"/>
              </a:rPr>
              <a:t>Technology Stack:</a:t>
            </a:r>
          </a:p>
          <a:p>
            <a:pPr marL="226478" indent="-146047" algn="just" defTabSz="74961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67" b="1">
                <a:solidFill>
                  <a:srgbClr val="FFFFFF"/>
                </a:solidFill>
                <a:latin typeface="+mj-lt"/>
                <a:cs typeface="Calibri" panose="020F0502020204030204" pitchFamily="34" charset="0"/>
              </a:rPr>
              <a:t>Application Servers/Web Servers</a:t>
            </a:r>
          </a:p>
          <a:p>
            <a:pPr marL="226478" indent="-146047" algn="just" defTabSz="74961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67" b="1">
                <a:solidFill>
                  <a:srgbClr val="FFFFFF"/>
                </a:solidFill>
                <a:latin typeface="+mj-lt"/>
                <a:cs typeface="Calibri" panose="020F0502020204030204" pitchFamily="34" charset="0"/>
              </a:rPr>
              <a:t>DevOps Pipeline</a:t>
            </a:r>
          </a:p>
          <a:p>
            <a:pPr marL="226478" indent="-146047" algn="just" defTabSz="74961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67" b="1">
                <a:solidFill>
                  <a:srgbClr val="FFFFFF"/>
                </a:solidFill>
                <a:latin typeface="+mj-lt"/>
                <a:cs typeface="Calibri" panose="020F0502020204030204" pitchFamily="34" charset="0"/>
              </a:rPr>
              <a:t>Application Codebase</a:t>
            </a:r>
          </a:p>
          <a:p>
            <a:pPr marL="226478" indent="-146047" algn="just" defTabSz="74961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67" b="1">
                <a:solidFill>
                  <a:srgbClr val="FFFFFF"/>
                </a:solidFill>
                <a:latin typeface="+mj-lt"/>
                <a:cs typeface="Calibri" panose="020F0502020204030204" pitchFamily="34" charset="0"/>
              </a:rPr>
              <a:t>Workstations</a:t>
            </a:r>
          </a:p>
        </p:txBody>
      </p:sp>
      <p:sp>
        <p:nvSpPr>
          <p:cNvPr id="92" name="Freeform 52">
            <a:extLst>
              <a:ext uri="{FF2B5EF4-FFF2-40B4-BE49-F238E27FC236}">
                <a16:creationId xmlns:a16="http://schemas.microsoft.com/office/drawing/2014/main" id="{565D53F3-1D9B-4737-BFCE-E52DBC07B0AC}"/>
              </a:ext>
            </a:extLst>
          </p:cNvPr>
          <p:cNvSpPr/>
          <p:nvPr/>
        </p:nvSpPr>
        <p:spPr>
          <a:xfrm>
            <a:off x="3326562" y="1655364"/>
            <a:ext cx="93265" cy="76729"/>
          </a:xfrm>
          <a:custGeom>
            <a:avLst/>
            <a:gdLst>
              <a:gd name="connsiteX0" fmla="*/ 12700 w 107950"/>
              <a:gd name="connsiteY0" fmla="*/ 0 h 92075"/>
              <a:gd name="connsiteX1" fmla="*/ 0 w 107950"/>
              <a:gd name="connsiteY1" fmla="*/ 92075 h 92075"/>
              <a:gd name="connsiteX2" fmla="*/ 107950 w 107950"/>
              <a:gd name="connsiteY2" fmla="*/ 88900 h 92075"/>
              <a:gd name="connsiteX3" fmla="*/ 12700 w 107950"/>
              <a:gd name="connsiteY3" fmla="*/ 0 h 92075"/>
              <a:gd name="connsiteX0" fmla="*/ 12700 w 112713"/>
              <a:gd name="connsiteY0" fmla="*/ 0 h 93662"/>
              <a:gd name="connsiteX1" fmla="*/ 0 w 112713"/>
              <a:gd name="connsiteY1" fmla="*/ 92075 h 93662"/>
              <a:gd name="connsiteX2" fmla="*/ 112713 w 112713"/>
              <a:gd name="connsiteY2" fmla="*/ 93662 h 93662"/>
              <a:gd name="connsiteX3" fmla="*/ 12700 w 112713"/>
              <a:gd name="connsiteY3" fmla="*/ 0 h 93662"/>
              <a:gd name="connsiteX0" fmla="*/ 12700 w 115094"/>
              <a:gd name="connsiteY0" fmla="*/ 0 h 92075"/>
              <a:gd name="connsiteX1" fmla="*/ 0 w 115094"/>
              <a:gd name="connsiteY1" fmla="*/ 92075 h 92075"/>
              <a:gd name="connsiteX2" fmla="*/ 115094 w 115094"/>
              <a:gd name="connsiteY2" fmla="*/ 91281 h 92075"/>
              <a:gd name="connsiteX3" fmla="*/ 12700 w 115094"/>
              <a:gd name="connsiteY3" fmla="*/ 0 h 9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094" h="92075">
                <a:moveTo>
                  <a:pt x="12700" y="0"/>
                </a:moveTo>
                <a:lnTo>
                  <a:pt x="0" y="92075"/>
                </a:lnTo>
                <a:lnTo>
                  <a:pt x="115094" y="91281"/>
                </a:lnTo>
                <a:lnTo>
                  <a:pt x="12700" y="0"/>
                </a:lnTo>
                <a:close/>
              </a:path>
            </a:pathLst>
          </a:custGeom>
          <a:solidFill>
            <a:srgbClr val="00195A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380948">
              <a:defRPr/>
            </a:pPr>
            <a:endParaRPr lang="en-US" sz="1333">
              <a:solidFill>
                <a:prstClr val="white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93" name="Freeform 53">
            <a:extLst>
              <a:ext uri="{FF2B5EF4-FFF2-40B4-BE49-F238E27FC236}">
                <a16:creationId xmlns:a16="http://schemas.microsoft.com/office/drawing/2014/main" id="{FAE65EF5-C5E2-4269-9A46-74EC2B905E2D}"/>
              </a:ext>
            </a:extLst>
          </p:cNvPr>
          <p:cNvSpPr/>
          <p:nvPr/>
        </p:nvSpPr>
        <p:spPr>
          <a:xfrm>
            <a:off x="3168725" y="2542904"/>
            <a:ext cx="93265" cy="76729"/>
          </a:xfrm>
          <a:custGeom>
            <a:avLst/>
            <a:gdLst>
              <a:gd name="connsiteX0" fmla="*/ 12700 w 107950"/>
              <a:gd name="connsiteY0" fmla="*/ 0 h 92075"/>
              <a:gd name="connsiteX1" fmla="*/ 0 w 107950"/>
              <a:gd name="connsiteY1" fmla="*/ 92075 h 92075"/>
              <a:gd name="connsiteX2" fmla="*/ 107950 w 107950"/>
              <a:gd name="connsiteY2" fmla="*/ 88900 h 92075"/>
              <a:gd name="connsiteX3" fmla="*/ 12700 w 107950"/>
              <a:gd name="connsiteY3" fmla="*/ 0 h 92075"/>
              <a:gd name="connsiteX0" fmla="*/ 12700 w 112713"/>
              <a:gd name="connsiteY0" fmla="*/ 0 h 93662"/>
              <a:gd name="connsiteX1" fmla="*/ 0 w 112713"/>
              <a:gd name="connsiteY1" fmla="*/ 92075 h 93662"/>
              <a:gd name="connsiteX2" fmla="*/ 112713 w 112713"/>
              <a:gd name="connsiteY2" fmla="*/ 93662 h 93662"/>
              <a:gd name="connsiteX3" fmla="*/ 12700 w 112713"/>
              <a:gd name="connsiteY3" fmla="*/ 0 h 93662"/>
              <a:gd name="connsiteX0" fmla="*/ 12700 w 115094"/>
              <a:gd name="connsiteY0" fmla="*/ 0 h 92075"/>
              <a:gd name="connsiteX1" fmla="*/ 0 w 115094"/>
              <a:gd name="connsiteY1" fmla="*/ 92075 h 92075"/>
              <a:gd name="connsiteX2" fmla="*/ 115094 w 115094"/>
              <a:gd name="connsiteY2" fmla="*/ 91281 h 92075"/>
              <a:gd name="connsiteX3" fmla="*/ 12700 w 115094"/>
              <a:gd name="connsiteY3" fmla="*/ 0 h 9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094" h="92075">
                <a:moveTo>
                  <a:pt x="12700" y="0"/>
                </a:moveTo>
                <a:lnTo>
                  <a:pt x="0" y="92075"/>
                </a:lnTo>
                <a:lnTo>
                  <a:pt x="115094" y="91281"/>
                </a:lnTo>
                <a:lnTo>
                  <a:pt x="12700" y="0"/>
                </a:lnTo>
                <a:close/>
              </a:path>
            </a:pathLst>
          </a:custGeom>
          <a:solidFill>
            <a:srgbClr val="BDCFFF">
              <a:lumMod val="25000"/>
            </a:srgbClr>
          </a:solidFill>
          <a:ln w="9525" cap="flat" cmpd="sng" algn="ctr">
            <a:noFill/>
            <a:prstDash val="solid"/>
          </a:ln>
          <a:effectLst/>
        </p:spPr>
        <p:txBody>
          <a:bodyPr lIns="0" tIns="37491" rIns="0" bIns="37491" rtlCol="0" anchor="ctr"/>
          <a:lstStyle/>
          <a:p>
            <a:pPr algn="ctr" defTabSz="74961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100" b="1">
              <a:solidFill>
                <a:prstClr val="white"/>
              </a:solidFill>
              <a:latin typeface="+mj-lt"/>
              <a:ea typeface="ＭＳ Ｐゴシック" pitchFamily="-112" charset="-128"/>
              <a:cs typeface="Calibri" panose="020F0502020204030204" pitchFamily="34" charset="0"/>
            </a:endParaRPr>
          </a:p>
        </p:txBody>
      </p:sp>
      <p:sp>
        <p:nvSpPr>
          <p:cNvPr id="94" name="Freeform 54">
            <a:extLst>
              <a:ext uri="{FF2B5EF4-FFF2-40B4-BE49-F238E27FC236}">
                <a16:creationId xmlns:a16="http://schemas.microsoft.com/office/drawing/2014/main" id="{C5E23682-EE79-4DEE-B217-9A318A5C8258}"/>
              </a:ext>
            </a:extLst>
          </p:cNvPr>
          <p:cNvSpPr/>
          <p:nvPr/>
        </p:nvSpPr>
        <p:spPr>
          <a:xfrm>
            <a:off x="2999457" y="3432349"/>
            <a:ext cx="93265" cy="76729"/>
          </a:xfrm>
          <a:custGeom>
            <a:avLst/>
            <a:gdLst>
              <a:gd name="connsiteX0" fmla="*/ 12700 w 107950"/>
              <a:gd name="connsiteY0" fmla="*/ 0 h 92075"/>
              <a:gd name="connsiteX1" fmla="*/ 0 w 107950"/>
              <a:gd name="connsiteY1" fmla="*/ 92075 h 92075"/>
              <a:gd name="connsiteX2" fmla="*/ 107950 w 107950"/>
              <a:gd name="connsiteY2" fmla="*/ 88900 h 92075"/>
              <a:gd name="connsiteX3" fmla="*/ 12700 w 107950"/>
              <a:gd name="connsiteY3" fmla="*/ 0 h 92075"/>
              <a:gd name="connsiteX0" fmla="*/ 12700 w 112713"/>
              <a:gd name="connsiteY0" fmla="*/ 0 h 93662"/>
              <a:gd name="connsiteX1" fmla="*/ 0 w 112713"/>
              <a:gd name="connsiteY1" fmla="*/ 92075 h 93662"/>
              <a:gd name="connsiteX2" fmla="*/ 112713 w 112713"/>
              <a:gd name="connsiteY2" fmla="*/ 93662 h 93662"/>
              <a:gd name="connsiteX3" fmla="*/ 12700 w 112713"/>
              <a:gd name="connsiteY3" fmla="*/ 0 h 93662"/>
              <a:gd name="connsiteX0" fmla="*/ 12700 w 115094"/>
              <a:gd name="connsiteY0" fmla="*/ 0 h 92075"/>
              <a:gd name="connsiteX1" fmla="*/ 0 w 115094"/>
              <a:gd name="connsiteY1" fmla="*/ 92075 h 92075"/>
              <a:gd name="connsiteX2" fmla="*/ 115094 w 115094"/>
              <a:gd name="connsiteY2" fmla="*/ 91281 h 92075"/>
              <a:gd name="connsiteX3" fmla="*/ 12700 w 115094"/>
              <a:gd name="connsiteY3" fmla="*/ 0 h 9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094" h="92075">
                <a:moveTo>
                  <a:pt x="12700" y="0"/>
                </a:moveTo>
                <a:lnTo>
                  <a:pt x="0" y="92075"/>
                </a:lnTo>
                <a:lnTo>
                  <a:pt x="115094" y="91281"/>
                </a:lnTo>
                <a:lnTo>
                  <a:pt x="12700" y="0"/>
                </a:lnTo>
                <a:close/>
              </a:path>
            </a:pathLst>
          </a:custGeom>
          <a:solidFill>
            <a:srgbClr val="BDCFFF">
              <a:lumMod val="25000"/>
            </a:srgbClr>
          </a:solidFill>
          <a:ln w="9525" cap="flat" cmpd="sng" algn="ctr">
            <a:noFill/>
            <a:prstDash val="solid"/>
          </a:ln>
          <a:effectLst/>
        </p:spPr>
        <p:txBody>
          <a:bodyPr lIns="0" tIns="37491" rIns="0" bIns="37491" rtlCol="0" anchor="ctr"/>
          <a:lstStyle/>
          <a:p>
            <a:pPr algn="ctr" defTabSz="74961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100" b="1">
              <a:solidFill>
                <a:prstClr val="white"/>
              </a:solidFill>
              <a:latin typeface="+mj-lt"/>
              <a:ea typeface="ＭＳ Ｐゴシック" pitchFamily="-112" charset="-128"/>
              <a:cs typeface="Calibri" panose="020F0502020204030204" pitchFamily="34" charset="0"/>
            </a:endParaRP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8136F081-FEB6-44BE-841F-3B0D5A48760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204" y="1903637"/>
            <a:ext cx="391237" cy="375955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19C80272-9745-4CAB-B66F-245B0824667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296" y="2820440"/>
            <a:ext cx="376677" cy="376677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C7F73102-302F-4E25-8AAC-A4ECA1873AE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429" y="3686188"/>
            <a:ext cx="286355" cy="380757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7AA5E570-8196-4E23-8AD9-4A6533DF882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778" y="4764854"/>
            <a:ext cx="379407" cy="379407"/>
          </a:xfrm>
          <a:prstGeom prst="rect">
            <a:avLst/>
          </a:prstGeom>
        </p:spPr>
      </p:pic>
      <p:sp>
        <p:nvSpPr>
          <p:cNvPr id="100" name="Oval 99">
            <a:extLst>
              <a:ext uri="{FF2B5EF4-FFF2-40B4-BE49-F238E27FC236}">
                <a16:creationId xmlns:a16="http://schemas.microsoft.com/office/drawing/2014/main" id="{993F83F2-77AD-4857-A2E3-207B8747BA7C}"/>
              </a:ext>
            </a:extLst>
          </p:cNvPr>
          <p:cNvSpPr/>
          <p:nvPr/>
        </p:nvSpPr>
        <p:spPr>
          <a:xfrm>
            <a:off x="3828115" y="1164222"/>
            <a:ext cx="564804" cy="564804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endParaRPr lang="en-US" sz="1351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A2BA1984-7D1A-40FF-9F3C-F7A4723FCDE9}"/>
              </a:ext>
            </a:extLst>
          </p:cNvPr>
          <p:cNvSpPr/>
          <p:nvPr/>
        </p:nvSpPr>
        <p:spPr>
          <a:xfrm>
            <a:off x="3828115" y="2310059"/>
            <a:ext cx="564804" cy="564804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endParaRPr lang="en-US" sz="1351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B8EB2C57-E05A-4961-96CF-21AB86E7C730}"/>
              </a:ext>
            </a:extLst>
          </p:cNvPr>
          <p:cNvSpPr/>
          <p:nvPr/>
        </p:nvSpPr>
        <p:spPr>
          <a:xfrm>
            <a:off x="3828115" y="4784030"/>
            <a:ext cx="564804" cy="564804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endParaRPr lang="en-US" sz="1351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FA7FBD7D-5FD4-4B64-BE57-F428F204EA6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3390" y="1284717"/>
            <a:ext cx="334255" cy="323811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B0EDD2E4-FCD3-40FC-8124-E68B5514C14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2994" y="2401960"/>
            <a:ext cx="375047" cy="381000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7799E5CB-6375-48F1-AF84-66E0EB0CE15D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6308" y="4907356"/>
            <a:ext cx="328416" cy="318153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5466A7-292B-B1E4-0074-1A9B76609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E5702-1CE9-D8ED-AC5A-779848154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70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20586" y="5769994"/>
            <a:ext cx="7750831" cy="553997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C6A168-25D2-F315-331C-FD80FA607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799"/>
            <a:ext cx="365760" cy="228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16BCA4A-BE14-BFB0-A599-84E5C45E6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400800"/>
            <a:ext cx="1371600" cy="228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</p:spTree>
    <p:extLst>
      <p:ext uri="{BB962C8B-B14F-4D97-AF65-F5344CB8AC3E}">
        <p14:creationId xmlns:p14="http://schemas.microsoft.com/office/powerpoint/2010/main" val="23883420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2_Office Theme">
  <a:themeElements>
    <a:clrScheme name="Cognizant Colors 202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2E308E"/>
      </a:accent1>
      <a:accent2>
        <a:srgbClr val="7373D8"/>
      </a:accent2>
      <a:accent3>
        <a:srgbClr val="2F78C4"/>
      </a:accent3>
      <a:accent4>
        <a:srgbClr val="92BBE6"/>
      </a:accent4>
      <a:accent5>
        <a:srgbClr val="06C7CC"/>
      </a:accent5>
      <a:accent6>
        <a:srgbClr val="26EFE9"/>
      </a:accent6>
      <a:hlink>
        <a:srgbClr val="535659"/>
      </a:hlink>
      <a:folHlink>
        <a:srgbClr val="97999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729107_CorporateTemplate_ppt_031122" id="{E81ECB99-F2DE-FC44-B993-E5A209E9C071}" vid="{E056BC50-BFCB-5444-AECA-4841FEB0A9A4}"/>
    </a:ext>
  </a:extLst>
</a:theme>
</file>

<file path=ppt/theme/theme2.xml><?xml version="1.0" encoding="utf-8"?>
<a:theme xmlns:a="http://schemas.openxmlformats.org/drawingml/2006/main" name="Cognizant_2024_master">
  <a:themeElements>
    <a:clrScheme name="Cognizant v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F78C4"/>
      </a:accent2>
      <a:accent3>
        <a:srgbClr val="92BBE6"/>
      </a:accent3>
      <a:accent4>
        <a:srgbClr val="05819B"/>
      </a:accent4>
      <a:accent5>
        <a:srgbClr val="2E308E"/>
      </a:accent5>
      <a:accent6>
        <a:srgbClr val="D0D0CE"/>
      </a:accent6>
      <a:hlink>
        <a:srgbClr val="2F78C4"/>
      </a:hlink>
      <a:folHlink>
        <a:srgbClr val="92BBE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spcBef>
            <a:spcPts val="600"/>
          </a:spcBef>
          <a:spcAft>
            <a:spcPts val="0"/>
          </a:spcAft>
          <a:defRPr dirty="0" err="1" smtClean="0"/>
        </a:defPPr>
      </a:lstStyle>
    </a:txDef>
  </a:objectDefaults>
  <a:extraClrSchemeLst/>
  <a:custClrLst>
    <a:custClr name="Green">
      <a:srgbClr val="2DB81F"/>
    </a:custClr>
    <a:custClr name="Yellow">
      <a:srgbClr val="E9C71D"/>
    </a:custClr>
    <a:custClr name="Red">
      <a:srgbClr val="B81F2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Midnight blue 80%">
      <a:srgbClr val="373771"/>
    </a:custClr>
    <a:custClr name="Midnight blue 80%">
      <a:srgbClr val="373771"/>
    </a:custClr>
    <a:custClr name="Dark blue 80%">
      <a:srgbClr val="5B94D1"/>
    </a:custClr>
    <a:custClr name="Light blue 80%">
      <a:srgbClr val="A9C9EC"/>
    </a:custClr>
    <a:custClr name="Darker teal 80%">
      <a:srgbClr val="4C9AB0"/>
    </a:custClr>
    <a:custClr name="Dark plum 80%">
      <a:srgbClr val="5859A6"/>
    </a:custClr>
    <a:custClr name="Light gray 80%">
      <a:srgbClr val="D9D9D8"/>
    </a:custClr>
    <a:custClr name="Dark plum">
      <a:srgbClr val="2E308E"/>
    </a:custClr>
    <a:custClr name="Dark blue">
      <a:srgbClr val="2F78C4"/>
    </a:custClr>
    <a:custClr name="Dark teal">
      <a:srgbClr val="05819B"/>
    </a:custClr>
    <a:custClr name="Midnight blue 60%">
      <a:srgbClr val="666692"/>
    </a:custClr>
    <a:custClr name="Midnight blue 60%">
      <a:srgbClr val="666692"/>
    </a:custClr>
    <a:custClr name="Dark blue 60%">
      <a:srgbClr val="86AEDD"/>
    </a:custClr>
    <a:custClr name="Light blue 60%">
      <a:srgbClr val="BFD6F1"/>
    </a:custClr>
    <a:custClr name="Darker teal 60%">
      <a:srgbClr val="7BB4C3"/>
    </a:custClr>
    <a:custClr name="Dark plum 60%">
      <a:srgbClr val="8283BC"/>
    </a:custClr>
    <a:custClr name="Light gray 60%">
      <a:srgbClr val="E3E3E2"/>
    </a:custClr>
    <a:custClr name="Medium plum">
      <a:srgbClr val="7373D8"/>
    </a:custClr>
    <a:custClr name="Medium blue">
      <a:srgbClr val="6AA2DC"/>
    </a:custClr>
    <a:custClr name="Medium teal">
      <a:srgbClr val="06C7CC"/>
    </a:custClr>
    <a:custClr name="Midnight blue 40%">
      <a:srgbClr val="9999B8"/>
    </a:custClr>
    <a:custClr name="Midnight blue 40%">
      <a:srgbClr val="9999B8"/>
    </a:custClr>
    <a:custClr name="Dark blue 40%">
      <a:srgbClr val="AFC9E8"/>
    </a:custClr>
    <a:custClr name="Light blue 40%">
      <a:srgbClr val="D3E5F5"/>
    </a:custClr>
    <a:custClr name="Darker teal 40%">
      <a:srgbClr val="A9CDD8"/>
    </a:custClr>
    <a:custClr name="Dark plum 40%">
      <a:srgbClr val="ABACD3"/>
    </a:custClr>
    <a:custClr name="Light gray 40%">
      <a:srgbClr val="ECECEB"/>
    </a:custClr>
    <a:custClr name="Light plum">
      <a:srgbClr val="85A0F9"/>
    </a:custClr>
    <a:custClr name="Light blue">
      <a:srgbClr val="92BBE6"/>
    </a:custClr>
    <a:custClr name="Light teal">
      <a:srgbClr val="26EFE9"/>
    </a:custClr>
    <a:custClr name="Midnight blue 20%">
      <a:srgbClr val="CCCCDB"/>
    </a:custClr>
    <a:custClr name="Midnight blue 20%">
      <a:srgbClr val="CCCCDB"/>
    </a:custClr>
    <a:custClr name="Dark blue 20%">
      <a:srgbClr val="D7E5F4"/>
    </a:custClr>
    <a:custClr name="Light blue 20%">
      <a:srgbClr val="EAF2FA"/>
    </a:custClr>
    <a:custClr name="Darker teal 20%">
      <a:srgbClr val="D4E7EB"/>
    </a:custClr>
    <a:custClr name="Dark plum 20%">
      <a:srgbClr val="D5D6E9"/>
    </a:custClr>
    <a:custClr name="Light gray 20%">
      <a:srgbClr val="F6F6F5"/>
    </a:custClr>
  </a:custClrLst>
  <a:extLst>
    <a:ext uri="{05A4C25C-085E-4340-85A3-A5531E510DB2}">
      <thm15:themeFamily xmlns:thm15="http://schemas.microsoft.com/office/thememl/2012/main" name="2_Cognizant_2024" id="{4DB496B1-E6EF-4CBE-9AD1-A2CF8C63C2B7}" vid="{BB4BE9A0-A680-4A25-9195-1AF5CFB8503C}"/>
    </a:ext>
  </a:extLst>
</a:theme>
</file>

<file path=ppt/theme/theme3.xml><?xml version="1.0" encoding="utf-8"?>
<a:theme xmlns:a="http://schemas.openxmlformats.org/drawingml/2006/main" name="1_Cognizant_2024_master">
  <a:themeElements>
    <a:clrScheme name="Cognizant v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F78C4"/>
      </a:accent2>
      <a:accent3>
        <a:srgbClr val="92BBE6"/>
      </a:accent3>
      <a:accent4>
        <a:srgbClr val="05819B"/>
      </a:accent4>
      <a:accent5>
        <a:srgbClr val="2E308E"/>
      </a:accent5>
      <a:accent6>
        <a:srgbClr val="D0D0CE"/>
      </a:accent6>
      <a:hlink>
        <a:srgbClr val="2F78C4"/>
      </a:hlink>
      <a:folHlink>
        <a:srgbClr val="92BBE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spcBef>
            <a:spcPts val="600"/>
          </a:spcBef>
          <a:spcAft>
            <a:spcPts val="0"/>
          </a:spcAft>
          <a:defRPr dirty="0" err="1" smtClean="0"/>
        </a:defPPr>
      </a:lstStyle>
    </a:txDef>
  </a:objectDefaults>
  <a:extraClrSchemeLst/>
  <a:custClrLst>
    <a:custClr name="Green">
      <a:srgbClr val="2DB81F"/>
    </a:custClr>
    <a:custClr name="Yellow">
      <a:srgbClr val="E9C71D"/>
    </a:custClr>
    <a:custClr name="Red">
      <a:srgbClr val="B81F2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Midnight blue 80%">
      <a:srgbClr val="373771"/>
    </a:custClr>
    <a:custClr name="Midnight blue 80%">
      <a:srgbClr val="373771"/>
    </a:custClr>
    <a:custClr name="Dark blue 80%">
      <a:srgbClr val="5B94D1"/>
    </a:custClr>
    <a:custClr name="Light blue 80%">
      <a:srgbClr val="A9C9EC"/>
    </a:custClr>
    <a:custClr name="Darker teal 80%">
      <a:srgbClr val="4C9AB0"/>
    </a:custClr>
    <a:custClr name="Dark plum 80%">
      <a:srgbClr val="5859A6"/>
    </a:custClr>
    <a:custClr name="Light gray 80%">
      <a:srgbClr val="D9D9D8"/>
    </a:custClr>
    <a:custClr name="Dark plum">
      <a:srgbClr val="2E308E"/>
    </a:custClr>
    <a:custClr name="Dark blue">
      <a:srgbClr val="2F78C4"/>
    </a:custClr>
    <a:custClr name="Dark teal">
      <a:srgbClr val="05819B"/>
    </a:custClr>
    <a:custClr name="Midnight blue 60%">
      <a:srgbClr val="666692"/>
    </a:custClr>
    <a:custClr name="Midnight blue 60%">
      <a:srgbClr val="666692"/>
    </a:custClr>
    <a:custClr name="Dark blue 60%">
      <a:srgbClr val="86AEDD"/>
    </a:custClr>
    <a:custClr name="Light blue 60%">
      <a:srgbClr val="BFD6F1"/>
    </a:custClr>
    <a:custClr name="Darker teal 60%">
      <a:srgbClr val="7BB4C3"/>
    </a:custClr>
    <a:custClr name="Dark plum 60%">
      <a:srgbClr val="8283BC"/>
    </a:custClr>
    <a:custClr name="Light gray 60%">
      <a:srgbClr val="E3E3E2"/>
    </a:custClr>
    <a:custClr name="Medium plum">
      <a:srgbClr val="7373D8"/>
    </a:custClr>
    <a:custClr name="Medium blue">
      <a:srgbClr val="6AA2DC"/>
    </a:custClr>
    <a:custClr name="Medium teal">
      <a:srgbClr val="06C7CC"/>
    </a:custClr>
    <a:custClr name="Midnight blue 40%">
      <a:srgbClr val="9999B8"/>
    </a:custClr>
    <a:custClr name="Midnight blue 40%">
      <a:srgbClr val="9999B8"/>
    </a:custClr>
    <a:custClr name="Dark blue 40%">
      <a:srgbClr val="AFC9E8"/>
    </a:custClr>
    <a:custClr name="Light blue 40%">
      <a:srgbClr val="D3E5F5"/>
    </a:custClr>
    <a:custClr name="Darker teal 40%">
      <a:srgbClr val="A9CDD8"/>
    </a:custClr>
    <a:custClr name="Dark plum 40%">
      <a:srgbClr val="ABACD3"/>
    </a:custClr>
    <a:custClr name="Light gray 40%">
      <a:srgbClr val="ECECEB"/>
    </a:custClr>
    <a:custClr name="Light plum">
      <a:srgbClr val="85A0F9"/>
    </a:custClr>
    <a:custClr name="Light blue">
      <a:srgbClr val="92BBE6"/>
    </a:custClr>
    <a:custClr name="Light teal">
      <a:srgbClr val="26EFE9"/>
    </a:custClr>
    <a:custClr name="Midnight blue 20%">
      <a:srgbClr val="CCCCDB"/>
    </a:custClr>
    <a:custClr name="Midnight blue 20%">
      <a:srgbClr val="CCCCDB"/>
    </a:custClr>
    <a:custClr name="Dark blue 20%">
      <a:srgbClr val="D7E5F4"/>
    </a:custClr>
    <a:custClr name="Light blue 20%">
      <a:srgbClr val="EAF2FA"/>
    </a:custClr>
    <a:custClr name="Darker teal 20%">
      <a:srgbClr val="D4E7EB"/>
    </a:custClr>
    <a:custClr name="Dark plum 20%">
      <a:srgbClr val="D5D6E9"/>
    </a:custClr>
    <a:custClr name="Light gray 20%">
      <a:srgbClr val="F6F6F5"/>
    </a:custClr>
  </a:custClrLst>
  <a:extLst>
    <a:ext uri="{05A4C25C-085E-4340-85A3-A5531E510DB2}">
      <thm15:themeFamily xmlns:thm15="http://schemas.microsoft.com/office/thememl/2012/main" name="2_Cognizant_2024" id="{4DB496B1-E6EF-4CBE-9AD1-A2CF8C63C2B7}" vid="{BB4BE9A0-A680-4A25-9195-1AF5CFB8503C}"/>
    </a:ext>
  </a:extLst>
</a:theme>
</file>

<file path=ppt/theme/theme4.xml><?xml version="1.0" encoding="utf-8"?>
<a:theme xmlns:a="http://schemas.openxmlformats.org/drawingml/2006/main" name="3_Office Theme">
  <a:themeElements>
    <a:clrScheme name="Cognizant Colors 202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2E308E"/>
      </a:accent1>
      <a:accent2>
        <a:srgbClr val="7373D8"/>
      </a:accent2>
      <a:accent3>
        <a:srgbClr val="2F78C4"/>
      </a:accent3>
      <a:accent4>
        <a:srgbClr val="92BBE6"/>
      </a:accent4>
      <a:accent5>
        <a:srgbClr val="06C7CC"/>
      </a:accent5>
      <a:accent6>
        <a:srgbClr val="26EFE9"/>
      </a:accent6>
      <a:hlink>
        <a:srgbClr val="535659"/>
      </a:hlink>
      <a:folHlink>
        <a:srgbClr val="97999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729107_CorporateTemplate_ppt_031122" id="{E81ECB99-F2DE-FC44-B993-E5A209E9C071}" vid="{E056BC50-BFCB-5444-AECA-4841FEB0A9A4}"/>
    </a:ext>
  </a:extLst>
</a:theme>
</file>

<file path=ppt/theme/theme5.xml><?xml version="1.0" encoding="utf-8"?>
<a:theme xmlns:a="http://schemas.openxmlformats.org/drawingml/2006/main" name="Cognizant_2024">
  <a:themeElements>
    <a:clrScheme name="Cognizant v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F78C4"/>
      </a:accent2>
      <a:accent3>
        <a:srgbClr val="92BBE6"/>
      </a:accent3>
      <a:accent4>
        <a:srgbClr val="05819B"/>
      </a:accent4>
      <a:accent5>
        <a:srgbClr val="2E308E"/>
      </a:accent5>
      <a:accent6>
        <a:srgbClr val="D0D0CE"/>
      </a:accent6>
      <a:hlink>
        <a:srgbClr val="2F78C4"/>
      </a:hlink>
      <a:folHlink>
        <a:srgbClr val="92BBE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spcBef>
            <a:spcPts val="600"/>
          </a:spcBef>
          <a:spcAft>
            <a:spcPts val="0"/>
          </a:spcAft>
          <a:defRPr dirty="0" err="1" smtClean="0"/>
        </a:defPPr>
      </a:lstStyle>
    </a:txDef>
  </a:objectDefaults>
  <a:extraClrSchemeLst/>
  <a:custClrLst>
    <a:custClr name="Green">
      <a:srgbClr val="2DB81F"/>
    </a:custClr>
    <a:custClr name="Yellow">
      <a:srgbClr val="E9C71D"/>
    </a:custClr>
    <a:custClr name="Red">
      <a:srgbClr val="B81F2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Midnight blue 80%">
      <a:srgbClr val="373771"/>
    </a:custClr>
    <a:custClr name="Midnight blue 80%">
      <a:srgbClr val="373771"/>
    </a:custClr>
    <a:custClr name="Dark blue 80%">
      <a:srgbClr val="5B94D1"/>
    </a:custClr>
    <a:custClr name="Light blue 80%">
      <a:srgbClr val="A9C9EC"/>
    </a:custClr>
    <a:custClr name="Darker teal 80%">
      <a:srgbClr val="4C9AB0"/>
    </a:custClr>
    <a:custClr name="Dark plum 80%">
      <a:srgbClr val="5859A6"/>
    </a:custClr>
    <a:custClr name="Light gray 80%">
      <a:srgbClr val="D9D9D8"/>
    </a:custClr>
    <a:custClr name="Dark plum">
      <a:srgbClr val="2E308E"/>
    </a:custClr>
    <a:custClr name="Dark blue">
      <a:srgbClr val="2F78C4"/>
    </a:custClr>
    <a:custClr name="Dark teal">
      <a:srgbClr val="05819B"/>
    </a:custClr>
    <a:custClr name="Midnight blue 60%">
      <a:srgbClr val="666692"/>
    </a:custClr>
    <a:custClr name="Midnight blue 60%">
      <a:srgbClr val="666692"/>
    </a:custClr>
    <a:custClr name="Dark blue 60%">
      <a:srgbClr val="86AEDD"/>
    </a:custClr>
    <a:custClr name="Light blue 60%">
      <a:srgbClr val="BFD6F1"/>
    </a:custClr>
    <a:custClr name="Darker teal 60%">
      <a:srgbClr val="7BB4C3"/>
    </a:custClr>
    <a:custClr name="Dark plum 60%">
      <a:srgbClr val="8283BC"/>
    </a:custClr>
    <a:custClr name="Light gray 60%">
      <a:srgbClr val="E3E3E2"/>
    </a:custClr>
    <a:custClr name="Medium plum">
      <a:srgbClr val="7373D8"/>
    </a:custClr>
    <a:custClr name="Medium blue">
      <a:srgbClr val="6AA2DC"/>
    </a:custClr>
    <a:custClr name="Medium teal">
      <a:srgbClr val="06C7CC"/>
    </a:custClr>
    <a:custClr name="Midnight blue 40%">
      <a:srgbClr val="9999B8"/>
    </a:custClr>
    <a:custClr name="Midnight blue 40%">
      <a:srgbClr val="9999B8"/>
    </a:custClr>
    <a:custClr name="Dark blue 40%">
      <a:srgbClr val="AFC9E8"/>
    </a:custClr>
    <a:custClr name="Light blue 40%">
      <a:srgbClr val="D3E5F5"/>
    </a:custClr>
    <a:custClr name="Darker teal 40%">
      <a:srgbClr val="A9CDD8"/>
    </a:custClr>
    <a:custClr name="Dark plum 40%">
      <a:srgbClr val="ABACD3"/>
    </a:custClr>
    <a:custClr name="Light gray 40%">
      <a:srgbClr val="ECECEB"/>
    </a:custClr>
    <a:custClr name="Light plum">
      <a:srgbClr val="85A0F9"/>
    </a:custClr>
    <a:custClr name="Light blue">
      <a:srgbClr val="92BBE6"/>
    </a:custClr>
    <a:custClr name="Light teal">
      <a:srgbClr val="26EFE9"/>
    </a:custClr>
    <a:custClr name="Midnight blue 20%">
      <a:srgbClr val="CCCCDB"/>
    </a:custClr>
    <a:custClr name="Midnight blue 20%">
      <a:srgbClr val="CCCCDB"/>
    </a:custClr>
    <a:custClr name="Dark blue 20%">
      <a:srgbClr val="D7E5F4"/>
    </a:custClr>
    <a:custClr name="Light blue 20%">
      <a:srgbClr val="EAF2FA"/>
    </a:custClr>
    <a:custClr name="Darker teal 20%">
      <a:srgbClr val="D4E7EB"/>
    </a:custClr>
    <a:custClr name="Dark plum 20%">
      <a:srgbClr val="D5D6E9"/>
    </a:custClr>
    <a:custClr name="Light gray 20%">
      <a:srgbClr val="F6F6F5"/>
    </a:custClr>
  </a:custClrLst>
  <a:extLst>
    <a:ext uri="{05A4C25C-085E-4340-85A3-A5531E510DB2}">
      <thm15:themeFamily xmlns:thm15="http://schemas.microsoft.com/office/thememl/2012/main" name="Presentation5" id="{F5F4F051-22F0-4442-9496-654FF8745D7A}" vid="{AB62C236-C77B-4F69-B63E-3F34518FC0F1}"/>
    </a:ext>
  </a:extLst>
</a:theme>
</file>

<file path=ppt/theme/theme6.xml><?xml version="1.0" encoding="utf-8"?>
<a:theme xmlns:a="http://schemas.openxmlformats.org/drawingml/2006/main" name="4_Office Theme">
  <a:themeElements>
    <a:clrScheme name="Cognizant Colors 202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2E308E"/>
      </a:accent1>
      <a:accent2>
        <a:srgbClr val="7373D8"/>
      </a:accent2>
      <a:accent3>
        <a:srgbClr val="2F78C4"/>
      </a:accent3>
      <a:accent4>
        <a:srgbClr val="92BBE6"/>
      </a:accent4>
      <a:accent5>
        <a:srgbClr val="06C7CC"/>
      </a:accent5>
      <a:accent6>
        <a:srgbClr val="26EFE9"/>
      </a:accent6>
      <a:hlink>
        <a:srgbClr val="535659"/>
      </a:hlink>
      <a:folHlink>
        <a:srgbClr val="97999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rpTemplate_MasterDeck_021022_SH" id="{280321A3-4BC2-B743-BABC-931B50087735}" vid="{B500C076-CBFC-E349-AFD0-32B4EA55BE39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EBFF38B6D59A44931EBCF5C7FC7490" ma:contentTypeVersion="3" ma:contentTypeDescription="Create a new document." ma:contentTypeScope="" ma:versionID="8f45537aeca7f7a8e7607d00f53d8bd6">
  <xsd:schema xmlns:xsd="http://www.w3.org/2001/XMLSchema" xmlns:xs="http://www.w3.org/2001/XMLSchema" xmlns:p="http://schemas.microsoft.com/office/2006/metadata/properties" xmlns:ns2="659752be-be95-48f4-8daf-8d8cd7f94a5d" targetNamespace="http://schemas.microsoft.com/office/2006/metadata/properties" ma:root="true" ma:fieldsID="8f8419c3c96532efc8898b1c1e93e799" ns2:_="">
    <xsd:import namespace="659752be-be95-48f4-8daf-8d8cd7f94a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9752be-be95-48f4-8daf-8d8cd7f94a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0D9C345-3B34-4F5C-8433-6EB811083ACC}">
  <ds:schemaRefs>
    <ds:schemaRef ds:uri="http://purl.org/dc/terms/"/>
    <ds:schemaRef ds:uri="http://www.w3.org/XML/1998/namespace"/>
    <ds:schemaRef ds:uri="http://purl.org/dc/dcmitype/"/>
    <ds:schemaRef ds:uri="659752be-be95-48f4-8daf-8d8cd7f94a5d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FD4F4E1C-1D56-416D-A13D-BD3440704E38}">
  <ds:schemaRefs>
    <ds:schemaRef ds:uri="659752be-be95-48f4-8daf-8d8cd7f94a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07249AF-AE59-4970-B00D-E595D8D907C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2102</Words>
  <Application>Microsoft Office PowerPoint</Application>
  <PresentationFormat>Widescreen</PresentationFormat>
  <Paragraphs>374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Aptos Narrow</vt:lpstr>
      <vt:lpstr>Arial</vt:lpstr>
      <vt:lpstr>Calibri</vt:lpstr>
      <vt:lpstr>Cambria</vt:lpstr>
      <vt:lpstr>2_Office Theme</vt:lpstr>
      <vt:lpstr>Cognizant_2024_master</vt:lpstr>
      <vt:lpstr>1_Cognizant_2024_master</vt:lpstr>
      <vt:lpstr>3_Office Theme</vt:lpstr>
      <vt:lpstr>Cognizant_2024</vt:lpstr>
      <vt:lpstr>4_Office Theme</vt:lpstr>
      <vt:lpstr>KeyBank – KeyNav Java Migration</vt:lpstr>
      <vt:lpstr>PowerPoint Presentation</vt:lpstr>
      <vt:lpstr>PowerPoint Presentation</vt:lpstr>
      <vt:lpstr>PowerPoint Presentation</vt:lpstr>
      <vt:lpstr>Solution Deep Dive</vt:lpstr>
      <vt:lpstr>Solution Approach – Oracle Java 8 to OpenJDK17 version Upgrade</vt:lpstr>
      <vt:lpstr>Accelerators</vt:lpstr>
      <vt:lpstr>Application Remediation for JDK Upgrade</vt:lpstr>
      <vt:lpstr>RACI Matrix</vt:lpstr>
      <vt:lpstr>Commercials</vt:lpstr>
      <vt:lpstr>Commercials</vt:lpstr>
      <vt:lpstr>Case Study</vt:lpstr>
      <vt:lpstr>Cognizant Credential for Open JDK Migration – BFSI Client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Goswami, Basudeb (Cognizant)</dc:creator>
  <cp:keywords/>
  <dc:description/>
  <cp:lastModifiedBy>Ali, Afzal (Cognizant)</cp:lastModifiedBy>
  <cp:revision>1</cp:revision>
  <dcterms:created xsi:type="dcterms:W3CDTF">2022-03-21T07:12:23Z</dcterms:created>
  <dcterms:modified xsi:type="dcterms:W3CDTF">2026-03-23T19:41:23Z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0x010100E4EBFF38B6D59A44931EBCF5C7FC7490</vt:lpwstr>
  </property>
  <property fmtid="{D5CDD505-2E9C-101B-9397-08002B2CF9AE}" pid="3" name="MediaServiceImageTags">
    <vt:lpwstr/>
  </property>
  <property fmtid="{D5CDD505-2E9C-101B-9397-08002B2CF9AE}" pid="4" name="Order">
    <vt:lpwstr>451100.000000000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